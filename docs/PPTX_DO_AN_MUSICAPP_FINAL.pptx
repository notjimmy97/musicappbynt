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1" r:id="rId7"/>
    <p:sldId id="259" r:id="rId8"/>
    <p:sldId id="262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686425" y="5907284"/>
            <a:ext cx="609600" cy="45719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297" y="1393704"/>
            <a:ext cx="11251406" cy="1277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700" b="1" dirty="0" err="1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700" b="1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700" b="1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XÂY DỰNG ỨNG DỤNG PHÁT NHẠC DESKTOP NATIVE TRÊN NỀN TẢNG WPF (.NET FRAMEWORK 4.6.1)</a:t>
            </a:r>
            <a:endParaRPr lang="en-US" sz="28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vi-VN" sz="2700" b="1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4369" y="6077487"/>
            <a:ext cx="1125140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b="0" i="1" dirty="0">
                <a:solidFill>
                  <a:srgbClr val="CCCCCC"/>
                </a:solidFill>
                <a:effectLst/>
                <a:latin typeface="+mj-lt"/>
              </a:rPr>
              <a:t>"Hiện thực hóa trải nghiệm nghe nhạc chuẩn mực của </a:t>
            </a:r>
            <a:r>
              <a:rPr lang="vi-VN" b="0" i="1" dirty="0" err="1">
                <a:solidFill>
                  <a:srgbClr val="CCCCCC"/>
                </a:solidFill>
                <a:effectLst/>
                <a:latin typeface="+mj-lt"/>
              </a:rPr>
              <a:t>Spotify</a:t>
            </a:r>
            <a:r>
              <a:rPr lang="vi-VN" b="0" i="1" dirty="0">
                <a:solidFill>
                  <a:srgbClr val="CCCCCC"/>
                </a:solidFill>
                <a:effectLst/>
                <a:latin typeface="+mj-lt"/>
              </a:rPr>
              <a:t> ngay trên môi trường Windows </a:t>
            </a:r>
            <a:r>
              <a:rPr lang="vi-VN" b="0" i="1" dirty="0" err="1">
                <a:solidFill>
                  <a:srgbClr val="CCCCCC"/>
                </a:solidFill>
                <a:effectLst/>
                <a:latin typeface="+mj-lt"/>
              </a:rPr>
              <a:t>Desktop</a:t>
            </a:r>
            <a:r>
              <a:rPr lang="vi-VN" b="0" i="1" dirty="0">
                <a:solidFill>
                  <a:srgbClr val="CCCCCC"/>
                </a:solidFill>
                <a:effectLst/>
                <a:latin typeface="+mj-lt"/>
              </a:rPr>
              <a:t>: Khởi động tức thì, tiêu thụ bộ nhớ tối thiểu, độ trễ âm thanh bằng không và vận hành bền bỉ cả khi không có kết nối </a:t>
            </a:r>
            <a:r>
              <a:rPr lang="vi-VN" b="0" i="1" dirty="0" err="1">
                <a:solidFill>
                  <a:srgbClr val="CCCCCC"/>
                </a:solidFill>
                <a:effectLst/>
                <a:latin typeface="+mj-lt"/>
              </a:rPr>
              <a:t>Internet</a:t>
            </a:r>
            <a:r>
              <a:rPr lang="vi-VN" b="0" i="1" dirty="0">
                <a:solidFill>
                  <a:srgbClr val="CCCCCC"/>
                </a:solidFill>
                <a:effectLst/>
                <a:latin typeface="+mj-lt"/>
              </a:rPr>
              <a:t>."</a:t>
            </a:r>
            <a:endParaRPr lang="vi-VN" b="0" dirty="0">
              <a:solidFill>
                <a:srgbClr val="CCCCCC"/>
              </a:solidFill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2C1869-71D7-1E66-0305-0FCCAA2ABF17}"/>
              </a:ext>
            </a:extLst>
          </p:cNvPr>
          <p:cNvSpPr txBox="1"/>
          <p:nvPr/>
        </p:nvSpPr>
        <p:spPr>
          <a:xfrm>
            <a:off x="3669505" y="257919"/>
            <a:ext cx="4643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Môn </a:t>
            </a:r>
            <a:r>
              <a:rPr lang="en-US" sz="2400" b="1" dirty="0" err="1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b="1" dirty="0">
                <a:solidFill>
                  <a:srgbClr val="569C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.NET</a:t>
            </a:r>
          </a:p>
        </p:txBody>
      </p:sp>
      <p:sp>
        <p:nvSpPr>
          <p:cNvPr id="12" name="Google Shape;4365;p68">
            <a:extLst>
              <a:ext uri="{FF2B5EF4-FFF2-40B4-BE49-F238E27FC236}">
                <a16:creationId xmlns:a16="http://schemas.microsoft.com/office/drawing/2014/main" id="{C0235DB6-E3B1-E0E7-B5B0-DB8D02640ED9}"/>
              </a:ext>
            </a:extLst>
          </p:cNvPr>
          <p:cNvSpPr txBox="1">
            <a:spLocks/>
          </p:cNvSpPr>
          <p:nvPr/>
        </p:nvSpPr>
        <p:spPr>
          <a:xfrm>
            <a:off x="4213817" y="3371253"/>
            <a:ext cx="3764366" cy="28999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Nhóm: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Nhật Tú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Nhật Huy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Minh Toàn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 Phước Huy</a:t>
            </a:r>
          </a:p>
          <a:p>
            <a:pPr marL="0" indent="0" algn="ctr">
              <a:spcBef>
                <a:spcPts val="0"/>
              </a:spcBef>
              <a:buFont typeface="Arial"/>
              <a:buNone/>
            </a:pPr>
            <a:r>
              <a:rPr lang="e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 Viết Bảo Châu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0660B-28A9-FDB7-7A14-A17318D42DB4}"/>
              </a:ext>
            </a:extLst>
          </p:cNvPr>
          <p:cNvSpPr txBox="1"/>
          <p:nvPr/>
        </p:nvSpPr>
        <p:spPr>
          <a:xfrm>
            <a:off x="3896024" y="2755013"/>
            <a:ext cx="4524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7029450"/>
            <a:ext cx="12192000" cy="626566"/>
          </a:xfrm>
          <a:prstGeom prst="roundRect">
            <a:avLst>
              <a:gd name="adj" fmla="val 912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775870" y="2076450"/>
            <a:ext cx="5654129" cy="3895725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0195" y="2800350"/>
            <a:ext cx="159915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89353" y="2800350"/>
            <a:ext cx="151938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08740" y="2800350"/>
            <a:ext cx="1906934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0195" y="3681412"/>
            <a:ext cx="1599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9353" y="3681412"/>
            <a:ext cx="151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08740" y="3681412"/>
            <a:ext cx="1906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0195" y="4348162"/>
            <a:ext cx="1599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89353" y="4348162"/>
            <a:ext cx="151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08740" y="4348162"/>
            <a:ext cx="1906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0195" y="5014912"/>
            <a:ext cx="15991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89353" y="5014912"/>
            <a:ext cx="15193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208740" y="5014912"/>
            <a:ext cx="19069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7162800"/>
            <a:ext cx="171450" cy="13335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310850"/>
              </p:ext>
            </p:extLst>
          </p:nvPr>
        </p:nvGraphicFramePr>
        <p:xfrm>
          <a:off x="6090195" y="2390775"/>
          <a:ext cx="5025478" cy="3267075"/>
        </p:xfrm>
        <a:graphic>
          <a:graphicData uri="http://schemas.openxmlformats.org/drawingml/2006/table">
            <a:tbl>
              <a:tblPr/>
              <a:tblGrid>
                <a:gridCol w="1599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415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sz="1200" b="1" i="0" u="none" dirty="0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endParaRPr sz="1200" b="1" i="0" u="none" dirty="0">
                        <a:solidFill>
                          <a:srgbClr val="64748B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563E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MusicApp WPF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 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endParaRPr sz="1350" b="1" i="0" u="none" dirty="0">
                        <a:solidFill>
                          <a:srgbClr val="33415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500MB – 1.2GB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85MB – 120MB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Khởi động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3.5s – 6.0s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1.2s – 1.5s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 lý DSP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Audio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NAudio WaveOut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Hoạt động Offline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Giới hạn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Độc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lập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(SQLite/BFS)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0" y="6858000"/>
            <a:ext cx="19435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tiếp qua HTTP Loopback.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" y="7143750"/>
            <a:ext cx="12058650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1" i="0" u="none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MVVM Thuần túy Không mã logic trong code-behind.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885825"/>
            <a:ext cx="539519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Bối cảnh &amp; Thách thức Kỹ thuật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" y="2354304"/>
            <a:ext cx="2511778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(Web Wrapper)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" y="4249779"/>
            <a:ext cx="2580835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(MusicApp Native)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2795587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" y="2795587"/>
            <a:ext cx="3492944" cy="232949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Ngốn tài nguyên: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Chiếm 500MB - 1GB+ RAM.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316706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3167062"/>
            <a:ext cx="3625160" cy="232949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Trễ âm thanh: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Sandbox Web Audio giới hạn DSP.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3538537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600" y="3538537"/>
            <a:ext cx="3565143" cy="232949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 thuộc mạng: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Tê liệt khi mất kết nối Internet.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350" y="469106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4691062"/>
            <a:ext cx="2816477" cy="232949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 nhẹ: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 &lt; 120MB, CPU &lt; 3%.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50" y="5062537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" y="5062537"/>
            <a:ext cx="3484928" cy="232949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 nghiệp: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DSP 32-bit Float, 10-Band EQ.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50" y="543401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600" y="5434012"/>
            <a:ext cx="3549048" cy="232949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 hành lai: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Độc lập 100% qua SQLite &amp; BFS.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0" y="2143125"/>
            <a:ext cx="6324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96200" y="2390775"/>
            <a:ext cx="3733800" cy="871537"/>
          </a:xfrm>
          <a:prstGeom prst="roundRect">
            <a:avLst>
              <a:gd name="adj" fmla="val 4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96200" y="2143125"/>
            <a:ext cx="3733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96200" y="3452812"/>
            <a:ext cx="3733800" cy="871537"/>
          </a:xfrm>
          <a:prstGeom prst="roundRect">
            <a:avLst>
              <a:gd name="adj" fmla="val 4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96200" y="4514850"/>
            <a:ext cx="3733800" cy="871537"/>
          </a:xfrm>
          <a:prstGeom prst="roundRect">
            <a:avLst>
              <a:gd name="adj" fmla="val 43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96200" y="2390775"/>
            <a:ext cx="38100" cy="87153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96200" y="3452812"/>
            <a:ext cx="38100" cy="8715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96200" y="4514850"/>
            <a:ext cx="38100" cy="87153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90775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39077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3460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034605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7843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3678435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22266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322266"/>
            <a:ext cx="3048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966096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4966096"/>
            <a:ext cx="3048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12" y="2476500"/>
            <a:ext cx="10477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325" y="2476500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3120330"/>
            <a:ext cx="1714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4325" y="3120330"/>
            <a:ext cx="13335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764160"/>
            <a:ext cx="15240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4325" y="3764160"/>
            <a:ext cx="13335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012" y="4407991"/>
            <a:ext cx="104775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850" y="4407991"/>
            <a:ext cx="11430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5051821"/>
            <a:ext cx="15240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4325" y="5051821"/>
            <a:ext cx="133350" cy="1333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0" y="6858000"/>
            <a:ext cx="19435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tiếp qua HTTP Loopback.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885825"/>
            <a:ext cx="437793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trận Yêu cầu Hệ thống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1800225"/>
            <a:ext cx="674084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Phân hệ Chức năng Cốt lõi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6200" y="1800225"/>
            <a:ext cx="402050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cầu Phi chức năng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4800" y="2581275"/>
            <a:ext cx="127291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UI Freezing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4800" y="2857500"/>
            <a:ext cx="2119170" cy="1973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 WPF độc lập, duy trì 60 FPS.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0" y="3643312"/>
            <a:ext cx="15838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Heap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0" y="3919537"/>
            <a:ext cx="2677015" cy="1973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 khựng âm thanh do Garbage Collector.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4800" y="4705350"/>
            <a:ext cx="116859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 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4800" y="4981575"/>
            <a:ext cx="2479846" cy="1973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WAL, cho phép đọc/ghi đồng thời.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9200" y="2390775"/>
            <a:ext cx="9686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Playback Core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9200" y="2619375"/>
            <a:ext cx="1530868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Phát, dừng, tua &amp; âm lượng.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5800" y="2390775"/>
            <a:ext cx="72936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DSP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5800" y="2619375"/>
            <a:ext cx="1553310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10-Band EQ, 7 preset chuẩn.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9200" y="3034605"/>
            <a:ext cx="6627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9200" y="3263205"/>
            <a:ext cx="1655903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 1024 điểm, đĩa than 360°.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5800" y="3034605"/>
            <a:ext cx="9606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Stream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5800" y="3263205"/>
            <a:ext cx="1373774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 HTTP 206 Partial.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9200" y="3678435"/>
            <a:ext cx="92974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Library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9200" y="3907035"/>
            <a:ext cx="1566134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Quét đĩa BFS, bóc ID3 Tags.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95800" y="3678435"/>
            <a:ext cx="7582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 Queue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95800" y="3907035"/>
            <a:ext cx="1554913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Kéo thả, tự động chuyển bài.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9200" y="4322266"/>
            <a:ext cx="10238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Karaoke Lyrics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9200" y="4550866"/>
            <a:ext cx="1611018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bộ .LRC thời gian thực.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5800" y="4322266"/>
            <a:ext cx="73738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95800" y="4550866"/>
            <a:ext cx="1513235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 &amp; cấu hình cá nhân.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9200" y="496609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9200" y="5194696"/>
            <a:ext cx="1394613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Smart Shuffle.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5800" y="4966096"/>
            <a:ext cx="5899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5800" y="5194696"/>
            <a:ext cx="1816203" cy="1758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 độ Sáng/Tối, LED trạng thái.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724025"/>
            <a:ext cx="10668000" cy="1076325"/>
          </a:xfrm>
          <a:prstGeom prst="roundRect">
            <a:avLst>
              <a:gd name="adj" fmla="val 106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3333750"/>
            <a:ext cx="340355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4150" y="3333750"/>
            <a:ext cx="340355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26300" y="3333750"/>
            <a:ext cx="340355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5748188"/>
            <a:ext cx="3200400" cy="771525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5191125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3333750"/>
            <a:ext cx="34035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2000" y="3333750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56025" y="3333750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94150" y="5191125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94150" y="3333750"/>
            <a:ext cx="34035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94150" y="3333750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88175" y="3333750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26300" y="5191125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26300" y="3333750"/>
            <a:ext cx="34035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26300" y="3333750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20326" y="3333750"/>
            <a:ext cx="9525" cy="1866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91000" y="5734050"/>
            <a:ext cx="2311449" cy="799802"/>
          </a:xfrm>
          <a:prstGeom prst="roundRect">
            <a:avLst>
              <a:gd name="adj" fmla="val 714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654849" y="5734050"/>
            <a:ext cx="2311449" cy="799802"/>
          </a:xfrm>
          <a:prstGeom prst="roundRect">
            <a:avLst>
              <a:gd name="adj" fmla="val 714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18699" y="5734050"/>
            <a:ext cx="2311449" cy="799802"/>
          </a:xfrm>
          <a:prstGeom prst="roundRect">
            <a:avLst>
              <a:gd name="adj" fmla="val 714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2971800"/>
            <a:ext cx="1428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5372100"/>
            <a:ext cx="1428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2400300"/>
            <a:ext cx="1714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25" y="2400300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075" y="2400300"/>
            <a:ext cx="1714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175" y="6205388"/>
            <a:ext cx="13335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5876925"/>
            <a:ext cx="13335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9149" y="5876925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2999" y="5876925"/>
            <a:ext cx="1714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25" y="3971925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125" y="4248150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125" y="4524375"/>
            <a:ext cx="1809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125" y="4800600"/>
            <a:ext cx="1428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2275" y="3971925"/>
            <a:ext cx="1809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2275" y="4248150"/>
            <a:ext cx="1428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2275" y="4524375"/>
            <a:ext cx="1809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2275" y="4800600"/>
            <a:ext cx="1428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4425" y="3971925"/>
            <a:ext cx="16192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4425" y="4248150"/>
            <a:ext cx="12382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425" y="4524375"/>
            <a:ext cx="14287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64425" y="4800600"/>
            <a:ext cx="161925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62000" y="885825"/>
            <a:ext cx="652531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Modular Monolith &amp; MVVM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6321" y="1952625"/>
            <a:ext cx="303935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MusicApp (WPF Presentation)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4641" y="2381250"/>
            <a:ext cx="1247841" cy="184666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 (XAML)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4342" y="2381250"/>
            <a:ext cx="1980414" cy="184666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ViewModels (Coordinator)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0717" y="2381250"/>
            <a:ext cx="1542538" cy="184666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Dark/Light Themes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08915" y="3600450"/>
            <a:ext cx="130971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src/MusicApp.Bff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0458" y="3600450"/>
            <a:ext cx="153093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src/MusicApp.Audio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7462" y="3600450"/>
            <a:ext cx="144122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src/MusicApp.Core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71144" y="5919638"/>
            <a:ext cx="13821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tests/MusicApp.Tests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1005" y="6186338"/>
            <a:ext cx="1702389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 Tests • 100% Pass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4194" y="6048631"/>
            <a:ext cx="2178099" cy="345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Core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9149" y="6021218"/>
            <a:ext cx="2178099" cy="345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Giao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HTTP Loopback.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2999" y="6048631"/>
            <a:ext cx="2178099" cy="345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MVVM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Thuần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túy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sz="1050" b="1" i="0" u="none" dirty="0" err="1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050" b="1" i="0" u="none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code-behind.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125" y="3952875"/>
            <a:ext cx="1213474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OWIN Self-Host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0125" y="4229100"/>
            <a:ext cx="1402628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API Controller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0125" y="4505325"/>
            <a:ext cx="1226298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206 Proxy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0125" y="4781550"/>
            <a:ext cx="1133324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Routing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32275" y="3952875"/>
            <a:ext cx="1285608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NAudio WaveOut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32275" y="4229100"/>
            <a:ext cx="1442703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10-Band BiQuad EQ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32275" y="4505325"/>
            <a:ext cx="1498808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1024-point FFT Hann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32275" y="4781550"/>
            <a:ext cx="1461939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Zero-Allocation DSP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64425" y="3952875"/>
            <a:ext cx="1703993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Models &amp; DTOs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4425" y="4229100"/>
            <a:ext cx="1559722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WAL &amp; Repos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64425" y="4505325"/>
            <a:ext cx="1551707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LrcParser &amp; BFS Scan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4425" y="4781550"/>
            <a:ext cx="1694375" cy="173124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19800" y="1724025"/>
            <a:ext cx="5410200" cy="4524375"/>
          </a:xfrm>
          <a:prstGeom prst="roundRect">
            <a:avLst>
              <a:gd name="adj" fmla="val 2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724025"/>
            <a:ext cx="4800600" cy="1683841"/>
          </a:xfrm>
          <a:prstGeom prst="roundRect">
            <a:avLst>
              <a:gd name="adj" fmla="val 45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724025"/>
            <a:ext cx="38100" cy="1683841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3636466"/>
            <a:ext cx="2324100" cy="1455241"/>
          </a:xfrm>
          <a:prstGeom prst="roundRect">
            <a:avLst>
              <a:gd name="adj" fmla="val 523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38500" y="3636466"/>
            <a:ext cx="2324100" cy="1455241"/>
          </a:xfrm>
          <a:prstGeom prst="roundRect">
            <a:avLst>
              <a:gd name="adj" fmla="val 523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97167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798391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425" y="3798391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885825"/>
            <a:ext cx="574279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BFF &amp; HTTP 206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211" y="2038350"/>
            <a:ext cx="390337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 tua nhạc tức thời (HTTP 206 Partial Content)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50" y="1951509"/>
            <a:ext cx="1665521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Owin Self-Host BFF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229362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2295525"/>
            <a:ext cx="1578317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 đời gắn liền WPF.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26136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2615505"/>
            <a:ext cx="1597745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mật API Key ngoài.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1575" y="293358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2935485"/>
            <a:ext cx="1833835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Gom nhóm JSON đa nguồn.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4103191"/>
            <a:ext cx="99546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4369891"/>
            <a:ext cx="20955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665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MemoryCache 30 phút, giảm 70% request trùng lặp.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0425" y="4103191"/>
            <a:ext cx="1165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RemoveDiacritics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425" y="4369891"/>
            <a:ext cx="209550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 Unicode FormD, tìm kiếm không dấu ("con mua" → Cơn Mưa).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15125" y="2809875"/>
            <a:ext cx="19050" cy="3124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24762" y="2809875"/>
            <a:ext cx="19050" cy="3124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629650" y="2809875"/>
            <a:ext cx="19050" cy="3124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634537" y="2809875"/>
            <a:ext cx="19050" cy="3124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715625" y="2809875"/>
            <a:ext cx="19050" cy="31242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334125" y="2466975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339012" y="2466975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343900" y="2466975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348787" y="2466975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353675" y="2466975"/>
            <a:ext cx="762000" cy="304800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05550" y="2543175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0437" y="2543175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40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WPF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5325" y="2543175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665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NAudio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0212" y="2543175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B21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25100" y="2543175"/>
            <a:ext cx="819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A34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15125" y="3476625"/>
            <a:ext cx="909637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624762" y="4010025"/>
            <a:ext cx="1004887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629650" y="4200525"/>
            <a:ext cx="1004887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634537" y="4448175"/>
            <a:ext cx="1862137" cy="190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634537" y="4924425"/>
            <a:ext cx="1862137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629650" y="5305425"/>
            <a:ext cx="1004887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715125" y="5705475"/>
            <a:ext cx="1914525" cy="190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72250" y="3133725"/>
            <a:ext cx="119538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Seekbar (02:45)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81887" y="3514725"/>
            <a:ext cx="129063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SetPosition(Offset)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6775" y="3895725"/>
            <a:ext cx="1290637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Range: bytes=3.5M-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1770" y="4276725"/>
            <a:ext cx="2327671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7C3AE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Forward Request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1770" y="4752975"/>
            <a:ext cx="2327671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HTTP 206 (Chunk)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6775" y="5133975"/>
            <a:ext cx="1290637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Pipe Stream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5809" y="5514975"/>
            <a:ext cx="239315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Nhạc phát tiếp (&lt; 80ms)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699670" y="1724025"/>
            <a:ext cx="5730329" cy="4968180"/>
          </a:xfrm>
          <a:prstGeom prst="roundRect">
            <a:avLst>
              <a:gd name="adj" fmla="val 23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2390775"/>
            <a:ext cx="4480470" cy="85725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2066925"/>
            <a:ext cx="448047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2000" y="3438525"/>
            <a:ext cx="4480470" cy="85725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2000" y="4486275"/>
            <a:ext cx="4480470" cy="85725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2000" y="5534025"/>
            <a:ext cx="4480470" cy="85725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55235" y="4219575"/>
            <a:ext cx="19050" cy="2286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55235" y="5143500"/>
            <a:ext cx="19050" cy="1905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555235" y="3238500"/>
            <a:ext cx="19050" cy="3048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2285" y="3333750"/>
            <a:ext cx="1504950" cy="133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27552" y="5353050"/>
            <a:ext cx="19050" cy="152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83067" y="5353050"/>
            <a:ext cx="19050" cy="152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90195" y="5505450"/>
            <a:ext cx="2360414" cy="872430"/>
          </a:xfrm>
          <a:prstGeom prst="roundRect">
            <a:avLst>
              <a:gd name="adj" fmla="val 873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79209" y="5505450"/>
            <a:ext cx="2360414" cy="872430"/>
          </a:xfrm>
          <a:prstGeom prst="roundRect">
            <a:avLst>
              <a:gd name="adj" fmla="val 873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552" y="5334000"/>
            <a:ext cx="2474565" cy="19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2590800"/>
            <a:ext cx="3429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638550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686300"/>
            <a:ext cx="342900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5734050"/>
            <a:ext cx="3429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2686050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3733800"/>
            <a:ext cx="1714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" y="4781550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7275" y="5829300"/>
            <a:ext cx="1524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9365" y="5676900"/>
            <a:ext cx="1524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8391" y="5676900"/>
            <a:ext cx="1333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2000" y="885825"/>
            <a:ext cx="637956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Engine &amp; 10-Band DSP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1724025"/>
            <a:ext cx="480450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Kỹ thuật Tối ưu Hóa DSP Cốt lõi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8843" y="2038350"/>
            <a:ext cx="209198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 Đồ thị Xử lý Tín hiệu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8485" y="3333750"/>
            <a:ext cx="1187826" cy="1269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Float, 48kHz Stereo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57325" y="2590800"/>
            <a:ext cx="107407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 ly Stereo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57325" y="2847975"/>
            <a:ext cx="2353208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bộ lọc IIR độc lập, triệt tiêu méo pha.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57325" y="3638550"/>
            <a:ext cx="158389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Heap Allocation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7325" y="3895725"/>
            <a:ext cx="2720296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hệ số tại chỗ, chống khựng âm thanh.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57325" y="4686300"/>
            <a:ext cx="90890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Limiter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57325" y="4943475"/>
            <a:ext cx="2790829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Kẹp biên độ tín hiệu, bảo vệ màng loa máy tính.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57325" y="5734050"/>
            <a:ext cx="117506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Preset Âm sắc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57325" y="5991225"/>
            <a:ext cx="2665794" cy="18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Tùy biến nhanh: Pop, Rock, Jazz, Bass Boost.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0264" y="5657850"/>
            <a:ext cx="1240275" cy="184666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WaveOutEvent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8018" y="5905500"/>
            <a:ext cx="266476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 trễ 100ms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 Hardware DSP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3975" y="5657850"/>
            <a:ext cx="1110882" cy="184666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FftCalculator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7033" y="5905500"/>
            <a:ext cx="266476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>
                <a:solidFill>
                  <a:srgbClr val="DBEA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Hanning Window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DBEA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FFT 1024 điểm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0195" y="2543175"/>
            <a:ext cx="4949279" cy="695325"/>
          </a:xfrm>
          <a:prstGeom prst="roundRect">
            <a:avLst>
              <a:gd name="adj" fmla="val 109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090195" y="3524250"/>
            <a:ext cx="4949279" cy="695325"/>
          </a:xfrm>
          <a:prstGeom prst="roundRect">
            <a:avLst>
              <a:gd name="adj" fmla="val 10958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90195" y="4448175"/>
            <a:ext cx="4949279" cy="695325"/>
          </a:xfrm>
          <a:prstGeom prst="roundRect">
            <a:avLst>
              <a:gd name="adj" fmla="val 1095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5610" y="2714625"/>
            <a:ext cx="133350" cy="1714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2685" y="3695700"/>
            <a:ext cx="219075" cy="1714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5123" y="4619625"/>
            <a:ext cx="190500" cy="1714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792155" y="2695575"/>
            <a:ext cx="1545359" cy="207749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 Âm Thanh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65174" y="2933700"/>
            <a:ext cx="219932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AudioFileReader</a:t>
            </a:r>
            <a:r>
              <a:rPr sz="975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975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sz="975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/ HTTP 206 (</a:t>
            </a:r>
            <a:r>
              <a:rPr sz="975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sz="975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1254" y="3676650"/>
            <a:ext cx="2507161" cy="207749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DspEqualizerSampleProvider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38912" y="3914775"/>
            <a:ext cx="205184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DDD6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lọc 10-Band Bi-quad IIR (Q = 1.414)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4446" y="4600575"/>
            <a:ext cx="1660776" cy="207749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SampleAggregator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9069" y="4838700"/>
            <a:ext cx="231153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 nối thu thập tĩnh (Ring Buffer 2048 mẫu)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1724025"/>
            <a:ext cx="5486400" cy="4739282"/>
          </a:xfrm>
          <a:prstGeom prst="roundRect">
            <a:avLst>
              <a:gd name="adj" fmla="val 32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705600" y="1724025"/>
            <a:ext cx="4724400" cy="1874341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05600" y="3826966"/>
            <a:ext cx="4724400" cy="2636341"/>
          </a:xfrm>
          <a:prstGeom prst="roundRect">
            <a:avLst>
              <a:gd name="adj" fmla="val 433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05600" y="1724025"/>
            <a:ext cx="38100" cy="187434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05600" y="3826966"/>
            <a:ext cx="38100" cy="263634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518421"/>
            <a:ext cx="4724400" cy="101143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81138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277" y="4832746"/>
            <a:ext cx="3143696" cy="38278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204787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4150816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150" y="5625107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6858000"/>
            <a:ext cx="19435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tiếp qua HTTP Loopback.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85825"/>
            <a:ext cx="687778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Phổ FFT &amp; Trực quan Đĩa than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3050" y="2656939"/>
            <a:ext cx="26888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FFT 1024 Điểm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50" y="3161198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62151"/>
            <a:ext cx="3068148" cy="25218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Radix-2: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Biến đổi 1024 mẫu sang phổ tần.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50" y="3549788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50741"/>
            <a:ext cx="3274935" cy="25218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Thang Logarit: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cột sóng theo độ nhạy tai.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6350" y="3938379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939331"/>
            <a:ext cx="2711063" cy="25218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 sổ Hanning: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Triệt tiêu rò rỉ phổ.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0" y="2027709"/>
            <a:ext cx="2397836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tiết Sự kiện (Throttling)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3300" y="4130650"/>
            <a:ext cx="2156424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cảnh Đĩa Than Vinyl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1375" y="240792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7100" y="2409825"/>
            <a:ext cx="2383666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cập nhật UI 33ms (30 FPS).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1375" y="27279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7100" y="2729805"/>
            <a:ext cx="2253822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phóng luồng WPF Dispatcher.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1375" y="304788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7100" y="3049785"/>
            <a:ext cx="2621615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 tải hàng đợi thông điệp Windows.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1375" y="4510861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7100" y="4512766"/>
            <a:ext cx="2257734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Xoay 360° qua XAML Storyboard.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1375" y="4830841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7100" y="4832746"/>
            <a:ext cx="2503891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bộ máy trạng thái PlaybackState.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1375" y="5150822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7100" y="5152727"/>
            <a:ext cx="2585644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 trợ Spotify Green &amp; Rainbow 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0070" y="1435598"/>
            <a:ext cx="6907555" cy="5004790"/>
          </a:xfrm>
          <a:prstGeom prst="roundRect">
            <a:avLst>
              <a:gd name="adj" fmla="val 22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43825" y="1724025"/>
            <a:ext cx="4480470" cy="3076575"/>
          </a:xfrm>
          <a:prstGeom prst="roundRect">
            <a:avLst>
              <a:gd name="adj" fmla="val 37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43825" y="5029200"/>
            <a:ext cx="4480470" cy="1674316"/>
          </a:xfrm>
          <a:prstGeom prst="roundRect">
            <a:avLst>
              <a:gd name="adj" fmla="val 45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76325" y="2543175"/>
            <a:ext cx="1619250" cy="1179016"/>
          </a:xfrm>
          <a:prstGeom prst="roundRect">
            <a:avLst>
              <a:gd name="adj" fmla="val 64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28975" y="2543175"/>
            <a:ext cx="1619250" cy="1179016"/>
          </a:xfrm>
          <a:prstGeom prst="roundRect">
            <a:avLst>
              <a:gd name="adj" fmla="val 64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3050" y="2543175"/>
            <a:ext cx="1619250" cy="1179016"/>
          </a:xfrm>
          <a:prstGeom prst="roundRect">
            <a:avLst>
              <a:gd name="adj" fmla="val 64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84303" y="4325987"/>
            <a:ext cx="1619250" cy="1179016"/>
          </a:xfrm>
          <a:prstGeom prst="roundRect">
            <a:avLst>
              <a:gd name="adj" fmla="val 64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72175" y="4329112"/>
            <a:ext cx="1619250" cy="1179016"/>
          </a:xfrm>
          <a:prstGeom prst="roundRect">
            <a:avLst>
              <a:gd name="adj" fmla="val 64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43825" y="6693991"/>
            <a:ext cx="4480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43825" y="5029200"/>
            <a:ext cx="4480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43825" y="5029200"/>
            <a:ext cx="38100" cy="16743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214770" y="5029200"/>
            <a:ext cx="9525" cy="16743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85850" y="2552700"/>
            <a:ext cx="1600200" cy="3143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38500" y="2552700"/>
            <a:ext cx="1600200" cy="31432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62575" y="2552700"/>
            <a:ext cx="1600200" cy="3143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93828" y="4335512"/>
            <a:ext cx="1600200" cy="3143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81700" y="4338637"/>
            <a:ext cx="1600200" cy="3143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48625" y="2486025"/>
            <a:ext cx="3870870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48625" y="2486025"/>
            <a:ext cx="28575" cy="304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48625" y="3219450"/>
            <a:ext cx="3870870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48625" y="3219450"/>
            <a:ext cx="28575" cy="304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48625" y="3952875"/>
            <a:ext cx="3870870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48625" y="3952875"/>
            <a:ext cx="28575" cy="304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5" y="2047875"/>
            <a:ext cx="19050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525" y="5281612"/>
            <a:ext cx="190500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62000" y="885825"/>
            <a:ext cx="6306342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Tầng Lưu trữ Bền vững: SQLite 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9250" y="2038350"/>
            <a:ext cx="450450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CSDL </a:t>
            </a:r>
            <a:r>
              <a:rPr lang="en-US"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350" b="1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7975" y="3051720"/>
            <a:ext cx="2019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1..*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0625" y="3051720"/>
            <a:ext cx="2019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*..1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3425" y="2027709"/>
            <a:ext cx="2273058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 dirty="0" err="1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500" b="1" i="0" u="none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500" b="1" i="0" u="none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sz="1500" b="1" i="0" u="none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500" b="1" i="0" u="none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(Pragma)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275" y="5263463"/>
            <a:ext cx="1481175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35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35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Repository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125" y="2628900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150" y="2981325"/>
            <a:ext cx="1466850" cy="59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1" i="0" u="none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created_at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2775" y="2628900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playlist_tracks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2800" y="2981325"/>
            <a:ext cx="1466850" cy="59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playlist_id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track_id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76850" y="2628900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6875" y="2981325"/>
            <a:ext cx="1466850" cy="59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1" i="0" u="none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track_key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title, artist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8103" y="4411712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user_interactions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8128" y="4764137"/>
            <a:ext cx="1466850" cy="59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1" i="0" u="none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sz="9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sz="9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0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action_type</a:t>
            </a:r>
            <a:endParaRPr sz="900" b="0" i="0" u="none" dirty="0">
              <a:solidFill>
                <a:srgbClr val="47556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95975" y="4414837"/>
            <a:ext cx="1771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stream_cache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0" y="4767262"/>
            <a:ext cx="1466850" cy="59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1" i="0" u="none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track_id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sha1_hash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2925" y="2562225"/>
            <a:ext cx="3737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PRAGMA </a:t>
            </a:r>
            <a:r>
              <a:rPr sz="1050" b="0" i="0" u="none" dirty="0" err="1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journal_mode</a:t>
            </a:r>
            <a:r>
              <a:rPr sz="1050" b="0" i="0" u="none" dirty="0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WAL;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8625" y="2847975"/>
            <a:ext cx="227786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Đọc/ghi song song, không khóa CSDL.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62925" y="3295650"/>
            <a:ext cx="3737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PRAGMA synchronous = NORMAL;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8625" y="3581400"/>
            <a:ext cx="208390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 độ ghi x3, đảm bảo an toàn đĩa.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62925" y="4029075"/>
            <a:ext cx="3737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PRAGMA cache_size = -64000;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8625" y="4314825"/>
            <a:ext cx="225382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Dành riêng 64MB RAM đệm truy vấn.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3400" y="5579745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9125" y="5581650"/>
            <a:ext cx="2790251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lớp chuyên trách (Track, Playlist, Queue).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3400" y="5899725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39125" y="5901630"/>
            <a:ext cx="2447786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 toàn vẹn khóa ngoại tự động.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3400" y="6219705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9125" y="6221610"/>
            <a:ext cx="3346494" cy="218778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Đóng gói Giao dịch Nguyên tử (SQLiteTransaction).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EA42078-3220-850A-DA25-8A25EDA64EFB}"/>
              </a:ext>
            </a:extLst>
          </p:cNvPr>
          <p:cNvCxnSpPr/>
          <p:nvPr/>
        </p:nvCxnSpPr>
        <p:spPr>
          <a:xfrm>
            <a:off x="6200775" y="3722191"/>
            <a:ext cx="0" cy="3068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2E21D79-23A9-39EE-A34E-83E1456B150F}"/>
              </a:ext>
            </a:extLst>
          </p:cNvPr>
          <p:cNvCxnSpPr>
            <a:cxnSpLocks/>
          </p:cNvCxnSpPr>
          <p:nvPr/>
        </p:nvCxnSpPr>
        <p:spPr>
          <a:xfrm flipH="1">
            <a:off x="4393928" y="4036516"/>
            <a:ext cx="23878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4A5FDF9-0DF8-ACEE-79FC-1148EA1FE76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393928" y="4036516"/>
            <a:ext cx="0" cy="2989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B5D0904-E1E5-6F69-9722-1FB658E3913C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779715" y="4026991"/>
            <a:ext cx="2085" cy="3116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A090799-540B-8C74-B121-9F720F0A9D32}"/>
              </a:ext>
            </a:extLst>
          </p:cNvPr>
          <p:cNvSpPr txBox="1"/>
          <p:nvPr/>
        </p:nvSpPr>
        <p:spPr>
          <a:xfrm rot="16200000">
            <a:off x="4131897" y="4057598"/>
            <a:ext cx="2019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*..1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732D64-29CD-61F7-1AA7-83F84E8EF7FC}"/>
              </a:ext>
            </a:extLst>
          </p:cNvPr>
          <p:cNvSpPr txBox="1"/>
          <p:nvPr/>
        </p:nvSpPr>
        <p:spPr>
          <a:xfrm rot="16200000">
            <a:off x="6534875" y="4091329"/>
            <a:ext cx="2019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*..1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72200" y="2200275"/>
            <a:ext cx="5257800" cy="495300"/>
          </a:xfrm>
          <a:prstGeom prst="roundRect">
            <a:avLst>
              <a:gd name="adj" fmla="val 7692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6762" y="2762250"/>
            <a:ext cx="328419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50952" y="2762250"/>
            <a:ext cx="150688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72200" y="2200275"/>
            <a:ext cx="38100" cy="4953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6762" y="3319462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50952" y="3319462"/>
            <a:ext cx="1506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762" y="3862387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50952" y="3862387"/>
            <a:ext cx="1506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6762" y="4405312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50952" y="4405312"/>
            <a:ext cx="1506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6762" y="4948237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50952" y="4948237"/>
            <a:ext cx="1506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6762" y="5491162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50952" y="5491162"/>
            <a:ext cx="1506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6762" y="6034087"/>
            <a:ext cx="3284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50952" y="6034087"/>
            <a:ext cx="15068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924175"/>
            <a:ext cx="5257800" cy="15225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19275"/>
            <a:ext cx="2381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19275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142" y="3146127"/>
            <a:ext cx="2739290" cy="1176337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62000" y="2276475"/>
            <a:ext cx="4800600" cy="431482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772251"/>
              </p:ext>
            </p:extLst>
          </p:nvPr>
        </p:nvGraphicFramePr>
        <p:xfrm>
          <a:off x="762000" y="2276475"/>
          <a:ext cx="4791074" cy="4314825"/>
        </p:xfrm>
        <a:graphic>
          <a:graphicData uri="http://schemas.openxmlformats.org/drawingml/2006/table">
            <a:tbl>
              <a:tblPr/>
              <a:tblGrid>
                <a:gridCol w="328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Hành vi Tương tác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1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 (Δ)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Đánh dấu Yêu thích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 vào Playlist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+8.0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Nghe 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trọn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vẹn</a:t>
                      </a:r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Nghe liên tục &gt; 30s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Chủ động Click chọn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35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Bỏ qua (Skip) &lt; 30s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>
                          <a:solidFill>
                            <a:srgbClr val="EF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35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Bỏ Yêu thích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 u="none" dirty="0">
                          <a:solidFill>
                            <a:srgbClr val="EF44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62000" y="885825"/>
            <a:ext cx="517128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 cơ Gợi ý &amp; Smart Shuffle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425" y="1797092"/>
            <a:ext cx="1260923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Affinity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6050" y="1797092"/>
            <a:ext cx="2718693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Softmax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52675"/>
            <a:ext cx="39610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813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 chế Random():</a:t>
            </a:r>
            <a:r>
              <a:rPr sz="1200" b="0" i="0" u="none">
                <a:solidFill>
                  <a:srgbClr val="8813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Lặp lại bài cũ, chọn trúng bài không thích.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5550" y="4750534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51486"/>
            <a:ext cx="2435090" cy="25218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S_i: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Điểm số Affinity của bài hát.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139124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40076"/>
            <a:ext cx="3877728" cy="25218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</a:t>
            </a:r>
            <a:r>
              <a:rPr lang="en-US"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b="1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350" b="1" i="0" u="none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hiệt</a:t>
            </a:r>
            <a:r>
              <a:rPr sz="135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350" b="1" i="0" u="none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8425" y="5527714"/>
            <a:ext cx="1041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5528667"/>
            <a:ext cx="3363165" cy="252185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1350" b="1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sz="135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8425" y="5878204"/>
            <a:ext cx="10419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3200" y="5879157"/>
            <a:ext cx="3276603" cy="252185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1350" b="1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sz="1350" b="1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sz="1350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800225"/>
            <a:ext cx="3352800" cy="4448175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19600" y="1800225"/>
            <a:ext cx="3352800" cy="4448175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077200" y="1800225"/>
            <a:ext cx="3352800" cy="4448175"/>
          </a:xfrm>
          <a:prstGeom prst="roundRect">
            <a:avLst>
              <a:gd name="adj" fmla="val 34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66825" y="5114925"/>
            <a:ext cx="899368" cy="219075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1145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5" y="21145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11455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387" y="2247900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224790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8687" y="2247900"/>
            <a:ext cx="1428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885825"/>
            <a:ext cx="558755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 lý Ngoại tuyến &amp; Tương tác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762250"/>
            <a:ext cx="1751442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Quét Thư viện BFS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3925" y="2762250"/>
            <a:ext cx="160460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 đợi Kéo thả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2762250"/>
            <a:ext cx="192636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bộ Lyrics .LRC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31623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3162300"/>
            <a:ext cx="2628900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 StackOverflow: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Thay thế đệ quy bằng Queue.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37338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3733800"/>
            <a:ext cx="2628900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 lý ngoại lệ an toàn: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Bỏ qua lỗi độ dài đường dẫn &amp; phân quyền.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43053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825" y="4305300"/>
            <a:ext cx="2628900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Trích xuất ID3: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Đọc siêu dữ liệu qua TagLibSharp.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100" y="48768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6825" y="4876800"/>
            <a:ext cx="2628900" cy="43999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 ưu RAM Bitmap: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Gọi ảnh bìa, giải phóng byte trung gian.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8700" y="31623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4425" y="3162300"/>
            <a:ext cx="2628900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diện Tương tác: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Tích hợp thư viện gong-wpf-dragdrop.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8700" y="37338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4425" y="3733800"/>
            <a:ext cx="2628900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 đổi Ưu tiên: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Kéo thả điều chỉnh thứ tự phát trực tiếp.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8700" y="43053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4425" y="4305300"/>
            <a:ext cx="2628900" cy="6858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chế Auto-Advance: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Tự động phát hết hàng đợi thủ công trước danh sách chính.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96300" y="31623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2025" y="3162300"/>
            <a:ext cx="2628900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Regex: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Hỗ trợ đa mốc thời gian &amp; offset bù trừ.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6300" y="37338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2025" y="3733800"/>
            <a:ext cx="2628900" cy="43999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 kiếm O(log N):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Giải thuật nhị phân định vị dòng lời theo mili-giây.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6300" y="4533900"/>
            <a:ext cx="5450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2025" y="4533900"/>
            <a:ext cx="2628900" cy="43999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Gating:</a:t>
            </a: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Chỉ kích hoạt sự kiện cuộn UI khi chỉ số dòng thay đổi thực sự.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4925" y="5133975"/>
            <a:ext cx="553037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.Freeze()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288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33909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43529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2000" y="5314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85270" y="2600325"/>
            <a:ext cx="125983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45100" y="2600325"/>
            <a:ext cx="277847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23573" y="2600325"/>
            <a:ext cx="2606426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85270" y="3386137"/>
            <a:ext cx="12598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45100" y="3386137"/>
            <a:ext cx="2778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23573" y="3386137"/>
            <a:ext cx="26064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85270" y="4157662"/>
            <a:ext cx="12598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45100" y="4157662"/>
            <a:ext cx="2778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23573" y="4157662"/>
            <a:ext cx="26064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85270" y="4929187"/>
            <a:ext cx="12598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45100" y="4929187"/>
            <a:ext cx="2778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23573" y="4929187"/>
            <a:ext cx="26064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270" y="1819275"/>
            <a:ext cx="209550" cy="20955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603840"/>
              </p:ext>
            </p:extLst>
          </p:nvPr>
        </p:nvGraphicFramePr>
        <p:xfrm>
          <a:off x="4785270" y="2276475"/>
          <a:ext cx="6644728" cy="3238500"/>
        </p:xfrm>
        <a:graphic>
          <a:graphicData uri="http://schemas.openxmlformats.org/drawingml/2006/table">
            <a:tbl>
              <a:tblPr/>
              <a:tblGrid>
                <a:gridCol w="1259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Thách</a:t>
                      </a:r>
                      <a:r>
                        <a:rPr sz="1125" b="1" i="0" u="none" dirty="0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25" b="1" i="0" u="none" dirty="0" err="1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thức</a:t>
                      </a:r>
                      <a:endParaRPr sz="1125" b="1" i="0" u="none" dirty="0">
                        <a:solidFill>
                          <a:srgbClr val="64748B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Hiện tượng &amp; Nguy cơ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Giải pháp Kỹ thuật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Thread Freezing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Giao diện đơ giật do FFT bắn sự kiện liên tục.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Throttling (30 FPS) &amp; Ring Buffer tĩnh.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Rò</a:t>
                      </a:r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rỉ</a:t>
                      </a:r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RAM (BFS)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Ngốn &gt; 800MB khi tải ảnh bìa hàng loạt.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Gọi </a:t>
                      </a:r>
                      <a:r>
                        <a:rPr sz="1200" b="1" i="0" u="none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.Freeze()</a:t>
                      </a:r>
                      <a:r>
                        <a:rPr sz="12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Bitmap, giải phóng byte thô.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Méo tiếng Stereo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Lệch pha âm thanh Trái/Phải khi qua EQ.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Tách 20 bộ lọc BiQuad độc lập (2 kênh x 10 dải).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Khóa</a:t>
                      </a:r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SQLite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Đụng độ luồng đọc dữ liệu UI và ghi tương tác ngầm.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</a:t>
                      </a:r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200" b="1" i="0" u="none" dirty="0" err="1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WAL Mode &amp; Atomic Transactions.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2000" y="885825"/>
            <a:ext cx="602947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 độ Xây dựng &amp; Quản trị Rủi 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1800225"/>
            <a:ext cx="185788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Lộ trình 9 Giai đoạn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9120" y="1797092"/>
            <a:ext cx="2891176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Thách thức Kỹ thuật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2513763"/>
            <a:ext cx="62865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" y="3475788"/>
            <a:ext cx="62865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" y="4437813"/>
            <a:ext cx="62865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" y="5399838"/>
            <a:ext cx="628650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7300" y="2428875"/>
            <a:ext cx="139942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Kiến trúc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2686050"/>
            <a:ext cx="26992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MVVM, Dark/Light Theme &amp; Local BFF OWIN.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7300" y="3390900"/>
            <a:ext cx="156613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 lý Âm thanh DSP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7300" y="3648075"/>
            <a:ext cx="26992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NAudio Engine, 10-Band EQ, FFT Visualizer &amp; Karaoke LRC.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7300" y="4352925"/>
            <a:ext cx="137056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trữ &amp; Dữ liệu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300" y="4610100"/>
            <a:ext cx="26992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CSDL SQLite WAL, Repositories, Playlist &amp;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7300" y="5314950"/>
            <a:ext cx="132087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thiện Dự án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7300" y="5572125"/>
            <a:ext cx="26992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Shuffle Boltzmann, 75 Unit Tests &amp;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sz="1125" b="0" i="0" u="none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3E316A-D739-CF19-B9A0-0C30C230C0FC}"/>
              </a:ext>
            </a:extLst>
          </p:cNvPr>
          <p:cNvCxnSpPr/>
          <p:nvPr/>
        </p:nvCxnSpPr>
        <p:spPr>
          <a:xfrm>
            <a:off x="4785270" y="3590925"/>
            <a:ext cx="66447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8D76D2F-F44C-B8CA-A9CF-3A51B88C6D0B}"/>
              </a:ext>
            </a:extLst>
          </p:cNvPr>
          <p:cNvCxnSpPr/>
          <p:nvPr/>
        </p:nvCxnSpPr>
        <p:spPr>
          <a:xfrm>
            <a:off x="4785269" y="4167187"/>
            <a:ext cx="66447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99DE5B9-A916-444B-2D06-8C446E3801DF}"/>
              </a:ext>
            </a:extLst>
          </p:cNvPr>
          <p:cNvCxnSpPr/>
          <p:nvPr/>
        </p:nvCxnSpPr>
        <p:spPr>
          <a:xfrm>
            <a:off x="4785269" y="4791075"/>
            <a:ext cx="66447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00DC1BC-E79D-A987-855F-3D1B4B60FD46}"/>
              </a:ext>
            </a:extLst>
          </p:cNvPr>
          <p:cNvCxnSpPr/>
          <p:nvPr/>
        </p:nvCxnSpPr>
        <p:spPr>
          <a:xfrm>
            <a:off x="4785269" y="5486400"/>
            <a:ext cx="66447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E66FD64-B813-E20D-A0BA-6220FB150092}"/>
              </a:ext>
            </a:extLst>
          </p:cNvPr>
          <p:cNvCxnSpPr/>
          <p:nvPr/>
        </p:nvCxnSpPr>
        <p:spPr>
          <a:xfrm>
            <a:off x="4785269" y="2771775"/>
            <a:ext cx="66447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3DFEDEC-505A-D882-D797-866A50DC892D}"/>
              </a:ext>
            </a:extLst>
          </p:cNvPr>
          <p:cNvCxnSpPr/>
          <p:nvPr/>
        </p:nvCxnSpPr>
        <p:spPr>
          <a:xfrm>
            <a:off x="4267200" y="2428875"/>
            <a:ext cx="0" cy="347662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76475"/>
            <a:ext cx="1391840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306240" y="2276475"/>
            <a:ext cx="1391840" cy="1000125"/>
          </a:xfrm>
          <a:prstGeom prst="roundRect">
            <a:avLst>
              <a:gd name="adj" fmla="val 11428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850481" y="2276475"/>
            <a:ext cx="1391840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852070" y="2276475"/>
            <a:ext cx="269364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736210" y="2276475"/>
            <a:ext cx="2693789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52070" y="3619500"/>
            <a:ext cx="269364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736210" y="3619500"/>
            <a:ext cx="2693789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52070" y="4962525"/>
            <a:ext cx="269364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36210" y="4962525"/>
            <a:ext cx="2693789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1927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070" y="181927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195" y="25146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335" y="2514600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195" y="3857625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335" y="3857625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195" y="5200650"/>
            <a:ext cx="381000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335" y="5200650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495" y="2619375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9585" y="2619375"/>
            <a:ext cx="1905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970" y="3962400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2448" y="3962400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445" y="5305425"/>
            <a:ext cx="1905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110" y="5305425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2000" y="885825"/>
            <a:ext cx="753950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Tự động &amp; Hiệu năng Thực nghiệm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" y="1797092"/>
            <a:ext cx="2556790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 lược Kiểm thử 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5920" y="1797092"/>
            <a:ext cx="2844240" cy="2539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 số Hiệu năng (Windows 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" y="3580447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600" y="3581400"/>
            <a:ext cx="2714589" cy="25218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MSTest v2 chuyên biệt.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350" y="4007137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" y="4008090"/>
            <a:ext cx="434712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 động hóa: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Tích hợp GitHub Actions (Biên dịch &amp; Test trên Windows Server).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350" y="4708118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600" y="4709070"/>
            <a:ext cx="434712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Bao phủ toàn diện:</a:t>
            </a:r>
            <a:r>
              <a:rPr sz="1350" b="0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Âm thanh DSP, SQLite WAL, Thuật toán Hàng đợi &amp; Gợi ý.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4795" y="2476500"/>
            <a:ext cx="346249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068" y="2933700"/>
            <a:ext cx="69570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47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9349" y="2476500"/>
            <a:ext cx="865622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0596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6368" y="2933700"/>
            <a:ext cx="63158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478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2669" y="2476500"/>
            <a:ext cx="567463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i="0" u="none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5455" y="2933700"/>
            <a:ext cx="5818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0195" y="3009900"/>
            <a:ext cx="163826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khởi động nguội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4335" y="3009900"/>
            <a:ext cx="140423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 (kèm Visualizer)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0195" y="4352925"/>
            <a:ext cx="133690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Chiếm dụng CPU (i5)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4335" y="4352925"/>
            <a:ext cx="1381789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 trễ tua nhạc (Seek)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0195" y="5695950"/>
            <a:ext cx="145392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 độ quét BFS (bài/s)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4335" y="5695950"/>
            <a:ext cx="1426673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Tỷ lệ lỗi Crash ngoại lệ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3595" y="2571750"/>
            <a:ext cx="883255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giây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7735" y="2571750"/>
            <a:ext cx="1182568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85-110MB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3595" y="3914775"/>
            <a:ext cx="1032334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1.8-2.4%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7735" y="3914775"/>
            <a:ext cx="819135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80ms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3595" y="5257800"/>
            <a:ext cx="745397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~1,500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7735" y="5257800"/>
            <a:ext cx="403957" cy="26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42095"/>
            <a:ext cx="5105400" cy="3236416"/>
          </a:xfrm>
          <a:prstGeom prst="roundRect">
            <a:avLst>
              <a:gd name="adj" fmla="val 4708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324600" y="1891605"/>
            <a:ext cx="5105400" cy="3937396"/>
          </a:xfrm>
          <a:prstGeom prst="roundRect">
            <a:avLst>
              <a:gd name="adj" fmla="val 3870"/>
            </a:avLst>
          </a:prstGeom>
          <a:solidFill>
            <a:srgbClr val="17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656433"/>
            <a:ext cx="25717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305942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6569" y="885825"/>
            <a:ext cx="7078861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36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36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36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36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3600" b="1" i="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sz="36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3600" b="1" i="0" u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sz="36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(Q&amp;A)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2632233"/>
            <a:ext cx="205505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quả Đạt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8025" y="2281743"/>
            <a:ext cx="275941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 Tương lai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5875" y="3136493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1125" y="3137445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 Native Toàn </a:t>
            </a:r>
            <a:r>
              <a:rPr sz="13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3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sz="13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5875" y="3837473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3838426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 chủ Kỹ thuật Lõi: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Kiến trúc MVVM, DSP Audio, Local BFF &amp; SQLite WAL.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875" y="4538454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1125" y="4539406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Hiện đại: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UI/UX chuẩn mực, hiệu ứng trực quan mượt mà.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2786002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725" y="2786955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 cấp Nền tảng: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Dịch chuyển sang .NET 8/9 &amp; WinUI 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475" y="3486983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3725" y="3487935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Hi-Res Audio: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Tích hợp giải mã 24-bit/96kHz, driver ASIO &amp; DSD.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4187963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725" y="4188916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rộng Nguồn phát: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Hỗ trợ SoundCloud, YouTube Music &amp; Radio.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475" y="4888944"/>
            <a:ext cx="60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3725" y="4889896"/>
            <a:ext cx="41910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 bộ Đám mây:</a:t>
            </a:r>
            <a:r>
              <a:rPr sz="13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Dịch vụ REST API đồng bộ đa thiết bị.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05750" y="2933402"/>
            <a:ext cx="8380499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ảm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ơn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thầy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bạn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đã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lắng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nghe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1895</Words>
  <Application>Microsoft Office PowerPoint</Application>
  <PresentationFormat>Widescreen</PresentationFormat>
  <Paragraphs>325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pham toàn</cp:lastModifiedBy>
  <cp:revision>4</cp:revision>
  <dcterms:created xsi:type="dcterms:W3CDTF">2013-01-27T09:14:16Z</dcterms:created>
  <dcterms:modified xsi:type="dcterms:W3CDTF">2026-09-30T05:35:10Z</dcterms:modified>
  <cp:category/>
</cp:coreProperties>
</file>