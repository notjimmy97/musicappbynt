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>
  <p:sldMasterIdLst>
    <p:sldMasterId id="2147483648" r:id="rId1"/>
  </p:sldMasterIdLst>
  <p:notesMasterIdLst>
    <p:notesMasterId r:id="rId1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 /><Relationship Id="rId20" Type="http://schemas.openxmlformats.org/officeDocument/2006/relationships/tableStyles" Target="tableStyles.xml" /><Relationship Id="rId2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138A77F-01E7-3BF3-6E61-0AC71A94937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5BCB4B-4155-1EC8-556B-F57551A5E42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9327EA-24C9-8769-E9A4-4811317E01D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0BBF2BC-E744-12E6-D603-D5B147A17E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E3E73E-8BFC-D284-2CCA-AFAC16BB1E6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EE3BE76-AB85-C0BF-896C-B7E11F346D4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D1AC9D-84F2-05AB-81A0-C025BC58C94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58BA49-EB5E-4A2A-A9E8-8B0496645BE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7B3EF4-17AD-8890-3F25-73316066E2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88A1F-B8CB-B260-378C-F4C2B27B134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5977D9-8328-4328-99E2-2E59BD6310B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3466EA-D125-417D-AF49-7C7D4762D0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1DA6484-DF50-3319-45F0-B729002774D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E6A969-E725-9D26-9482-997DCEFC5B4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066476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686797679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/>
          </a:p>
        </p:txBody>
      </p:sp>
      <p:sp>
        <p:nvSpPr>
          <p:cNvPr id="49640456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30-Sep-26</a:t>
            </a:fld>
            <a:endParaRPr lang="en-US"/>
          </a:p>
        </p:txBody>
      </p:sp>
      <p:sp>
        <p:nvSpPr>
          <p:cNvPr id="539396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710695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22740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9882514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417629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30-Sep-26</a:t>
            </a:fld>
            <a:endParaRPr lang="en-US"/>
          </a:p>
        </p:txBody>
      </p:sp>
      <p:sp>
        <p:nvSpPr>
          <p:cNvPr id="180695117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4767782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6839977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7820693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687997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30-Sep-26</a:t>
            </a:fld>
            <a:endParaRPr lang="en-US"/>
          </a:p>
        </p:txBody>
      </p:sp>
      <p:sp>
        <p:nvSpPr>
          <p:cNvPr id="63699759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694566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783912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04841142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7213632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92311974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30-Sep-26</a:t>
            </a:fld>
            <a:endParaRPr lang="en-US"/>
          </a:p>
        </p:txBody>
      </p:sp>
      <p:sp>
        <p:nvSpPr>
          <p:cNvPr id="31898501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432374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2194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26579438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3484992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90499566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340858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62731208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30-Sep-26</a:t>
            </a:fld>
            <a:endParaRPr lang="en-US"/>
          </a:p>
        </p:txBody>
      </p:sp>
      <p:sp>
        <p:nvSpPr>
          <p:cNvPr id="139068262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377791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564534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28121562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30-Sep-26</a:t>
            </a:fld>
            <a:endParaRPr lang="en-US"/>
          </a:p>
        </p:txBody>
      </p:sp>
      <p:sp>
        <p:nvSpPr>
          <p:cNvPr id="52065610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8934289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49163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30-Sep-26</a:t>
            </a:fld>
            <a:endParaRPr lang="en-US"/>
          </a:p>
        </p:txBody>
      </p:sp>
      <p:sp>
        <p:nvSpPr>
          <p:cNvPr id="4784863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6577581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923160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517047987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67652240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3547257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30-Sep-26</a:t>
            </a:fld>
            <a:endParaRPr lang="en-US"/>
          </a:p>
        </p:txBody>
      </p:sp>
      <p:sp>
        <p:nvSpPr>
          <p:cNvPr id="130354270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0901164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192700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87217535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40648468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6169127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30-Sep-26</a:t>
            </a:fld>
            <a:endParaRPr lang="en-US"/>
          </a:p>
        </p:txBody>
      </p:sp>
      <p:sp>
        <p:nvSpPr>
          <p:cNvPr id="56478180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702711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755262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84718848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98384046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30-Sep-26</a:t>
            </a:fld>
            <a:endParaRPr lang="en-US"/>
          </a:p>
        </p:txBody>
      </p:sp>
      <p:sp>
        <p:nvSpPr>
          <p:cNvPr id="13723078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6429790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0804648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8288797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945565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30-Sep-26</a:t>
            </a:fld>
            <a:endParaRPr lang="en-US"/>
          </a:p>
        </p:txBody>
      </p:sp>
      <p:sp>
        <p:nvSpPr>
          <p:cNvPr id="64361399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925123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952171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7457771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2722975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30-Sep-26</a:t>
            </a:fld>
            <a:endParaRPr lang="en-US"/>
          </a:p>
        </p:txBody>
      </p:sp>
      <p:sp>
        <p:nvSpPr>
          <p:cNvPr id="122679318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4052124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Relationship Id="rId14" Type="http://schemas.openxmlformats.org/officeDocument/2006/relationships/image" Target="../media/image26.png"/><Relationship Id="rId15" Type="http://schemas.openxmlformats.org/officeDocument/2006/relationships/image" Target="../media/image27.png"/><Relationship Id="rId16" Type="http://schemas.openxmlformats.org/officeDocument/2006/relationships/image" Target="../media/image28.png"/><Relationship Id="rId17" Type="http://schemas.openxmlformats.org/officeDocument/2006/relationships/image" Target="../media/image29.png"/><Relationship Id="rId18" Type="http://schemas.openxmlformats.org/officeDocument/2006/relationships/image" Target="../media/image30.png"/><Relationship Id="rId19" Type="http://schemas.openxmlformats.org/officeDocument/2006/relationships/image" Target="../media/image31.png"/><Relationship Id="rId20" Type="http://schemas.openxmlformats.org/officeDocument/2006/relationships/image" Target="../media/image32.png"/><Relationship Id="rId21" Type="http://schemas.openxmlformats.org/officeDocument/2006/relationships/image" Target="../media/image33.png"/><Relationship Id="rId22" Type="http://schemas.openxmlformats.org/officeDocument/2006/relationships/image" Target="../media/image3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44.png"/><Relationship Id="rId10" Type="http://schemas.openxmlformats.org/officeDocument/2006/relationships/image" Target="../media/image45.png"/><Relationship Id="rId11" Type="http://schemas.openxmlformats.org/officeDocument/2006/relationships/image" Target="../media/image46.png"/><Relationship Id="rId12" Type="http://schemas.openxmlformats.org/officeDocument/2006/relationships/image" Target="../media/image47.png"/><Relationship Id="rId13" Type="http://schemas.openxmlformats.org/officeDocument/2006/relationships/image" Target="../media/image48.png"/><Relationship Id="rId14" Type="http://schemas.openxmlformats.org/officeDocument/2006/relationships/image" Target="../media/image49.png"/><Relationship Id="rId15" Type="http://schemas.openxmlformats.org/officeDocument/2006/relationships/image" Target="../media/image50.png"/><Relationship Id="rId16" Type="http://schemas.openxmlformats.org/officeDocument/2006/relationships/image" Target="../media/image51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Relationship Id="rId8" Type="http://schemas.openxmlformats.org/officeDocument/2006/relationships/image" Target="../media/image69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0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Relationship Id="rId9" Type="http://schemas.openxmlformats.org/officeDocument/2006/relationships/image" Target="../media/image77.png"/><Relationship Id="rId10" Type="http://schemas.openxmlformats.org/officeDocument/2006/relationships/image" Target="../media/image78.png"/><Relationship Id="rId11" Type="http://schemas.openxmlformats.org/officeDocument/2006/relationships/image" Target="../media/image79.png"/><Relationship Id="rId12" Type="http://schemas.openxmlformats.org/officeDocument/2006/relationships/image" Target="../media/image80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1.png"/><Relationship Id="rId4" Type="http://schemas.openxmlformats.org/officeDocument/2006/relationships/image" Target="../media/image82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610152" name="Rounded Rectangle 2"/>
          <p:cNvSpPr/>
          <p:nvPr/>
        </p:nvSpPr>
        <p:spPr bwMode="auto">
          <a:xfrm>
            <a:off x="5686425" y="5907284"/>
            <a:ext cx="609600" cy="45719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3980638" name="TextBox 7"/>
          <p:cNvSpPr txBox="1"/>
          <p:nvPr/>
        </p:nvSpPr>
        <p:spPr bwMode="auto">
          <a:xfrm>
            <a:off x="470297" y="1393704"/>
            <a:ext cx="11251406" cy="1277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lang="en-US" sz="2700" b="1">
                <a:solidFill>
                  <a:srgbClr val="CCCCCC"/>
                </a:solidFill>
                <a:latin typeface="Times New Roman"/>
                <a:cs typeface="Times New Roman"/>
              </a:rPr>
              <a:t>Đề</a:t>
            </a:r>
            <a:r>
              <a:rPr lang="en-US" sz="2700" b="1">
                <a:solidFill>
                  <a:srgbClr val="CCCCCC"/>
                </a:solidFill>
                <a:latin typeface="Times New Roman"/>
                <a:cs typeface="Times New Roman"/>
              </a:rPr>
              <a:t> </a:t>
            </a:r>
            <a:r>
              <a:rPr lang="en-US" sz="2700" b="1">
                <a:solidFill>
                  <a:srgbClr val="CCCCCC"/>
                </a:solidFill>
                <a:latin typeface="Times New Roman"/>
                <a:cs typeface="Times New Roman"/>
              </a:rPr>
              <a:t>tài</a:t>
            </a:r>
            <a:r>
              <a:rPr lang="en-US" sz="2700" b="1">
                <a:solidFill>
                  <a:srgbClr val="CCCCCC"/>
                </a:solidFill>
                <a:latin typeface="Times New Roman"/>
                <a:cs typeface="Times New Roman"/>
              </a:rPr>
              <a:t>: </a:t>
            </a:r>
            <a:r>
              <a:rPr lang="en-US" sz="2800" b="1">
                <a:solidFill>
                  <a:srgbClr val="569CD6"/>
                </a:solidFill>
                <a:latin typeface="Times New Roman"/>
                <a:cs typeface="Times New Roman"/>
              </a:rPr>
              <a:t>XÂY DỰNG ỨNG DỤNG PHÁT NHẠC DESKTOP NATIVE TRÊN NỀN TẢNG WPF (.NET FRAMEWORK 4.6.1)</a:t>
            </a:r>
            <a:endParaRPr lang="en-US" sz="2800" b="0">
              <a:solidFill>
                <a:srgbClr val="CCCCCC"/>
              </a:solidFill>
              <a:latin typeface="Times New Roman"/>
              <a:cs typeface="Times New Roman"/>
            </a:endParaRPr>
          </a:p>
          <a:p>
            <a:pPr algn="ctr">
              <a:defRPr/>
            </a:pPr>
            <a:endParaRPr lang="vi-VN" sz="2700" b="1">
              <a:solidFill>
                <a:srgbClr val="CCCCCC"/>
              </a:solidFill>
              <a:latin typeface="Times New Roman"/>
              <a:cs typeface="Times New Roman"/>
            </a:endParaRPr>
          </a:p>
        </p:txBody>
      </p:sp>
      <p:sp>
        <p:nvSpPr>
          <p:cNvPr id="818404929" name="TextBox 8"/>
          <p:cNvSpPr txBox="1"/>
          <p:nvPr/>
        </p:nvSpPr>
        <p:spPr bwMode="auto">
          <a:xfrm>
            <a:off x="664369" y="6077487"/>
            <a:ext cx="11251406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lang="vi-VN" b="0" i="1">
                <a:solidFill>
                  <a:srgbClr val="CCCCCC"/>
                </a:solidFill>
                <a:latin typeface="+mj-lt"/>
              </a:rPr>
              <a:t>"Hiện thực hóa trải nghiệm nghe nhạc chuẩn mực của </a:t>
            </a:r>
            <a:r>
              <a:rPr lang="vi-VN" b="0" i="1">
                <a:solidFill>
                  <a:srgbClr val="CCCCCC"/>
                </a:solidFill>
                <a:latin typeface="+mj-lt"/>
              </a:rPr>
              <a:t>Spotify</a:t>
            </a:r>
            <a:r>
              <a:rPr lang="vi-VN" b="0" i="1">
                <a:solidFill>
                  <a:srgbClr val="CCCCCC"/>
                </a:solidFill>
                <a:latin typeface="+mj-lt"/>
              </a:rPr>
              <a:t> ngay trên môi trường Windows </a:t>
            </a:r>
            <a:r>
              <a:rPr lang="vi-VN" b="0" i="1">
                <a:solidFill>
                  <a:srgbClr val="CCCCCC"/>
                </a:solidFill>
                <a:latin typeface="+mj-lt"/>
              </a:rPr>
              <a:t>Desktop</a:t>
            </a:r>
            <a:r>
              <a:rPr lang="vi-VN" b="0" i="1">
                <a:solidFill>
                  <a:srgbClr val="CCCCCC"/>
                </a:solidFill>
                <a:latin typeface="+mj-lt"/>
              </a:rPr>
              <a:t>: Khởi động tức thì, tiêu thụ bộ nhớ tối thiểu, độ trễ âm thanh bằng không và vận hành bền bỉ cả khi không có kết nối </a:t>
            </a:r>
            <a:r>
              <a:rPr lang="vi-VN" b="0" i="1">
                <a:solidFill>
                  <a:srgbClr val="CCCCCC"/>
                </a:solidFill>
                <a:latin typeface="+mj-lt"/>
              </a:rPr>
              <a:t>Internet</a:t>
            </a:r>
            <a:r>
              <a:rPr lang="vi-VN" b="0" i="1">
                <a:solidFill>
                  <a:srgbClr val="CCCCCC"/>
                </a:solidFill>
                <a:latin typeface="+mj-lt"/>
              </a:rPr>
              <a:t>."</a:t>
            </a:r>
            <a:endParaRPr lang="vi-VN" b="0">
              <a:solidFill>
                <a:srgbClr val="CCCCCC"/>
              </a:solidFill>
              <a:latin typeface="+mj-lt"/>
            </a:endParaRPr>
          </a:p>
        </p:txBody>
      </p:sp>
      <p:sp>
        <p:nvSpPr>
          <p:cNvPr id="1296541553" name="TextBox 10"/>
          <p:cNvSpPr txBox="1"/>
          <p:nvPr/>
        </p:nvSpPr>
        <p:spPr bwMode="auto">
          <a:xfrm>
            <a:off x="3669505" y="257919"/>
            <a:ext cx="46434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b="1">
                <a:solidFill>
                  <a:srgbClr val="569CD6"/>
                </a:solidFill>
                <a:latin typeface="Times New Roman"/>
                <a:cs typeface="Times New Roman"/>
              </a:rPr>
              <a:t>Môn </a:t>
            </a:r>
            <a:r>
              <a:rPr lang="en-US" sz="2400" b="1">
                <a:solidFill>
                  <a:srgbClr val="569CD6"/>
                </a:solidFill>
                <a:latin typeface="Times New Roman"/>
                <a:cs typeface="Times New Roman"/>
              </a:rPr>
              <a:t>học</a:t>
            </a:r>
            <a:r>
              <a:rPr lang="en-US" sz="2400" b="1">
                <a:solidFill>
                  <a:srgbClr val="569CD6"/>
                </a:solidFill>
                <a:latin typeface="Times New Roman"/>
                <a:cs typeface="Times New Roman"/>
              </a:rPr>
              <a:t>: </a:t>
            </a:r>
            <a:r>
              <a:rPr lang="en-US" sz="2400" b="0">
                <a:solidFill>
                  <a:srgbClr val="CCCCCC"/>
                </a:solidFill>
                <a:latin typeface="Times New Roman"/>
                <a:cs typeface="Times New Roman"/>
              </a:rPr>
              <a:t>Lập</a:t>
            </a:r>
            <a:r>
              <a:rPr lang="en-US" sz="2400" b="0">
                <a:solidFill>
                  <a:srgbClr val="CCCCCC"/>
                </a:solidFill>
                <a:latin typeface="Times New Roman"/>
                <a:cs typeface="Times New Roman"/>
              </a:rPr>
              <a:t> </a:t>
            </a:r>
            <a:r>
              <a:rPr lang="en-US" sz="2400" b="0">
                <a:solidFill>
                  <a:srgbClr val="CCCCCC"/>
                </a:solidFill>
                <a:latin typeface="Times New Roman"/>
                <a:cs typeface="Times New Roman"/>
              </a:rPr>
              <a:t>trình</a:t>
            </a:r>
            <a:r>
              <a:rPr lang="en-US" sz="2400" b="0">
                <a:solidFill>
                  <a:srgbClr val="CCCCCC"/>
                </a:solidFill>
                <a:latin typeface="Times New Roman"/>
                <a:cs typeface="Times New Roman"/>
              </a:rPr>
              <a:t> </a:t>
            </a:r>
            <a:r>
              <a:rPr lang="en-US" sz="2400" b="0">
                <a:solidFill>
                  <a:srgbClr val="CCCCCC"/>
                </a:solidFill>
                <a:latin typeface="Times New Roman"/>
                <a:cs typeface="Times New Roman"/>
              </a:rPr>
              <a:t>ứng</a:t>
            </a:r>
            <a:r>
              <a:rPr lang="en-US" sz="2400" b="0">
                <a:solidFill>
                  <a:srgbClr val="CCCCCC"/>
                </a:solidFill>
                <a:latin typeface="Times New Roman"/>
                <a:cs typeface="Times New Roman"/>
              </a:rPr>
              <a:t> </a:t>
            </a:r>
            <a:r>
              <a:rPr lang="en-US" sz="2400" b="0">
                <a:solidFill>
                  <a:srgbClr val="CCCCCC"/>
                </a:solidFill>
                <a:latin typeface="Times New Roman"/>
                <a:cs typeface="Times New Roman"/>
              </a:rPr>
              <a:t>dụng</a:t>
            </a:r>
            <a:r>
              <a:rPr lang="en-US" sz="2400" b="0">
                <a:solidFill>
                  <a:srgbClr val="CCCCCC"/>
                </a:solidFill>
                <a:latin typeface="Times New Roman"/>
                <a:cs typeface="Times New Roman"/>
              </a:rPr>
              <a:t> .NET</a:t>
            </a:r>
            <a:endParaRPr/>
          </a:p>
        </p:txBody>
      </p:sp>
      <p:sp>
        <p:nvSpPr>
          <p:cNvPr id="512587104" name="Google Shape;4365;p68"/>
          <p:cNvSpPr txBox="1"/>
          <p:nvPr/>
        </p:nvSpPr>
        <p:spPr bwMode="auto">
          <a:xfrm>
            <a:off x="4213817" y="3371253"/>
            <a:ext cx="3764366" cy="289996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342900" indent="-342900" algn="l" defTabSz="457200" rtl="0">
              <a:spcBef>
                <a:spcPts val="0"/>
              </a:spcBef>
              <a:buFont typeface="Arial"/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>
              <a:spcBef>
                <a:spcPts val="0"/>
              </a:spcBef>
              <a:buFont typeface="Arial"/>
              <a:buChar char="–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>
              <a:spcBef>
                <a:spcPts val="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>
              <a:spcBef>
                <a:spcPts val="0"/>
              </a:spcBef>
              <a:buFont typeface="Arial"/>
              <a:buChar char="–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>
              <a:spcBef>
                <a:spcPts val="0"/>
              </a:spcBef>
              <a:buFont typeface="Arial"/>
              <a:buChar char="»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/>
              <a:buNone/>
              <a:defRPr/>
            </a:pPr>
            <a:r>
              <a:rPr lang="en" sz="2000">
                <a:solidFill>
                  <a:schemeClr val="bg1"/>
                </a:solidFill>
                <a:latin typeface="Times New Roman"/>
                <a:cs typeface="Times New Roman"/>
              </a:rPr>
              <a:t>Nhóm:</a:t>
            </a:r>
            <a:endParaRPr/>
          </a:p>
          <a:p>
            <a:pPr marL="0" indent="0" algn="ctr">
              <a:spcBef>
                <a:spcPts val="0"/>
              </a:spcBef>
              <a:buFont typeface="Arial"/>
              <a:buNone/>
              <a:defRPr/>
            </a:pPr>
            <a:r>
              <a:rPr lang="en" sz="2000">
                <a:solidFill>
                  <a:schemeClr val="bg1"/>
                </a:solidFill>
                <a:latin typeface="Times New Roman"/>
                <a:cs typeface="Times New Roman"/>
              </a:rPr>
              <a:t>Nguyễn Nhật Tú</a:t>
            </a:r>
            <a:endParaRPr/>
          </a:p>
          <a:p>
            <a:pPr marL="0" indent="0" algn="ctr">
              <a:spcBef>
                <a:spcPts val="0"/>
              </a:spcBef>
              <a:buFont typeface="Arial"/>
              <a:buNone/>
              <a:defRPr/>
            </a:pPr>
            <a:r>
              <a:rPr lang="en" sz="2000">
                <a:solidFill>
                  <a:schemeClr val="bg1"/>
                </a:solidFill>
                <a:latin typeface="Times New Roman"/>
                <a:cs typeface="Times New Roman"/>
              </a:rPr>
              <a:t>Nguyễn Nhật Huy</a:t>
            </a:r>
            <a:endParaRPr/>
          </a:p>
          <a:p>
            <a:pPr marL="0" indent="0" algn="ctr">
              <a:spcBef>
                <a:spcPts val="0"/>
              </a:spcBef>
              <a:buFont typeface="Arial"/>
              <a:buNone/>
              <a:defRPr/>
            </a:pPr>
            <a:r>
              <a:rPr lang="en" sz="2000">
                <a:solidFill>
                  <a:schemeClr val="bg1"/>
                </a:solidFill>
                <a:latin typeface="Times New Roman"/>
                <a:cs typeface="Times New Roman"/>
              </a:rPr>
              <a:t>Phạm Minh Toàn</a:t>
            </a:r>
            <a:endParaRPr/>
          </a:p>
          <a:p>
            <a:pPr marL="0" indent="0" algn="ctr">
              <a:spcBef>
                <a:spcPts val="0"/>
              </a:spcBef>
              <a:buFont typeface="Arial"/>
              <a:buNone/>
              <a:defRPr/>
            </a:pPr>
            <a:r>
              <a:rPr lang="en" sz="2000">
                <a:solidFill>
                  <a:schemeClr val="bg1"/>
                </a:solidFill>
                <a:latin typeface="Times New Roman"/>
                <a:cs typeface="Times New Roman"/>
              </a:rPr>
              <a:t>Hà Phước Huy</a:t>
            </a:r>
            <a:endParaRPr/>
          </a:p>
          <a:p>
            <a:pPr marL="0" indent="0" algn="ctr">
              <a:spcBef>
                <a:spcPts val="0"/>
              </a:spcBef>
              <a:buFont typeface="Arial"/>
              <a:buNone/>
              <a:defRPr/>
            </a:pPr>
            <a:r>
              <a:rPr lang="en" sz="2000">
                <a:solidFill>
                  <a:schemeClr val="bg1"/>
                </a:solidFill>
                <a:latin typeface="Times New Roman"/>
                <a:cs typeface="Times New Roman"/>
              </a:rPr>
              <a:t>Ngô Viết Bảo Châu</a:t>
            </a:r>
            <a:endParaRPr/>
          </a:p>
        </p:txBody>
      </p:sp>
      <p:sp>
        <p:nvSpPr>
          <p:cNvPr id="2137598448" name="TextBox 12"/>
          <p:cNvSpPr txBox="1"/>
          <p:nvPr/>
        </p:nvSpPr>
        <p:spPr bwMode="auto">
          <a:xfrm>
            <a:off x="3896024" y="2755013"/>
            <a:ext cx="45240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vi-VN" sz="2000">
                <a:solidFill>
                  <a:schemeClr val="bg1"/>
                </a:solidFill>
                <a:latin typeface="Times New Roman"/>
                <a:cs typeface="Times New Roman"/>
              </a:rPr>
              <a:t>Giảng viên hướng dẫn:</a:t>
            </a:r>
            <a:r>
              <a:rPr lang="en-US" sz="200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lang="en-US" sz="2000">
                <a:solidFill>
                  <a:schemeClr val="bg1"/>
                </a:solidFill>
                <a:latin typeface="Times New Roman"/>
                <a:cs typeface="Times New Roman"/>
              </a:rPr>
              <a:t>Nguyễn</a:t>
            </a:r>
            <a:r>
              <a:rPr lang="en-US" sz="200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lang="en-US" sz="2000">
                <a:solidFill>
                  <a:schemeClr val="bg1"/>
                </a:solidFill>
                <a:latin typeface="Times New Roman"/>
                <a:cs typeface="Times New Roman"/>
              </a:rPr>
              <a:t>Tấn</a:t>
            </a:r>
            <a:r>
              <a:rPr lang="en-US" sz="200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lang="en-US" sz="2000">
                <a:solidFill>
                  <a:schemeClr val="bg1"/>
                </a:solidFill>
                <a:latin typeface="Times New Roman"/>
                <a:cs typeface="Times New Roman"/>
              </a:rPr>
              <a:t>Quốc</a:t>
            </a:r>
            <a:endParaRPr lang="en-US" sz="200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280885" name="Rounded Rectangle 1"/>
          <p:cNvSpPr/>
          <p:nvPr/>
        </p:nvSpPr>
        <p:spPr bwMode="auto">
          <a:xfrm>
            <a:off x="0" y="7029450"/>
            <a:ext cx="12192000" cy="626566"/>
          </a:xfrm>
          <a:prstGeom prst="roundRect">
            <a:avLst>
              <a:gd name="adj" fmla="val 9121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92902335" name="Rounded Rectangle 2"/>
          <p:cNvSpPr/>
          <p:nvPr/>
        </p:nvSpPr>
        <p:spPr bwMode="auto">
          <a:xfrm>
            <a:off x="5775870" y="2076450"/>
            <a:ext cx="5654129" cy="3895725"/>
          </a:xfrm>
          <a:prstGeom prst="roundRect">
            <a:avLst>
              <a:gd name="adj" fmla="val 39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79944112" name="Rectangle 3"/>
          <p:cNvSpPr/>
          <p:nvPr/>
        </p:nvSpPr>
        <p:spPr bwMode="auto">
          <a:xfrm>
            <a:off x="6090195" y="2800350"/>
            <a:ext cx="1599158" cy="190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32114725" name="Rectangle 4"/>
          <p:cNvSpPr/>
          <p:nvPr/>
        </p:nvSpPr>
        <p:spPr bwMode="auto">
          <a:xfrm>
            <a:off x="7689353" y="2800350"/>
            <a:ext cx="1519385" cy="190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63717253" name="Rectangle 5"/>
          <p:cNvSpPr/>
          <p:nvPr/>
        </p:nvSpPr>
        <p:spPr bwMode="auto">
          <a:xfrm>
            <a:off x="9208740" y="2800350"/>
            <a:ext cx="1906934" cy="190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33056212" name="Rectangle 6"/>
          <p:cNvSpPr/>
          <p:nvPr/>
        </p:nvSpPr>
        <p:spPr bwMode="auto">
          <a:xfrm>
            <a:off x="6090195" y="3681412"/>
            <a:ext cx="159915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13382094" name="Rectangle 7"/>
          <p:cNvSpPr/>
          <p:nvPr/>
        </p:nvSpPr>
        <p:spPr bwMode="auto">
          <a:xfrm>
            <a:off x="7689353" y="3681412"/>
            <a:ext cx="1519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12856981" name="Rectangle 8"/>
          <p:cNvSpPr/>
          <p:nvPr/>
        </p:nvSpPr>
        <p:spPr bwMode="auto">
          <a:xfrm>
            <a:off x="9208740" y="3681412"/>
            <a:ext cx="190693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80537644" name="Rectangle 9"/>
          <p:cNvSpPr/>
          <p:nvPr/>
        </p:nvSpPr>
        <p:spPr bwMode="auto">
          <a:xfrm>
            <a:off x="6090195" y="4348162"/>
            <a:ext cx="159915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83041513" name="Rectangle 10"/>
          <p:cNvSpPr/>
          <p:nvPr/>
        </p:nvSpPr>
        <p:spPr bwMode="auto">
          <a:xfrm>
            <a:off x="7689353" y="4348162"/>
            <a:ext cx="1519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2558920" name="Rectangle 11"/>
          <p:cNvSpPr/>
          <p:nvPr/>
        </p:nvSpPr>
        <p:spPr bwMode="auto">
          <a:xfrm>
            <a:off x="9208740" y="4348162"/>
            <a:ext cx="190693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25614046" name="Rectangle 12"/>
          <p:cNvSpPr/>
          <p:nvPr/>
        </p:nvSpPr>
        <p:spPr bwMode="auto">
          <a:xfrm>
            <a:off x="6090195" y="5014912"/>
            <a:ext cx="159915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00981133" name="Rectangle 13"/>
          <p:cNvSpPr/>
          <p:nvPr/>
        </p:nvSpPr>
        <p:spPr bwMode="auto">
          <a:xfrm>
            <a:off x="7689353" y="5014912"/>
            <a:ext cx="1519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4704441" name="Rectangle 14"/>
          <p:cNvSpPr/>
          <p:nvPr/>
        </p:nvSpPr>
        <p:spPr bwMode="auto">
          <a:xfrm>
            <a:off x="9208740" y="5014912"/>
            <a:ext cx="190693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1201868799" name="Picture 15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4300" y="7162800"/>
            <a:ext cx="171450" cy="133350"/>
          </a:xfrm>
          <a:prstGeom prst="rect">
            <a:avLst/>
          </a:prstGeom>
        </p:spPr>
      </p:pic>
      <p:graphicFrame>
        <p:nvGraphicFramePr>
          <p:cNvPr id="1857543649" name="Table 18"/>
          <p:cNvGraphicFramePr>
            <a:graphicFrameLocks xmlns:a="http://schemas.openxmlformats.org/drawingml/2006/main" noGrp="1"/>
          </p:cNvGraphicFramePr>
          <p:nvPr/>
        </p:nvGraphicFramePr>
        <p:xfrm rot="0">
          <a:off x="6090195" y="2390775"/>
          <a:ext cx="5025478" cy="3267075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599158"/>
                <a:gridCol w="1519385"/>
                <a:gridCol w="1906934"/>
              </a:tblGrid>
              <a:tr h="653415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200" b="1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Tiêu</a:t>
                      </a:r>
                      <a:r>
                        <a:rPr sz="1200" b="1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chí</a:t>
                      </a:r>
                      <a:endParaRPr sz="1200" b="1" i="0" u="none">
                        <a:solidFill>
                          <a:srgbClr val="64748B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200" b="1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Electron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200" b="1" i="0" u="none">
                          <a:solidFill>
                            <a:srgbClr val="2563EB"/>
                          </a:solidFill>
                          <a:latin typeface="Times New Roman"/>
                          <a:cs typeface="Times New Roman"/>
                        </a:rPr>
                        <a:t>MusicApp WPF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653415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RAM </a:t>
                      </a: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trung</a:t>
                      </a: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bình</a:t>
                      </a:r>
                      <a:endParaRPr sz="1350" b="1" i="0" u="none">
                        <a:solidFill>
                          <a:srgbClr val="334155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0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500MB – 1.2GB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85MB – 120MB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653415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Khởi động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0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3.5s – 6.0s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1.2s – 1.5s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653415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Xử lý DSP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0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Web Audio API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NAudio WaveOut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653415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Hoạt động Offline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0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Giới hạn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Độc</a:t>
                      </a:r>
                      <a:r>
                        <a:rPr sz="135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35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lập</a:t>
                      </a:r>
                      <a:r>
                        <a:rPr sz="135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 (SQLite/BFS)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553560105" name="TextBox 19"/>
          <p:cNvSpPr txBox="1"/>
          <p:nvPr/>
        </p:nvSpPr>
        <p:spPr bwMode="auto">
          <a:xfrm>
            <a:off x="0" y="6858000"/>
            <a:ext cx="1943545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cs typeface="Times New Roman"/>
              </a:rPr>
              <a:t>Giao tiếp qua HTTP Loopback.</a:t>
            </a:r>
            <a:endParaRPr/>
          </a:p>
        </p:txBody>
      </p:sp>
      <p:sp>
        <p:nvSpPr>
          <p:cNvPr id="769682994" name="TextBox 20"/>
          <p:cNvSpPr txBox="1"/>
          <p:nvPr/>
        </p:nvSpPr>
        <p:spPr bwMode="auto">
          <a:xfrm>
            <a:off x="114300" y="7143750"/>
            <a:ext cx="12058650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  <a:defRPr/>
            </a:pP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MVVM Thuần túy Không mã logic trong code-behind.</a:t>
            </a:r>
            <a:endParaRPr/>
          </a:p>
        </p:txBody>
      </p:sp>
      <p:sp>
        <p:nvSpPr>
          <p:cNvPr id="1745930318" name="TextBox 22"/>
          <p:cNvSpPr txBox="1"/>
          <p:nvPr/>
        </p:nvSpPr>
        <p:spPr bwMode="auto">
          <a:xfrm>
            <a:off x="762000" y="885825"/>
            <a:ext cx="539519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  <a:defRPr/>
            </a:pPr>
            <a:r>
              <a:rPr sz="3000" b="1" i="0" u="none">
                <a:solidFill>
                  <a:srgbClr val="0F172A"/>
                </a:solidFill>
                <a:latin typeface="Times New Roman"/>
                <a:cs typeface="Times New Roman"/>
              </a:rPr>
              <a:t>Bối cảnh &amp; Thách thức Kỹ thuật</a:t>
            </a:r>
            <a:endParaRPr/>
          </a:p>
        </p:txBody>
      </p:sp>
      <p:sp>
        <p:nvSpPr>
          <p:cNvPr id="1549634482" name="TextBox 23"/>
          <p:cNvSpPr txBox="1"/>
          <p:nvPr/>
        </p:nvSpPr>
        <p:spPr bwMode="auto">
          <a:xfrm>
            <a:off x="1085850" y="2354304"/>
            <a:ext cx="2511778" cy="2539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defRPr/>
            </a:pPr>
            <a:r>
              <a:rPr sz="1650" b="1" i="0" u="none">
                <a:solidFill>
                  <a:srgbClr val="EF4444"/>
                </a:solidFill>
                <a:latin typeface="Times New Roman"/>
                <a:cs typeface="Times New Roman"/>
              </a:rPr>
              <a:t>Thực trạng (Web Wrapper)</a:t>
            </a:r>
            <a:endParaRPr/>
          </a:p>
        </p:txBody>
      </p:sp>
      <p:sp>
        <p:nvSpPr>
          <p:cNvPr id="491406300" name="TextBox 24"/>
          <p:cNvSpPr txBox="1"/>
          <p:nvPr/>
        </p:nvSpPr>
        <p:spPr bwMode="auto">
          <a:xfrm>
            <a:off x="1085850" y="4249779"/>
            <a:ext cx="2580835" cy="2539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defRPr/>
            </a:pPr>
            <a:r>
              <a:rPr sz="1650" b="1" i="0" u="none">
                <a:solidFill>
                  <a:srgbClr val="0F172A"/>
                </a:solidFill>
                <a:latin typeface="Times New Roman"/>
                <a:cs typeface="Times New Roman"/>
              </a:rPr>
              <a:t>Mục tiêu (MusicApp Native)</a:t>
            </a:r>
            <a:endParaRPr/>
          </a:p>
        </p:txBody>
      </p:sp>
      <p:sp>
        <p:nvSpPr>
          <p:cNvPr id="1960664511" name="TextBox 25"/>
          <p:cNvSpPr txBox="1"/>
          <p:nvPr/>
        </p:nvSpPr>
        <p:spPr bwMode="auto">
          <a:xfrm>
            <a:off x="895350" y="2795587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987299681" name="TextBox 26"/>
          <p:cNvSpPr txBox="1"/>
          <p:nvPr/>
        </p:nvSpPr>
        <p:spPr bwMode="auto">
          <a:xfrm>
            <a:off x="990600" y="2795587"/>
            <a:ext cx="3492944" cy="232949"/>
          </a:xfrm>
          <a:prstGeom prst="rect">
            <a:avLst/>
          </a:prstGeom>
          <a:noFill/>
        </p:spPr>
        <p:txBody>
          <a:bodyPr wrap="none" lIns="95250" tIns="0" rIns="0" bIns="0" anchor="t">
            <a:spAutoFit/>
          </a:bodyPr>
          <a:lstStyle/>
          <a:p>
            <a:pPr algn="l">
              <a:lnSpc>
                <a:spcPts val="2025"/>
              </a:lnSpc>
              <a:defRPr/>
            </a:pPr>
            <a:r>
              <a:rPr sz="1350" b="1" i="0" u="none">
                <a:solidFill>
                  <a:srgbClr val="475569"/>
                </a:solidFill>
                <a:latin typeface="Times New Roman"/>
                <a:cs typeface="Times New Roman"/>
              </a:rPr>
              <a:t>Ngốn tài nguyên: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Chiếm 500MB - 1GB+ RAM.</a:t>
            </a:r>
            <a:endParaRPr/>
          </a:p>
        </p:txBody>
      </p:sp>
      <p:sp>
        <p:nvSpPr>
          <p:cNvPr id="462855916" name="TextBox 27"/>
          <p:cNvSpPr txBox="1"/>
          <p:nvPr/>
        </p:nvSpPr>
        <p:spPr bwMode="auto">
          <a:xfrm>
            <a:off x="895350" y="3167062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419047631" name="TextBox 28"/>
          <p:cNvSpPr txBox="1"/>
          <p:nvPr/>
        </p:nvSpPr>
        <p:spPr bwMode="auto">
          <a:xfrm>
            <a:off x="990600" y="3167062"/>
            <a:ext cx="3625160" cy="232949"/>
          </a:xfrm>
          <a:prstGeom prst="rect">
            <a:avLst/>
          </a:prstGeom>
          <a:noFill/>
        </p:spPr>
        <p:txBody>
          <a:bodyPr wrap="none" lIns="95250" tIns="0" rIns="0" bIns="0" anchor="t">
            <a:spAutoFit/>
          </a:bodyPr>
          <a:lstStyle/>
          <a:p>
            <a:pPr algn="l">
              <a:lnSpc>
                <a:spcPts val="2025"/>
              </a:lnSpc>
              <a:defRPr/>
            </a:pPr>
            <a:r>
              <a:rPr sz="1350" b="1" i="0" u="none">
                <a:solidFill>
                  <a:srgbClr val="475569"/>
                </a:solidFill>
                <a:latin typeface="Times New Roman"/>
                <a:cs typeface="Times New Roman"/>
              </a:rPr>
              <a:t>Trễ âm thanh: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Sandbox Web Audio giới hạn DSP.</a:t>
            </a:r>
            <a:endParaRPr/>
          </a:p>
        </p:txBody>
      </p:sp>
      <p:sp>
        <p:nvSpPr>
          <p:cNvPr id="1199848751" name="TextBox 29"/>
          <p:cNvSpPr txBox="1"/>
          <p:nvPr/>
        </p:nvSpPr>
        <p:spPr bwMode="auto">
          <a:xfrm>
            <a:off x="895350" y="3538537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982232045" name="TextBox 30"/>
          <p:cNvSpPr txBox="1"/>
          <p:nvPr/>
        </p:nvSpPr>
        <p:spPr bwMode="auto">
          <a:xfrm>
            <a:off x="990600" y="3538537"/>
            <a:ext cx="3565143" cy="232949"/>
          </a:xfrm>
          <a:prstGeom prst="rect">
            <a:avLst/>
          </a:prstGeom>
          <a:noFill/>
        </p:spPr>
        <p:txBody>
          <a:bodyPr wrap="none" lIns="95250" tIns="0" rIns="0" bIns="0" anchor="t">
            <a:spAutoFit/>
          </a:bodyPr>
          <a:lstStyle/>
          <a:p>
            <a:pPr algn="l">
              <a:lnSpc>
                <a:spcPts val="2025"/>
              </a:lnSpc>
              <a:defRPr/>
            </a:pPr>
            <a:r>
              <a:rPr sz="1350" b="1" i="0" u="none">
                <a:solidFill>
                  <a:srgbClr val="475569"/>
                </a:solidFill>
                <a:latin typeface="Times New Roman"/>
                <a:cs typeface="Times New Roman"/>
              </a:rPr>
              <a:t>Phụ thuộc mạng: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Tê liệt khi mất kết nối Internet.</a:t>
            </a:r>
            <a:endParaRPr/>
          </a:p>
        </p:txBody>
      </p:sp>
      <p:sp>
        <p:nvSpPr>
          <p:cNvPr id="865545124" name="TextBox 31"/>
          <p:cNvSpPr txBox="1"/>
          <p:nvPr/>
        </p:nvSpPr>
        <p:spPr bwMode="auto">
          <a:xfrm>
            <a:off x="895350" y="4691062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823404375" name="TextBox 32"/>
          <p:cNvSpPr txBox="1"/>
          <p:nvPr/>
        </p:nvSpPr>
        <p:spPr bwMode="auto">
          <a:xfrm>
            <a:off x="990600" y="4691062"/>
            <a:ext cx="2816477" cy="232949"/>
          </a:xfrm>
          <a:prstGeom prst="rect">
            <a:avLst/>
          </a:prstGeom>
          <a:noFill/>
        </p:spPr>
        <p:txBody>
          <a:bodyPr wrap="none" lIns="95250" tIns="0" rIns="0" bIns="0" anchor="t">
            <a:spAutoFit/>
          </a:bodyPr>
          <a:lstStyle/>
          <a:p>
            <a:pPr algn="l">
              <a:lnSpc>
                <a:spcPts val="2025"/>
              </a:lnSpc>
              <a:defRPr/>
            </a:pPr>
            <a:r>
              <a:rPr sz="1350" b="1" i="0" u="none">
                <a:solidFill>
                  <a:srgbClr val="475569"/>
                </a:solidFill>
                <a:latin typeface="Times New Roman"/>
                <a:cs typeface="Times New Roman"/>
              </a:rPr>
              <a:t>Siêu nhẹ: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RAM &lt; 120MB, CPU &lt; 3%.</a:t>
            </a:r>
            <a:endParaRPr/>
          </a:p>
        </p:txBody>
      </p:sp>
      <p:sp>
        <p:nvSpPr>
          <p:cNvPr id="113868748" name="TextBox 33"/>
          <p:cNvSpPr txBox="1"/>
          <p:nvPr/>
        </p:nvSpPr>
        <p:spPr bwMode="auto">
          <a:xfrm>
            <a:off x="895350" y="5062537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039236119" name="TextBox 34"/>
          <p:cNvSpPr txBox="1"/>
          <p:nvPr/>
        </p:nvSpPr>
        <p:spPr bwMode="auto">
          <a:xfrm>
            <a:off x="990600" y="5062537"/>
            <a:ext cx="3484928" cy="232949"/>
          </a:xfrm>
          <a:prstGeom prst="rect">
            <a:avLst/>
          </a:prstGeom>
          <a:noFill/>
        </p:spPr>
        <p:txBody>
          <a:bodyPr wrap="none" lIns="95250" tIns="0" rIns="0" bIns="0" anchor="t">
            <a:spAutoFit/>
          </a:bodyPr>
          <a:lstStyle/>
          <a:p>
            <a:pPr algn="l">
              <a:lnSpc>
                <a:spcPts val="2025"/>
              </a:lnSpc>
              <a:defRPr/>
            </a:pPr>
            <a:r>
              <a:rPr sz="1350" b="1" i="0" u="none">
                <a:solidFill>
                  <a:srgbClr val="475569"/>
                </a:solidFill>
                <a:latin typeface="Times New Roman"/>
                <a:cs typeface="Times New Roman"/>
              </a:rPr>
              <a:t>Chuyên nghiệp: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DSP 32-bit Float, 10-Band EQ.</a:t>
            </a:r>
            <a:endParaRPr/>
          </a:p>
        </p:txBody>
      </p:sp>
      <p:sp>
        <p:nvSpPr>
          <p:cNvPr id="418904542" name="TextBox 35"/>
          <p:cNvSpPr txBox="1"/>
          <p:nvPr/>
        </p:nvSpPr>
        <p:spPr bwMode="auto">
          <a:xfrm>
            <a:off x="895350" y="5434012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863479816" name="TextBox 36"/>
          <p:cNvSpPr txBox="1"/>
          <p:nvPr/>
        </p:nvSpPr>
        <p:spPr bwMode="auto">
          <a:xfrm>
            <a:off x="990600" y="5434012"/>
            <a:ext cx="3549048" cy="232949"/>
          </a:xfrm>
          <a:prstGeom prst="rect">
            <a:avLst/>
          </a:prstGeom>
          <a:noFill/>
        </p:spPr>
        <p:txBody>
          <a:bodyPr wrap="none" lIns="95250" tIns="0" rIns="0" bIns="0" anchor="t">
            <a:spAutoFit/>
          </a:bodyPr>
          <a:lstStyle/>
          <a:p>
            <a:pPr algn="l">
              <a:lnSpc>
                <a:spcPts val="2025"/>
              </a:lnSpc>
              <a:defRPr/>
            </a:pPr>
            <a:r>
              <a:rPr sz="1350" b="1" i="0" u="none">
                <a:solidFill>
                  <a:srgbClr val="475569"/>
                </a:solidFill>
                <a:latin typeface="Times New Roman"/>
                <a:cs typeface="Times New Roman"/>
              </a:rPr>
              <a:t>Vận hành lai: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Độc lập 100% qua SQLite &amp; BFS.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5565769" name="Rectangle 2"/>
          <p:cNvSpPr/>
          <p:nvPr/>
        </p:nvSpPr>
        <p:spPr bwMode="auto">
          <a:xfrm>
            <a:off x="762000" y="2143125"/>
            <a:ext cx="63246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57723566" name="Rounded Rectangle 3"/>
          <p:cNvSpPr/>
          <p:nvPr/>
        </p:nvSpPr>
        <p:spPr bwMode="auto">
          <a:xfrm>
            <a:off x="7696200" y="2390775"/>
            <a:ext cx="3733800" cy="871537"/>
          </a:xfrm>
          <a:prstGeom prst="roundRect">
            <a:avLst>
              <a:gd name="adj" fmla="val 43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145158539" name="Rectangle 4"/>
          <p:cNvSpPr/>
          <p:nvPr/>
        </p:nvSpPr>
        <p:spPr bwMode="auto">
          <a:xfrm>
            <a:off x="7696200" y="2143125"/>
            <a:ext cx="37338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70135793" name="Rounded Rectangle 5"/>
          <p:cNvSpPr/>
          <p:nvPr/>
        </p:nvSpPr>
        <p:spPr bwMode="auto">
          <a:xfrm>
            <a:off x="7696200" y="3452812"/>
            <a:ext cx="3733800" cy="871537"/>
          </a:xfrm>
          <a:prstGeom prst="roundRect">
            <a:avLst>
              <a:gd name="adj" fmla="val 43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32673133" name="Rounded Rectangle 6"/>
          <p:cNvSpPr/>
          <p:nvPr/>
        </p:nvSpPr>
        <p:spPr bwMode="auto">
          <a:xfrm>
            <a:off x="7696200" y="4514850"/>
            <a:ext cx="3733800" cy="871537"/>
          </a:xfrm>
          <a:prstGeom prst="roundRect">
            <a:avLst>
              <a:gd name="adj" fmla="val 43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52439508" name="Rectangle 7"/>
          <p:cNvSpPr/>
          <p:nvPr/>
        </p:nvSpPr>
        <p:spPr bwMode="auto">
          <a:xfrm>
            <a:off x="7696200" y="2390775"/>
            <a:ext cx="38100" cy="871537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67607137" name="Rectangle 8"/>
          <p:cNvSpPr/>
          <p:nvPr/>
        </p:nvSpPr>
        <p:spPr bwMode="auto">
          <a:xfrm>
            <a:off x="7696200" y="3452812"/>
            <a:ext cx="38100" cy="8715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24691660" name="Rectangle 9"/>
          <p:cNvSpPr/>
          <p:nvPr/>
        </p:nvSpPr>
        <p:spPr bwMode="auto">
          <a:xfrm>
            <a:off x="7696200" y="4514850"/>
            <a:ext cx="38100" cy="87153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12997261" name="Picture 11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62000" y="2390775"/>
            <a:ext cx="304800" cy="304800"/>
          </a:xfrm>
          <a:prstGeom prst="rect">
            <a:avLst/>
          </a:prstGeom>
        </p:spPr>
      </p:pic>
      <p:pic>
        <p:nvPicPr>
          <p:cNvPr id="1387483604" name="Picture 12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038600" y="2390775"/>
            <a:ext cx="304800" cy="304800"/>
          </a:xfrm>
          <a:prstGeom prst="rect">
            <a:avLst/>
          </a:prstGeom>
        </p:spPr>
      </p:pic>
      <p:pic>
        <p:nvPicPr>
          <p:cNvPr id="764362201" name="Picture 13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62000" y="3034605"/>
            <a:ext cx="304800" cy="304800"/>
          </a:xfrm>
          <a:prstGeom prst="rect">
            <a:avLst/>
          </a:prstGeom>
        </p:spPr>
      </p:pic>
      <p:pic>
        <p:nvPicPr>
          <p:cNvPr id="1839072422" name="Picture 14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038600" y="3034605"/>
            <a:ext cx="304800" cy="304800"/>
          </a:xfrm>
          <a:prstGeom prst="rect">
            <a:avLst/>
          </a:prstGeom>
        </p:spPr>
      </p:pic>
      <p:pic>
        <p:nvPicPr>
          <p:cNvPr id="2057420248" name="Picture 15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62000" y="3678435"/>
            <a:ext cx="304800" cy="304800"/>
          </a:xfrm>
          <a:prstGeom prst="rect">
            <a:avLst/>
          </a:prstGeom>
        </p:spPr>
      </p:pic>
      <p:pic>
        <p:nvPicPr>
          <p:cNvPr id="1328168944" name="Picture 16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038600" y="3678435"/>
            <a:ext cx="304800" cy="304800"/>
          </a:xfrm>
          <a:prstGeom prst="rect">
            <a:avLst/>
          </a:prstGeom>
        </p:spPr>
      </p:pic>
      <p:pic>
        <p:nvPicPr>
          <p:cNvPr id="1526551017" name="Picture 17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62000" y="4322266"/>
            <a:ext cx="304800" cy="304800"/>
          </a:xfrm>
          <a:prstGeom prst="rect">
            <a:avLst/>
          </a:prstGeom>
        </p:spPr>
      </p:pic>
      <p:pic>
        <p:nvPicPr>
          <p:cNvPr id="2058726073" name="Picture 18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038600" y="4322266"/>
            <a:ext cx="304800" cy="304800"/>
          </a:xfrm>
          <a:prstGeom prst="rect">
            <a:avLst/>
          </a:prstGeom>
        </p:spPr>
      </p:pic>
      <p:pic>
        <p:nvPicPr>
          <p:cNvPr id="250999799" name="Picture 19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62000" y="4966096"/>
            <a:ext cx="304800" cy="304800"/>
          </a:xfrm>
          <a:prstGeom prst="rect">
            <a:avLst/>
          </a:prstGeom>
        </p:spPr>
      </p:pic>
      <p:pic>
        <p:nvPicPr>
          <p:cNvPr id="468241736" name="Picture 20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038600" y="4966096"/>
            <a:ext cx="304800" cy="304800"/>
          </a:xfrm>
          <a:prstGeom prst="rect">
            <a:avLst/>
          </a:prstGeom>
        </p:spPr>
      </p:pic>
      <p:pic>
        <p:nvPicPr>
          <p:cNvPr id="883458935" name="Picture 21" descr="imag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862012" y="2476500"/>
            <a:ext cx="104775" cy="133350"/>
          </a:xfrm>
          <a:prstGeom prst="rect">
            <a:avLst/>
          </a:prstGeom>
        </p:spPr>
      </p:pic>
      <p:pic>
        <p:nvPicPr>
          <p:cNvPr id="1632239417" name="Picture 22" descr="image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4124325" y="2476500"/>
            <a:ext cx="133350" cy="133350"/>
          </a:xfrm>
          <a:prstGeom prst="rect">
            <a:avLst/>
          </a:prstGeom>
        </p:spPr>
      </p:pic>
      <p:pic>
        <p:nvPicPr>
          <p:cNvPr id="2085706091" name="Picture 23" descr="image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828675" y="3120330"/>
            <a:ext cx="171450" cy="133350"/>
          </a:xfrm>
          <a:prstGeom prst="rect">
            <a:avLst/>
          </a:prstGeom>
        </p:spPr>
      </p:pic>
      <p:pic>
        <p:nvPicPr>
          <p:cNvPr id="203765927" name="Picture 24" descr="image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4124325" y="3120330"/>
            <a:ext cx="133350" cy="133350"/>
          </a:xfrm>
          <a:prstGeom prst="rect">
            <a:avLst/>
          </a:prstGeom>
        </p:spPr>
      </p:pic>
      <p:pic>
        <p:nvPicPr>
          <p:cNvPr id="1086761953" name="Picture 25" descr="image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838200" y="3764160"/>
            <a:ext cx="152400" cy="133350"/>
          </a:xfrm>
          <a:prstGeom prst="rect">
            <a:avLst/>
          </a:prstGeom>
        </p:spPr>
      </p:pic>
      <p:pic>
        <p:nvPicPr>
          <p:cNvPr id="1790756592" name="Picture 26" descr="image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4124325" y="3764160"/>
            <a:ext cx="133350" cy="133350"/>
          </a:xfrm>
          <a:prstGeom prst="rect">
            <a:avLst/>
          </a:prstGeom>
        </p:spPr>
      </p:pic>
      <p:pic>
        <p:nvPicPr>
          <p:cNvPr id="23925416" name="Picture 27" descr="image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862012" y="4407991"/>
            <a:ext cx="104775" cy="133350"/>
          </a:xfrm>
          <a:prstGeom prst="rect">
            <a:avLst/>
          </a:prstGeom>
        </p:spPr>
      </p:pic>
      <p:pic>
        <p:nvPicPr>
          <p:cNvPr id="1703512014" name="Picture 28" descr="image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4133850" y="4407991"/>
            <a:ext cx="114300" cy="133350"/>
          </a:xfrm>
          <a:prstGeom prst="rect">
            <a:avLst/>
          </a:prstGeom>
        </p:spPr>
      </p:pic>
      <p:pic>
        <p:nvPicPr>
          <p:cNvPr id="1041948889" name="Picture 29" descr="image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838200" y="5051821"/>
            <a:ext cx="152400" cy="133350"/>
          </a:xfrm>
          <a:prstGeom prst="rect">
            <a:avLst/>
          </a:prstGeom>
        </p:spPr>
      </p:pic>
      <p:pic>
        <p:nvPicPr>
          <p:cNvPr id="1937121639" name="Picture 30" descr="image.png"/>
          <p:cNvPicPr>
            <a:picLocks noChangeAspect="1"/>
          </p:cNvPicPr>
          <p:nvPr/>
        </p:nvPicPr>
        <p:blipFill rotWithShape="1">
          <a:blip r:embed="rId15"/>
          <a:stretch/>
        </p:blipFill>
        <p:spPr bwMode="auto">
          <a:xfrm>
            <a:off x="4124325" y="5051821"/>
            <a:ext cx="133350" cy="133350"/>
          </a:xfrm>
          <a:prstGeom prst="rect">
            <a:avLst/>
          </a:prstGeom>
        </p:spPr>
      </p:pic>
      <p:sp>
        <p:nvSpPr>
          <p:cNvPr id="1294029881" name="TextBox 31"/>
          <p:cNvSpPr txBox="1"/>
          <p:nvPr/>
        </p:nvSpPr>
        <p:spPr bwMode="auto">
          <a:xfrm>
            <a:off x="0" y="6858000"/>
            <a:ext cx="1943545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cs typeface="Times New Roman"/>
              </a:rPr>
              <a:t>Giao tiếp qua HTTP Loopback.</a:t>
            </a:r>
            <a:endParaRPr/>
          </a:p>
        </p:txBody>
      </p:sp>
      <p:sp>
        <p:nvSpPr>
          <p:cNvPr id="1448554364" name="TextBox 34"/>
          <p:cNvSpPr txBox="1"/>
          <p:nvPr/>
        </p:nvSpPr>
        <p:spPr bwMode="auto">
          <a:xfrm>
            <a:off x="762000" y="885825"/>
            <a:ext cx="4377930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  <a:defRPr/>
            </a:pPr>
            <a:r>
              <a:rPr sz="3000" b="1" i="0" u="none">
                <a:solidFill>
                  <a:srgbClr val="0F172A"/>
                </a:solidFill>
                <a:latin typeface="Times New Roman"/>
                <a:cs typeface="Times New Roman"/>
              </a:rPr>
              <a:t>Ma trận Yêu cầu Hệ thống</a:t>
            </a:r>
            <a:endParaRPr/>
          </a:p>
        </p:txBody>
      </p:sp>
      <p:sp>
        <p:nvSpPr>
          <p:cNvPr id="360847098" name="TextBox 35"/>
          <p:cNvSpPr txBox="1"/>
          <p:nvPr/>
        </p:nvSpPr>
        <p:spPr bwMode="auto">
          <a:xfrm>
            <a:off x="762000" y="1800225"/>
            <a:ext cx="6740842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500" b="1" i="0" u="none">
                <a:solidFill>
                  <a:srgbClr val="334155"/>
                </a:solidFill>
                <a:latin typeface="Times New Roman"/>
                <a:cs typeface="Times New Roman"/>
              </a:rPr>
              <a:t>10 Phân hệ Chức năng Cốt lõi</a:t>
            </a:r>
            <a:endParaRPr/>
          </a:p>
        </p:txBody>
      </p:sp>
      <p:sp>
        <p:nvSpPr>
          <p:cNvPr id="1978751355" name="TextBox 36"/>
          <p:cNvSpPr txBox="1"/>
          <p:nvPr/>
        </p:nvSpPr>
        <p:spPr bwMode="auto">
          <a:xfrm>
            <a:off x="7696200" y="1800225"/>
            <a:ext cx="4020502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500" b="1" i="0" u="none">
                <a:solidFill>
                  <a:srgbClr val="334155"/>
                </a:solidFill>
                <a:latin typeface="Times New Roman"/>
                <a:cs typeface="Times New Roman"/>
              </a:rPr>
              <a:t>Yêu cầu Phi chức năng</a:t>
            </a:r>
            <a:endParaRPr/>
          </a:p>
        </p:txBody>
      </p:sp>
      <p:sp>
        <p:nvSpPr>
          <p:cNvPr id="1274595085" name="TextBox 37"/>
          <p:cNvSpPr txBox="1"/>
          <p:nvPr/>
        </p:nvSpPr>
        <p:spPr bwMode="auto">
          <a:xfrm>
            <a:off x="7924800" y="2581275"/>
            <a:ext cx="1272913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Zero UI Freezing</a:t>
            </a:r>
            <a:endParaRPr/>
          </a:p>
        </p:txBody>
      </p:sp>
      <p:sp>
        <p:nvSpPr>
          <p:cNvPr id="1999911453" name="TextBox 38"/>
          <p:cNvSpPr txBox="1"/>
          <p:nvPr/>
        </p:nvSpPr>
        <p:spPr bwMode="auto">
          <a:xfrm>
            <a:off x="7924800" y="2857500"/>
            <a:ext cx="2119170" cy="19736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Luồng WPF độc lập, duy trì 60 FPS.</a:t>
            </a:r>
            <a:endParaRPr/>
          </a:p>
        </p:txBody>
      </p:sp>
      <p:sp>
        <p:nvSpPr>
          <p:cNvPr id="2081935255" name="TextBox 39"/>
          <p:cNvSpPr txBox="1"/>
          <p:nvPr/>
        </p:nvSpPr>
        <p:spPr bwMode="auto">
          <a:xfrm>
            <a:off x="7924800" y="3643312"/>
            <a:ext cx="1583895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Zero Heap Allocation</a:t>
            </a:r>
            <a:endParaRPr/>
          </a:p>
        </p:txBody>
      </p:sp>
      <p:sp>
        <p:nvSpPr>
          <p:cNvPr id="1547802825" name="TextBox 40"/>
          <p:cNvSpPr txBox="1"/>
          <p:nvPr/>
        </p:nvSpPr>
        <p:spPr bwMode="auto">
          <a:xfrm>
            <a:off x="7924800" y="3919537"/>
            <a:ext cx="2677015" cy="19736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Chống khựng âm thanh do Garbage Collector.</a:t>
            </a:r>
            <a:endParaRPr/>
          </a:p>
        </p:txBody>
      </p:sp>
      <p:sp>
        <p:nvSpPr>
          <p:cNvPr id="1766978977" name="TextBox 41"/>
          <p:cNvSpPr txBox="1"/>
          <p:nvPr/>
        </p:nvSpPr>
        <p:spPr bwMode="auto">
          <a:xfrm>
            <a:off x="7924800" y="4705350"/>
            <a:ext cx="1168590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ACID Database</a:t>
            </a:r>
            <a:endParaRPr/>
          </a:p>
        </p:txBody>
      </p:sp>
      <p:sp>
        <p:nvSpPr>
          <p:cNvPr id="330177940" name="TextBox 42"/>
          <p:cNvSpPr txBox="1"/>
          <p:nvPr/>
        </p:nvSpPr>
        <p:spPr bwMode="auto">
          <a:xfrm>
            <a:off x="7924800" y="4981575"/>
            <a:ext cx="2479846" cy="19736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SQLite WAL, cho phép đọc/ghi đồng thời.</a:t>
            </a:r>
            <a:endParaRPr/>
          </a:p>
        </p:txBody>
      </p:sp>
      <p:sp>
        <p:nvSpPr>
          <p:cNvPr id="131829589" name="TextBox 43"/>
          <p:cNvSpPr txBox="1"/>
          <p:nvPr/>
        </p:nvSpPr>
        <p:spPr bwMode="auto">
          <a:xfrm>
            <a:off x="1219200" y="2390775"/>
            <a:ext cx="968663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0F172A"/>
                </a:solidFill>
                <a:latin typeface="Times New Roman"/>
                <a:cs typeface="Times New Roman"/>
              </a:rPr>
              <a:t>Playback Core</a:t>
            </a:r>
            <a:endParaRPr/>
          </a:p>
        </p:txBody>
      </p:sp>
      <p:sp>
        <p:nvSpPr>
          <p:cNvPr id="592699833" name="TextBox 44"/>
          <p:cNvSpPr txBox="1"/>
          <p:nvPr/>
        </p:nvSpPr>
        <p:spPr bwMode="auto">
          <a:xfrm>
            <a:off x="1219200" y="2619375"/>
            <a:ext cx="1530868" cy="17581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70"/>
              </a:lnSpc>
              <a:defRPr/>
            </a:pPr>
            <a:r>
              <a:rPr sz="1050" b="0" i="0" u="none">
                <a:solidFill>
                  <a:srgbClr val="64748B"/>
                </a:solidFill>
                <a:latin typeface="Times New Roman"/>
                <a:cs typeface="Times New Roman"/>
              </a:rPr>
              <a:t>Phát, dừng, tua &amp; âm lượng.</a:t>
            </a:r>
            <a:endParaRPr/>
          </a:p>
        </p:txBody>
      </p:sp>
      <p:sp>
        <p:nvSpPr>
          <p:cNvPr id="121464653" name="TextBox 45"/>
          <p:cNvSpPr txBox="1"/>
          <p:nvPr/>
        </p:nvSpPr>
        <p:spPr bwMode="auto">
          <a:xfrm>
            <a:off x="4495800" y="2390775"/>
            <a:ext cx="729367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0F172A"/>
                </a:solidFill>
                <a:latin typeface="Times New Roman"/>
                <a:cs typeface="Times New Roman"/>
              </a:rPr>
              <a:t>Audio DSP</a:t>
            </a:r>
            <a:endParaRPr/>
          </a:p>
        </p:txBody>
      </p:sp>
      <p:sp>
        <p:nvSpPr>
          <p:cNvPr id="330339575" name="TextBox 46"/>
          <p:cNvSpPr txBox="1"/>
          <p:nvPr/>
        </p:nvSpPr>
        <p:spPr bwMode="auto">
          <a:xfrm>
            <a:off x="4495800" y="2619375"/>
            <a:ext cx="1553310" cy="17581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70"/>
              </a:lnSpc>
              <a:defRPr/>
            </a:pPr>
            <a:r>
              <a:rPr sz="1050" b="0" i="0" u="none">
                <a:solidFill>
                  <a:srgbClr val="64748B"/>
                </a:solidFill>
                <a:latin typeface="Times New Roman"/>
                <a:cs typeface="Times New Roman"/>
              </a:rPr>
              <a:t>10-Band EQ, 7 preset chuẩn.</a:t>
            </a:r>
            <a:endParaRPr/>
          </a:p>
        </p:txBody>
      </p:sp>
      <p:sp>
        <p:nvSpPr>
          <p:cNvPr id="1887556384" name="TextBox 47"/>
          <p:cNvSpPr txBox="1"/>
          <p:nvPr/>
        </p:nvSpPr>
        <p:spPr bwMode="auto">
          <a:xfrm>
            <a:off x="1219200" y="3034605"/>
            <a:ext cx="662746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0F172A"/>
                </a:solidFill>
                <a:latin typeface="Times New Roman"/>
                <a:cs typeface="Times New Roman"/>
              </a:rPr>
              <a:t>Visualizer</a:t>
            </a:r>
            <a:endParaRPr/>
          </a:p>
        </p:txBody>
      </p:sp>
      <p:sp>
        <p:nvSpPr>
          <p:cNvPr id="1244409846" name="TextBox 48"/>
          <p:cNvSpPr txBox="1"/>
          <p:nvPr/>
        </p:nvSpPr>
        <p:spPr bwMode="auto">
          <a:xfrm>
            <a:off x="1219200" y="3263205"/>
            <a:ext cx="1655903" cy="17581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70"/>
              </a:lnSpc>
              <a:defRPr/>
            </a:pPr>
            <a:r>
              <a:rPr sz="1050" b="0" i="0" u="none">
                <a:solidFill>
                  <a:srgbClr val="64748B"/>
                </a:solidFill>
                <a:latin typeface="Times New Roman"/>
                <a:cs typeface="Times New Roman"/>
              </a:rPr>
              <a:t>FFT 1024 điểm, đĩa than 360°.</a:t>
            </a:r>
            <a:endParaRPr/>
          </a:p>
        </p:txBody>
      </p:sp>
      <p:sp>
        <p:nvSpPr>
          <p:cNvPr id="626857406" name="TextBox 49"/>
          <p:cNvSpPr txBox="1"/>
          <p:nvPr/>
        </p:nvSpPr>
        <p:spPr bwMode="auto">
          <a:xfrm>
            <a:off x="4495800" y="3034605"/>
            <a:ext cx="960647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0F172A"/>
                </a:solidFill>
                <a:latin typeface="Times New Roman"/>
                <a:cs typeface="Times New Roman"/>
              </a:rPr>
              <a:t>Online Stream</a:t>
            </a:r>
            <a:endParaRPr/>
          </a:p>
        </p:txBody>
      </p:sp>
      <p:sp>
        <p:nvSpPr>
          <p:cNvPr id="1759637781" name="TextBox 50"/>
          <p:cNvSpPr txBox="1"/>
          <p:nvPr/>
        </p:nvSpPr>
        <p:spPr bwMode="auto">
          <a:xfrm>
            <a:off x="4495800" y="3263205"/>
            <a:ext cx="1373774" cy="17581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70"/>
              </a:lnSpc>
              <a:defRPr/>
            </a:pPr>
            <a:r>
              <a:rPr sz="1050" b="0" i="0" u="none">
                <a:solidFill>
                  <a:srgbClr val="64748B"/>
                </a:solidFill>
                <a:latin typeface="Times New Roman"/>
                <a:cs typeface="Times New Roman"/>
              </a:rPr>
              <a:t>Luồng HTTP 206 Partial.</a:t>
            </a:r>
            <a:endParaRPr/>
          </a:p>
        </p:txBody>
      </p:sp>
      <p:sp>
        <p:nvSpPr>
          <p:cNvPr id="581429864" name="TextBox 51"/>
          <p:cNvSpPr txBox="1"/>
          <p:nvPr/>
        </p:nvSpPr>
        <p:spPr bwMode="auto">
          <a:xfrm>
            <a:off x="1219200" y="3678435"/>
            <a:ext cx="92974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0F172A"/>
                </a:solidFill>
                <a:latin typeface="Times New Roman"/>
                <a:cs typeface="Times New Roman"/>
              </a:rPr>
              <a:t>Local Library</a:t>
            </a:r>
            <a:endParaRPr/>
          </a:p>
        </p:txBody>
      </p:sp>
      <p:sp>
        <p:nvSpPr>
          <p:cNvPr id="81426611" name="TextBox 52"/>
          <p:cNvSpPr txBox="1"/>
          <p:nvPr/>
        </p:nvSpPr>
        <p:spPr bwMode="auto">
          <a:xfrm>
            <a:off x="1219200" y="3907035"/>
            <a:ext cx="1566134" cy="17581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70"/>
              </a:lnSpc>
              <a:defRPr/>
            </a:pPr>
            <a:r>
              <a:rPr sz="1050" b="0" i="0" u="none">
                <a:solidFill>
                  <a:srgbClr val="64748B"/>
                </a:solidFill>
                <a:latin typeface="Times New Roman"/>
                <a:cs typeface="Times New Roman"/>
              </a:rPr>
              <a:t>Quét đĩa BFS, bóc ID3 Tags.</a:t>
            </a:r>
            <a:endParaRPr/>
          </a:p>
        </p:txBody>
      </p:sp>
      <p:sp>
        <p:nvSpPr>
          <p:cNvPr id="672882827" name="TextBox 53"/>
          <p:cNvSpPr txBox="1"/>
          <p:nvPr/>
        </p:nvSpPr>
        <p:spPr bwMode="auto">
          <a:xfrm>
            <a:off x="4495800" y="3678435"/>
            <a:ext cx="758221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0F172A"/>
                </a:solidFill>
                <a:latin typeface="Times New Roman"/>
                <a:cs typeface="Times New Roman"/>
              </a:rPr>
              <a:t>Play Queue</a:t>
            </a:r>
            <a:endParaRPr/>
          </a:p>
        </p:txBody>
      </p:sp>
      <p:sp>
        <p:nvSpPr>
          <p:cNvPr id="1099442841" name="TextBox 54"/>
          <p:cNvSpPr txBox="1"/>
          <p:nvPr/>
        </p:nvSpPr>
        <p:spPr bwMode="auto">
          <a:xfrm>
            <a:off x="4495800" y="3907035"/>
            <a:ext cx="1554913" cy="17581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70"/>
              </a:lnSpc>
              <a:defRPr/>
            </a:pPr>
            <a:r>
              <a:rPr sz="1050" b="0" i="0" u="none">
                <a:solidFill>
                  <a:srgbClr val="64748B"/>
                </a:solidFill>
                <a:latin typeface="Times New Roman"/>
                <a:cs typeface="Times New Roman"/>
              </a:rPr>
              <a:t>Kéo thả, tự động chuyển bài.</a:t>
            </a:r>
            <a:endParaRPr/>
          </a:p>
        </p:txBody>
      </p:sp>
      <p:sp>
        <p:nvSpPr>
          <p:cNvPr id="23156640" name="TextBox 55"/>
          <p:cNvSpPr txBox="1"/>
          <p:nvPr/>
        </p:nvSpPr>
        <p:spPr bwMode="auto">
          <a:xfrm>
            <a:off x="1219200" y="4322266"/>
            <a:ext cx="1023870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0F172A"/>
                </a:solidFill>
                <a:latin typeface="Times New Roman"/>
                <a:cs typeface="Times New Roman"/>
              </a:rPr>
              <a:t>Karaoke Lyrics</a:t>
            </a:r>
            <a:endParaRPr/>
          </a:p>
        </p:txBody>
      </p:sp>
      <p:sp>
        <p:nvSpPr>
          <p:cNvPr id="890302889" name="TextBox 56"/>
          <p:cNvSpPr txBox="1"/>
          <p:nvPr/>
        </p:nvSpPr>
        <p:spPr bwMode="auto">
          <a:xfrm>
            <a:off x="1219200" y="4550866"/>
            <a:ext cx="1611018" cy="17581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70"/>
              </a:lnSpc>
              <a:defRPr/>
            </a:pPr>
            <a:r>
              <a:rPr sz="1050" b="0" i="0" u="none">
                <a:solidFill>
                  <a:srgbClr val="64748B"/>
                </a:solidFill>
                <a:latin typeface="Times New Roman"/>
                <a:cs typeface="Times New Roman"/>
              </a:rPr>
              <a:t>Đồng bộ .LRC thời gian thực.</a:t>
            </a:r>
            <a:endParaRPr/>
          </a:p>
        </p:txBody>
      </p:sp>
      <p:sp>
        <p:nvSpPr>
          <p:cNvPr id="1830987809" name="TextBox 57"/>
          <p:cNvSpPr txBox="1"/>
          <p:nvPr/>
        </p:nvSpPr>
        <p:spPr bwMode="auto">
          <a:xfrm>
            <a:off x="4495800" y="4322266"/>
            <a:ext cx="737381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0F172A"/>
                </a:solidFill>
                <a:latin typeface="Times New Roman"/>
                <a:cs typeface="Times New Roman"/>
              </a:rPr>
              <a:t>Persistence</a:t>
            </a:r>
            <a:endParaRPr/>
          </a:p>
        </p:txBody>
      </p:sp>
      <p:sp>
        <p:nvSpPr>
          <p:cNvPr id="195873642" name="TextBox 58"/>
          <p:cNvSpPr txBox="1"/>
          <p:nvPr/>
        </p:nvSpPr>
        <p:spPr bwMode="auto">
          <a:xfrm>
            <a:off x="4495800" y="4550866"/>
            <a:ext cx="1513235" cy="17581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70"/>
              </a:lnSpc>
              <a:defRPr/>
            </a:pPr>
            <a:r>
              <a:rPr sz="1050" b="0" i="0" u="none">
                <a:solidFill>
                  <a:srgbClr val="64748B"/>
                </a:solidFill>
                <a:latin typeface="Times New Roman"/>
                <a:cs typeface="Times New Roman"/>
              </a:rPr>
              <a:t>Playlist &amp; cấu hình cá nhân.</a:t>
            </a:r>
            <a:endParaRPr/>
          </a:p>
        </p:txBody>
      </p:sp>
      <p:sp>
        <p:nvSpPr>
          <p:cNvPr id="986790124" name="TextBox 59"/>
          <p:cNvSpPr txBox="1"/>
          <p:nvPr/>
        </p:nvSpPr>
        <p:spPr bwMode="auto">
          <a:xfrm>
            <a:off x="1219200" y="4966096"/>
            <a:ext cx="115416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0F172A"/>
                </a:solidFill>
                <a:latin typeface="Times New Roman"/>
                <a:cs typeface="Times New Roman"/>
              </a:rPr>
              <a:t>Recommendation</a:t>
            </a:r>
            <a:endParaRPr/>
          </a:p>
        </p:txBody>
      </p:sp>
      <p:sp>
        <p:nvSpPr>
          <p:cNvPr id="1504080167" name="TextBox 60"/>
          <p:cNvSpPr txBox="1"/>
          <p:nvPr/>
        </p:nvSpPr>
        <p:spPr bwMode="auto">
          <a:xfrm>
            <a:off x="1219200" y="5194696"/>
            <a:ext cx="1394613" cy="17581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70"/>
              </a:lnSpc>
              <a:defRPr/>
            </a:pPr>
            <a:r>
              <a:rPr sz="1050" b="0" i="0" u="none">
                <a:solidFill>
                  <a:srgbClr val="64748B"/>
                </a:solidFill>
                <a:latin typeface="Times New Roman"/>
                <a:cs typeface="Times New Roman"/>
              </a:rPr>
              <a:t>Thuật toán Smart Shuffle.</a:t>
            </a:r>
            <a:endParaRPr/>
          </a:p>
        </p:txBody>
      </p:sp>
      <p:sp>
        <p:nvSpPr>
          <p:cNvPr id="526713644" name="TextBox 61"/>
          <p:cNvSpPr txBox="1"/>
          <p:nvPr/>
        </p:nvSpPr>
        <p:spPr bwMode="auto">
          <a:xfrm>
            <a:off x="4495800" y="4966096"/>
            <a:ext cx="589905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0F172A"/>
                </a:solidFill>
                <a:latin typeface="Times New Roman"/>
                <a:cs typeface="Times New Roman"/>
              </a:rPr>
              <a:t>Theming</a:t>
            </a:r>
            <a:endParaRPr/>
          </a:p>
        </p:txBody>
      </p:sp>
      <p:sp>
        <p:nvSpPr>
          <p:cNvPr id="78179707" name="TextBox 62"/>
          <p:cNvSpPr txBox="1"/>
          <p:nvPr/>
        </p:nvSpPr>
        <p:spPr bwMode="auto">
          <a:xfrm>
            <a:off x="4495800" y="5194696"/>
            <a:ext cx="1816203" cy="17581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70"/>
              </a:lnSpc>
              <a:defRPr/>
            </a:pPr>
            <a:r>
              <a:rPr sz="1050" b="0" i="0" u="none">
                <a:solidFill>
                  <a:srgbClr val="64748B"/>
                </a:solidFill>
                <a:latin typeface="Times New Roman"/>
                <a:cs typeface="Times New Roman"/>
              </a:rPr>
              <a:t>Chế độ Sáng/Tối, LED trạng thái.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448117" name="Rounded Rectangle 1"/>
          <p:cNvSpPr/>
          <p:nvPr/>
        </p:nvSpPr>
        <p:spPr bwMode="auto">
          <a:xfrm>
            <a:off x="762000" y="1724025"/>
            <a:ext cx="10668000" cy="1076325"/>
          </a:xfrm>
          <a:prstGeom prst="roundRect">
            <a:avLst>
              <a:gd name="adj" fmla="val 10619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67675020" name="Rounded Rectangle 2"/>
          <p:cNvSpPr/>
          <p:nvPr/>
        </p:nvSpPr>
        <p:spPr bwMode="auto">
          <a:xfrm>
            <a:off x="762000" y="3333750"/>
            <a:ext cx="3403550" cy="1866900"/>
          </a:xfrm>
          <a:prstGeom prst="roundRect">
            <a:avLst>
              <a:gd name="adj" fmla="val 408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8708910" name="Rounded Rectangle 3"/>
          <p:cNvSpPr/>
          <p:nvPr/>
        </p:nvSpPr>
        <p:spPr bwMode="auto">
          <a:xfrm>
            <a:off x="4394150" y="3333750"/>
            <a:ext cx="3403550" cy="1866900"/>
          </a:xfrm>
          <a:prstGeom prst="roundRect">
            <a:avLst>
              <a:gd name="adj" fmla="val 408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82793510" name="Rounded Rectangle 4"/>
          <p:cNvSpPr/>
          <p:nvPr/>
        </p:nvSpPr>
        <p:spPr bwMode="auto">
          <a:xfrm>
            <a:off x="8026300" y="3333750"/>
            <a:ext cx="3403550" cy="1866900"/>
          </a:xfrm>
          <a:prstGeom prst="roundRect">
            <a:avLst>
              <a:gd name="adj" fmla="val 408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59052583" name="Rounded Rectangle 5"/>
          <p:cNvSpPr/>
          <p:nvPr/>
        </p:nvSpPr>
        <p:spPr bwMode="auto">
          <a:xfrm>
            <a:off x="762000" y="5748188"/>
            <a:ext cx="3200400" cy="771525"/>
          </a:xfrm>
          <a:prstGeom prst="roundRect">
            <a:avLst>
              <a:gd name="adj" fmla="val 9876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46060856" name="Rectangle 6"/>
          <p:cNvSpPr/>
          <p:nvPr/>
        </p:nvSpPr>
        <p:spPr bwMode="auto">
          <a:xfrm>
            <a:off x="762000" y="5191125"/>
            <a:ext cx="34035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28963556" name="Rectangle 7"/>
          <p:cNvSpPr/>
          <p:nvPr/>
        </p:nvSpPr>
        <p:spPr bwMode="auto">
          <a:xfrm>
            <a:off x="762000" y="3333750"/>
            <a:ext cx="340355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45110740" name="Rectangle 8"/>
          <p:cNvSpPr/>
          <p:nvPr/>
        </p:nvSpPr>
        <p:spPr bwMode="auto">
          <a:xfrm>
            <a:off x="762000" y="3333750"/>
            <a:ext cx="9525" cy="18669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92543346" name="Rectangle 9"/>
          <p:cNvSpPr/>
          <p:nvPr/>
        </p:nvSpPr>
        <p:spPr bwMode="auto">
          <a:xfrm>
            <a:off x="4156025" y="3333750"/>
            <a:ext cx="9525" cy="18669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35293789" name="Rectangle 10"/>
          <p:cNvSpPr/>
          <p:nvPr/>
        </p:nvSpPr>
        <p:spPr bwMode="auto">
          <a:xfrm>
            <a:off x="4394150" y="5191125"/>
            <a:ext cx="34035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60620583" name="Rectangle 11"/>
          <p:cNvSpPr/>
          <p:nvPr/>
        </p:nvSpPr>
        <p:spPr bwMode="auto">
          <a:xfrm>
            <a:off x="4394150" y="3333750"/>
            <a:ext cx="34035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48948536" name="Rectangle 12"/>
          <p:cNvSpPr/>
          <p:nvPr/>
        </p:nvSpPr>
        <p:spPr bwMode="auto">
          <a:xfrm>
            <a:off x="4394150" y="3333750"/>
            <a:ext cx="9525" cy="18669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54212283" name="Rectangle 13"/>
          <p:cNvSpPr/>
          <p:nvPr/>
        </p:nvSpPr>
        <p:spPr bwMode="auto">
          <a:xfrm>
            <a:off x="7788175" y="3333750"/>
            <a:ext cx="9525" cy="18669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00992870" name="Rectangle 14"/>
          <p:cNvSpPr/>
          <p:nvPr/>
        </p:nvSpPr>
        <p:spPr bwMode="auto">
          <a:xfrm>
            <a:off x="8026300" y="5191125"/>
            <a:ext cx="34035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05254581" name="Rectangle 15"/>
          <p:cNvSpPr/>
          <p:nvPr/>
        </p:nvSpPr>
        <p:spPr bwMode="auto">
          <a:xfrm>
            <a:off x="8026300" y="3333750"/>
            <a:ext cx="34035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47668603" name="Rectangle 16"/>
          <p:cNvSpPr/>
          <p:nvPr/>
        </p:nvSpPr>
        <p:spPr bwMode="auto">
          <a:xfrm>
            <a:off x="8026300" y="3333750"/>
            <a:ext cx="9525" cy="18669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800726363" name="Rectangle 17"/>
          <p:cNvSpPr/>
          <p:nvPr/>
        </p:nvSpPr>
        <p:spPr bwMode="auto">
          <a:xfrm>
            <a:off x="11420326" y="3333750"/>
            <a:ext cx="9525" cy="18669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2566129" name="Rounded Rectangle 18"/>
          <p:cNvSpPr/>
          <p:nvPr/>
        </p:nvSpPr>
        <p:spPr bwMode="auto">
          <a:xfrm>
            <a:off x="4191000" y="5734050"/>
            <a:ext cx="2311449" cy="799802"/>
          </a:xfrm>
          <a:prstGeom prst="roundRect">
            <a:avLst>
              <a:gd name="adj" fmla="val 7145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893299057" name="Rounded Rectangle 19"/>
          <p:cNvSpPr/>
          <p:nvPr/>
        </p:nvSpPr>
        <p:spPr bwMode="auto">
          <a:xfrm>
            <a:off x="6654849" y="5734050"/>
            <a:ext cx="2311449" cy="799802"/>
          </a:xfrm>
          <a:prstGeom prst="roundRect">
            <a:avLst>
              <a:gd name="adj" fmla="val 7145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48270625" name="Rounded Rectangle 20"/>
          <p:cNvSpPr/>
          <p:nvPr/>
        </p:nvSpPr>
        <p:spPr bwMode="auto">
          <a:xfrm>
            <a:off x="9118699" y="5734050"/>
            <a:ext cx="2311449" cy="799802"/>
          </a:xfrm>
          <a:prstGeom prst="roundRect">
            <a:avLst>
              <a:gd name="adj" fmla="val 7145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1425685193" name="Picture 21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024562" y="2971800"/>
            <a:ext cx="142875" cy="190500"/>
          </a:xfrm>
          <a:prstGeom prst="rect">
            <a:avLst/>
          </a:prstGeom>
        </p:spPr>
      </p:pic>
      <p:pic>
        <p:nvPicPr>
          <p:cNvPr id="2046578977" name="Picture 22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024562" y="5372100"/>
            <a:ext cx="142875" cy="190500"/>
          </a:xfrm>
          <a:prstGeom prst="rect">
            <a:avLst/>
          </a:prstGeom>
        </p:spPr>
      </p:pic>
      <p:pic>
        <p:nvPicPr>
          <p:cNvPr id="663060271" name="Picture 23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086100" y="2400300"/>
            <a:ext cx="171450" cy="152400"/>
          </a:xfrm>
          <a:prstGeom prst="rect">
            <a:avLst/>
          </a:prstGeom>
        </p:spPr>
      </p:pic>
      <p:pic>
        <p:nvPicPr>
          <p:cNvPr id="1236104338" name="Picture 24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848225" y="2400300"/>
            <a:ext cx="133350" cy="152400"/>
          </a:xfrm>
          <a:prstGeom prst="rect">
            <a:avLst/>
          </a:prstGeom>
        </p:spPr>
      </p:pic>
      <p:pic>
        <p:nvPicPr>
          <p:cNvPr id="1198554865" name="Picture 25" descr="imag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458075" y="2400300"/>
            <a:ext cx="171450" cy="152400"/>
          </a:xfrm>
          <a:prstGeom prst="rect">
            <a:avLst/>
          </a:prstGeom>
        </p:spPr>
      </p:pic>
      <p:pic>
        <p:nvPicPr>
          <p:cNvPr id="1203335088" name="Picture 26" descr="image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1400175" y="6205388"/>
            <a:ext cx="133350" cy="133350"/>
          </a:xfrm>
          <a:prstGeom prst="rect">
            <a:avLst/>
          </a:prstGeom>
        </p:spPr>
      </p:pic>
      <p:pic>
        <p:nvPicPr>
          <p:cNvPr id="1791807053" name="Picture 27" descr="image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4305300" y="5876925"/>
            <a:ext cx="133350" cy="133350"/>
          </a:xfrm>
          <a:prstGeom prst="rect">
            <a:avLst/>
          </a:prstGeom>
        </p:spPr>
      </p:pic>
      <p:pic>
        <p:nvPicPr>
          <p:cNvPr id="2067667126" name="Picture 28" descr="image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6769149" y="5876925"/>
            <a:ext cx="133350" cy="133350"/>
          </a:xfrm>
          <a:prstGeom prst="rect">
            <a:avLst/>
          </a:prstGeom>
        </p:spPr>
      </p:pic>
      <p:pic>
        <p:nvPicPr>
          <p:cNvPr id="441377552" name="Picture 29" descr="image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9232999" y="5876925"/>
            <a:ext cx="171450" cy="133350"/>
          </a:xfrm>
          <a:prstGeom prst="rect">
            <a:avLst/>
          </a:prstGeom>
        </p:spPr>
      </p:pic>
      <p:pic>
        <p:nvPicPr>
          <p:cNvPr id="292086996" name="Picture 30" descr="image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1000125" y="3971925"/>
            <a:ext cx="142875" cy="142875"/>
          </a:xfrm>
          <a:prstGeom prst="rect">
            <a:avLst/>
          </a:prstGeom>
        </p:spPr>
      </p:pic>
      <p:pic>
        <p:nvPicPr>
          <p:cNvPr id="834087439" name="Picture 31" descr="image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1000125" y="4248150"/>
            <a:ext cx="142875" cy="142875"/>
          </a:xfrm>
          <a:prstGeom prst="rect">
            <a:avLst/>
          </a:prstGeom>
        </p:spPr>
      </p:pic>
      <p:pic>
        <p:nvPicPr>
          <p:cNvPr id="511768175" name="Picture 32" descr="image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1000125" y="4524375"/>
            <a:ext cx="180975" cy="142875"/>
          </a:xfrm>
          <a:prstGeom prst="rect">
            <a:avLst/>
          </a:prstGeom>
        </p:spPr>
      </p:pic>
      <p:pic>
        <p:nvPicPr>
          <p:cNvPr id="1353314581" name="Picture 33" descr="image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1000125" y="4800600"/>
            <a:ext cx="142875" cy="142875"/>
          </a:xfrm>
          <a:prstGeom prst="rect">
            <a:avLst/>
          </a:prstGeom>
        </p:spPr>
      </p:pic>
      <p:pic>
        <p:nvPicPr>
          <p:cNvPr id="1603871906" name="Picture 34" descr="image.png"/>
          <p:cNvPicPr>
            <a:picLocks noChangeAspect="1"/>
          </p:cNvPicPr>
          <p:nvPr/>
        </p:nvPicPr>
        <p:blipFill rotWithShape="1">
          <a:blip r:embed="rId15"/>
          <a:stretch/>
        </p:blipFill>
        <p:spPr bwMode="auto">
          <a:xfrm>
            <a:off x="4632275" y="3971925"/>
            <a:ext cx="180975" cy="142875"/>
          </a:xfrm>
          <a:prstGeom prst="rect">
            <a:avLst/>
          </a:prstGeom>
        </p:spPr>
      </p:pic>
      <p:pic>
        <p:nvPicPr>
          <p:cNvPr id="1133895923" name="Picture 35" descr="image.png"/>
          <p:cNvPicPr>
            <a:picLocks noChangeAspect="1"/>
          </p:cNvPicPr>
          <p:nvPr/>
        </p:nvPicPr>
        <p:blipFill rotWithShape="1">
          <a:blip r:embed="rId16"/>
          <a:stretch/>
        </p:blipFill>
        <p:spPr bwMode="auto">
          <a:xfrm>
            <a:off x="4632275" y="4248150"/>
            <a:ext cx="142875" cy="142875"/>
          </a:xfrm>
          <a:prstGeom prst="rect">
            <a:avLst/>
          </a:prstGeom>
        </p:spPr>
      </p:pic>
      <p:pic>
        <p:nvPicPr>
          <p:cNvPr id="947931806" name="Picture 36" descr="image.png"/>
          <p:cNvPicPr>
            <a:picLocks noChangeAspect="1"/>
          </p:cNvPicPr>
          <p:nvPr/>
        </p:nvPicPr>
        <p:blipFill rotWithShape="1">
          <a:blip r:embed="rId17"/>
          <a:stretch/>
        </p:blipFill>
        <p:spPr bwMode="auto">
          <a:xfrm>
            <a:off x="4632275" y="4524375"/>
            <a:ext cx="180975" cy="142875"/>
          </a:xfrm>
          <a:prstGeom prst="rect">
            <a:avLst/>
          </a:prstGeom>
        </p:spPr>
      </p:pic>
      <p:pic>
        <p:nvPicPr>
          <p:cNvPr id="2023017473" name="Picture 37" descr="image.png"/>
          <p:cNvPicPr>
            <a:picLocks noChangeAspect="1"/>
          </p:cNvPicPr>
          <p:nvPr/>
        </p:nvPicPr>
        <p:blipFill rotWithShape="1">
          <a:blip r:embed="rId18"/>
          <a:stretch/>
        </p:blipFill>
        <p:spPr bwMode="auto">
          <a:xfrm>
            <a:off x="4632275" y="4800600"/>
            <a:ext cx="142875" cy="142875"/>
          </a:xfrm>
          <a:prstGeom prst="rect">
            <a:avLst/>
          </a:prstGeom>
        </p:spPr>
      </p:pic>
      <p:pic>
        <p:nvPicPr>
          <p:cNvPr id="1185259593" name="Picture 38" descr="image.png"/>
          <p:cNvPicPr>
            <a:picLocks noChangeAspect="1"/>
          </p:cNvPicPr>
          <p:nvPr/>
        </p:nvPicPr>
        <p:blipFill rotWithShape="1">
          <a:blip r:embed="rId19"/>
          <a:stretch/>
        </p:blipFill>
        <p:spPr bwMode="auto">
          <a:xfrm>
            <a:off x="8264424" y="3971925"/>
            <a:ext cx="161925" cy="142875"/>
          </a:xfrm>
          <a:prstGeom prst="rect">
            <a:avLst/>
          </a:prstGeom>
        </p:spPr>
      </p:pic>
      <p:pic>
        <p:nvPicPr>
          <p:cNvPr id="363845629" name="Picture 39" descr="image.png"/>
          <p:cNvPicPr>
            <a:picLocks noChangeAspect="1"/>
          </p:cNvPicPr>
          <p:nvPr/>
        </p:nvPicPr>
        <p:blipFill rotWithShape="1">
          <a:blip r:embed="rId20"/>
          <a:stretch/>
        </p:blipFill>
        <p:spPr bwMode="auto">
          <a:xfrm>
            <a:off x="8264424" y="4248150"/>
            <a:ext cx="123825" cy="142875"/>
          </a:xfrm>
          <a:prstGeom prst="rect">
            <a:avLst/>
          </a:prstGeom>
        </p:spPr>
      </p:pic>
      <p:pic>
        <p:nvPicPr>
          <p:cNvPr id="1251898450" name="Picture 40" descr="image.png"/>
          <p:cNvPicPr>
            <a:picLocks noChangeAspect="1"/>
          </p:cNvPicPr>
          <p:nvPr/>
        </p:nvPicPr>
        <p:blipFill rotWithShape="1">
          <a:blip r:embed="rId21"/>
          <a:stretch/>
        </p:blipFill>
        <p:spPr bwMode="auto">
          <a:xfrm>
            <a:off x="8264424" y="4524375"/>
            <a:ext cx="142875" cy="142875"/>
          </a:xfrm>
          <a:prstGeom prst="rect">
            <a:avLst/>
          </a:prstGeom>
        </p:spPr>
      </p:pic>
      <p:pic>
        <p:nvPicPr>
          <p:cNvPr id="2113977912" name="Picture 41" descr="image.png"/>
          <p:cNvPicPr>
            <a:picLocks noChangeAspect="1"/>
          </p:cNvPicPr>
          <p:nvPr/>
        </p:nvPicPr>
        <p:blipFill rotWithShape="1">
          <a:blip r:embed="rId22"/>
          <a:stretch/>
        </p:blipFill>
        <p:spPr bwMode="auto">
          <a:xfrm>
            <a:off x="8264424" y="4800600"/>
            <a:ext cx="161925" cy="142875"/>
          </a:xfrm>
          <a:prstGeom prst="rect">
            <a:avLst/>
          </a:prstGeom>
        </p:spPr>
      </p:pic>
      <p:sp>
        <p:nvSpPr>
          <p:cNvPr id="1157254791" name="TextBox 43"/>
          <p:cNvSpPr txBox="1"/>
          <p:nvPr/>
        </p:nvSpPr>
        <p:spPr bwMode="auto">
          <a:xfrm>
            <a:off x="762000" y="885825"/>
            <a:ext cx="6525312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  <a:defRPr/>
            </a:pPr>
            <a:r>
              <a:rPr sz="3000" b="1" i="0" u="none">
                <a:solidFill>
                  <a:srgbClr val="0F172A"/>
                </a:solidFill>
                <a:latin typeface="Times New Roman"/>
                <a:cs typeface="Times New Roman"/>
              </a:rPr>
              <a:t>Kiến trúc Modular Monolith &amp; MVVM</a:t>
            </a:r>
            <a:endParaRPr/>
          </a:p>
        </p:txBody>
      </p:sp>
      <p:sp>
        <p:nvSpPr>
          <p:cNvPr id="487370320" name="TextBox 44"/>
          <p:cNvSpPr txBox="1"/>
          <p:nvPr/>
        </p:nvSpPr>
        <p:spPr bwMode="auto">
          <a:xfrm>
            <a:off x="4576321" y="1952625"/>
            <a:ext cx="3039357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1800" b="1" i="0" u="none">
                <a:solidFill>
                  <a:srgbClr val="3B82F6"/>
                </a:solidFill>
                <a:latin typeface="Times New Roman"/>
                <a:cs typeface="Times New Roman"/>
              </a:rPr>
              <a:t>MusicApp (WPF Presentation)</a:t>
            </a:r>
            <a:endParaRPr/>
          </a:p>
        </p:txBody>
      </p:sp>
      <p:sp>
        <p:nvSpPr>
          <p:cNvPr id="1291016322" name="TextBox 45"/>
          <p:cNvSpPr txBox="1"/>
          <p:nvPr/>
        </p:nvSpPr>
        <p:spPr bwMode="auto">
          <a:xfrm>
            <a:off x="3114641" y="2381250"/>
            <a:ext cx="1247841" cy="184666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pPr algn="ctr">
              <a:defRPr/>
            </a:pPr>
            <a:r>
              <a:rPr sz="1200" b="1" i="0" u="none">
                <a:solidFill>
                  <a:srgbClr val="94A3B8"/>
                </a:solidFill>
                <a:latin typeface="Times New Roman"/>
                <a:cs typeface="Times New Roman"/>
              </a:rPr>
              <a:t>Views (XAML)</a:t>
            </a:r>
            <a:endParaRPr/>
          </a:p>
        </p:txBody>
      </p:sp>
      <p:sp>
        <p:nvSpPr>
          <p:cNvPr id="1673634400" name="TextBox 46"/>
          <p:cNvSpPr txBox="1"/>
          <p:nvPr/>
        </p:nvSpPr>
        <p:spPr bwMode="auto">
          <a:xfrm>
            <a:off x="4934342" y="2381250"/>
            <a:ext cx="1980414" cy="184666"/>
          </a:xfrm>
          <a:prstGeom prst="rect">
            <a:avLst/>
          </a:prstGeom>
          <a:noFill/>
        </p:spPr>
        <p:txBody>
          <a:bodyPr wrap="none" lIns="209550" tIns="0" rIns="0" bIns="0" anchor="t">
            <a:spAutoFit/>
          </a:bodyPr>
          <a:lstStyle/>
          <a:p>
            <a:pPr algn="ctr">
              <a:defRPr/>
            </a:pPr>
            <a:r>
              <a:rPr sz="1200" b="1" i="0" u="none">
                <a:solidFill>
                  <a:srgbClr val="94A3B8"/>
                </a:solidFill>
                <a:latin typeface="Times New Roman"/>
                <a:cs typeface="Times New Roman"/>
              </a:rPr>
              <a:t>ViewModels (Coordinator)</a:t>
            </a:r>
            <a:endParaRPr/>
          </a:p>
        </p:txBody>
      </p:sp>
      <p:sp>
        <p:nvSpPr>
          <p:cNvPr id="1587761628" name="TextBox 47"/>
          <p:cNvSpPr txBox="1"/>
          <p:nvPr/>
        </p:nvSpPr>
        <p:spPr bwMode="auto">
          <a:xfrm>
            <a:off x="7510717" y="2381250"/>
            <a:ext cx="1542538" cy="184666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pPr algn="ctr">
              <a:defRPr/>
            </a:pPr>
            <a:r>
              <a:rPr sz="1200" b="1" i="0" u="none">
                <a:solidFill>
                  <a:srgbClr val="94A3B8"/>
                </a:solidFill>
                <a:latin typeface="Times New Roman"/>
                <a:cs typeface="Times New Roman"/>
              </a:rPr>
              <a:t>Dark/Light Themes</a:t>
            </a:r>
            <a:endParaRPr/>
          </a:p>
        </p:txBody>
      </p:sp>
      <p:sp>
        <p:nvSpPr>
          <p:cNvPr id="900026272" name="TextBox 48"/>
          <p:cNvSpPr txBox="1"/>
          <p:nvPr/>
        </p:nvSpPr>
        <p:spPr bwMode="auto">
          <a:xfrm>
            <a:off x="1808915" y="3600450"/>
            <a:ext cx="1309718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src/MusicApp.Bff</a:t>
            </a:r>
            <a:endParaRPr/>
          </a:p>
        </p:txBody>
      </p:sp>
      <p:sp>
        <p:nvSpPr>
          <p:cNvPr id="1222271079" name="TextBox 49"/>
          <p:cNvSpPr txBox="1"/>
          <p:nvPr/>
        </p:nvSpPr>
        <p:spPr bwMode="auto">
          <a:xfrm>
            <a:off x="5330458" y="3600450"/>
            <a:ext cx="1530932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src/MusicApp.Audio</a:t>
            </a:r>
            <a:endParaRPr/>
          </a:p>
        </p:txBody>
      </p:sp>
      <p:sp>
        <p:nvSpPr>
          <p:cNvPr id="903551297" name="TextBox 50"/>
          <p:cNvSpPr txBox="1"/>
          <p:nvPr/>
        </p:nvSpPr>
        <p:spPr bwMode="auto">
          <a:xfrm>
            <a:off x="9007462" y="3600450"/>
            <a:ext cx="1441227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src/MusicApp.Core</a:t>
            </a:r>
            <a:endParaRPr/>
          </a:p>
        </p:txBody>
      </p:sp>
      <p:sp>
        <p:nvSpPr>
          <p:cNvPr id="4493542" name="TextBox 51"/>
          <p:cNvSpPr txBox="1"/>
          <p:nvPr/>
        </p:nvSpPr>
        <p:spPr bwMode="auto">
          <a:xfrm>
            <a:off x="1671144" y="5919638"/>
            <a:ext cx="1382109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1200" b="1" i="0" u="none">
                <a:solidFill>
                  <a:srgbClr val="475569"/>
                </a:solidFill>
                <a:latin typeface="Times New Roman"/>
                <a:cs typeface="Times New Roman"/>
              </a:rPr>
              <a:t>tests/MusicApp.Tests</a:t>
            </a:r>
            <a:endParaRPr/>
          </a:p>
        </p:txBody>
      </p:sp>
      <p:sp>
        <p:nvSpPr>
          <p:cNvPr id="1625099633" name="TextBox 52"/>
          <p:cNvSpPr txBox="1"/>
          <p:nvPr/>
        </p:nvSpPr>
        <p:spPr bwMode="auto">
          <a:xfrm>
            <a:off x="1511005" y="6186338"/>
            <a:ext cx="1702389" cy="161583"/>
          </a:xfrm>
          <a:prstGeom prst="rect">
            <a:avLst/>
          </a:prstGeom>
          <a:noFill/>
        </p:spPr>
        <p:txBody>
          <a:bodyPr wrap="none" lIns="190500" tIns="0" rIns="0" bIns="0" anchor="t">
            <a:spAutoFit/>
          </a:bodyPr>
          <a:lstStyle/>
          <a:p>
            <a:pPr algn="ctr">
              <a:defRPr/>
            </a:pPr>
            <a:r>
              <a:rPr sz="1050" b="1" i="0" u="none">
                <a:solidFill>
                  <a:srgbClr val="0F172A"/>
                </a:solidFill>
                <a:latin typeface="Times New Roman"/>
                <a:cs typeface="Times New Roman"/>
              </a:rPr>
              <a:t>75 Tests • 100% Pass Rate</a:t>
            </a:r>
            <a:endParaRPr/>
          </a:p>
        </p:txBody>
      </p:sp>
      <p:sp>
        <p:nvSpPr>
          <p:cNvPr id="1882530073" name="TextBox 53"/>
          <p:cNvSpPr txBox="1"/>
          <p:nvPr/>
        </p:nvSpPr>
        <p:spPr bwMode="auto">
          <a:xfrm>
            <a:off x="4274194" y="6048631"/>
            <a:ext cx="2178099" cy="345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  <a:defRPr/>
            </a:pP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Phụ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thuộc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1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chiều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Tầng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Core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độc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lập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tuyệt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đối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.</a:t>
            </a:r>
            <a:endParaRPr/>
          </a:p>
        </p:txBody>
      </p:sp>
      <p:sp>
        <p:nvSpPr>
          <p:cNvPr id="985161077" name="TextBox 54"/>
          <p:cNvSpPr txBox="1"/>
          <p:nvPr/>
        </p:nvSpPr>
        <p:spPr bwMode="auto">
          <a:xfrm>
            <a:off x="6769149" y="6021218"/>
            <a:ext cx="2178099" cy="345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  <a:defRPr/>
            </a:pP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Chống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phụ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thuộc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vòng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Giao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tiếp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qua HTTP Loopback.</a:t>
            </a:r>
            <a:endParaRPr/>
          </a:p>
        </p:txBody>
      </p:sp>
      <p:sp>
        <p:nvSpPr>
          <p:cNvPr id="1433253793" name="TextBox 55"/>
          <p:cNvSpPr txBox="1"/>
          <p:nvPr/>
        </p:nvSpPr>
        <p:spPr bwMode="auto">
          <a:xfrm>
            <a:off x="9232999" y="6048631"/>
            <a:ext cx="2178099" cy="345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  <a:defRPr/>
            </a:pP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MVVM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Thuần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túy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Không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mã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logic 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trong</a:t>
            </a:r>
            <a:r>
              <a:rPr sz="1050" b="1" i="0" u="none">
                <a:solidFill>
                  <a:srgbClr val="1E3A8A"/>
                </a:solidFill>
                <a:latin typeface="Times New Roman"/>
                <a:cs typeface="Times New Roman"/>
              </a:rPr>
              <a:t> code-behind.</a:t>
            </a:r>
            <a:endParaRPr/>
          </a:p>
        </p:txBody>
      </p:sp>
      <p:sp>
        <p:nvSpPr>
          <p:cNvPr id="155058336" name="TextBox 56"/>
          <p:cNvSpPr txBox="1"/>
          <p:nvPr/>
        </p:nvSpPr>
        <p:spPr bwMode="auto">
          <a:xfrm>
            <a:off x="1000125" y="3952875"/>
            <a:ext cx="1213474" cy="173124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/>
          <a:p>
            <a:pPr algn="l"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OWIN Self-Host</a:t>
            </a:r>
            <a:endParaRPr/>
          </a:p>
        </p:txBody>
      </p:sp>
      <p:sp>
        <p:nvSpPr>
          <p:cNvPr id="734559803" name="TextBox 57"/>
          <p:cNvSpPr txBox="1"/>
          <p:nvPr/>
        </p:nvSpPr>
        <p:spPr bwMode="auto">
          <a:xfrm>
            <a:off x="1000125" y="4229100"/>
            <a:ext cx="1402628" cy="173124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/>
          <a:p>
            <a:pPr algn="l"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Web API Controller</a:t>
            </a:r>
            <a:endParaRPr/>
          </a:p>
        </p:txBody>
      </p:sp>
      <p:sp>
        <p:nvSpPr>
          <p:cNvPr id="2089091400" name="TextBox 58"/>
          <p:cNvSpPr txBox="1"/>
          <p:nvPr/>
        </p:nvSpPr>
        <p:spPr bwMode="auto">
          <a:xfrm>
            <a:off x="1000125" y="4505325"/>
            <a:ext cx="1226298" cy="173124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/>
          <a:p>
            <a:pPr algn="l"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HTTP 206 Proxy</a:t>
            </a:r>
            <a:endParaRPr/>
          </a:p>
        </p:txBody>
      </p:sp>
      <p:sp>
        <p:nvSpPr>
          <p:cNvPr id="1101157328" name="TextBox 59"/>
          <p:cNvSpPr txBox="1"/>
          <p:nvPr/>
        </p:nvSpPr>
        <p:spPr bwMode="auto">
          <a:xfrm>
            <a:off x="1000125" y="4781550"/>
            <a:ext cx="1133324" cy="173124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/>
          <a:p>
            <a:pPr algn="l"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Source Routing</a:t>
            </a:r>
            <a:endParaRPr/>
          </a:p>
        </p:txBody>
      </p:sp>
      <p:sp>
        <p:nvSpPr>
          <p:cNvPr id="2027289065" name="TextBox 60"/>
          <p:cNvSpPr txBox="1"/>
          <p:nvPr/>
        </p:nvSpPr>
        <p:spPr bwMode="auto">
          <a:xfrm>
            <a:off x="4632275" y="3952875"/>
            <a:ext cx="1285608" cy="173124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/>
          <a:p>
            <a:pPr algn="l"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NAudio WaveOut</a:t>
            </a:r>
            <a:endParaRPr/>
          </a:p>
        </p:txBody>
      </p:sp>
      <p:sp>
        <p:nvSpPr>
          <p:cNvPr id="1495256499" name="TextBox 61"/>
          <p:cNvSpPr txBox="1"/>
          <p:nvPr/>
        </p:nvSpPr>
        <p:spPr bwMode="auto">
          <a:xfrm>
            <a:off x="4632275" y="4229100"/>
            <a:ext cx="1442703" cy="173124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/>
          <a:p>
            <a:pPr algn="l"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10-Band BiQuad EQ</a:t>
            </a:r>
            <a:endParaRPr/>
          </a:p>
        </p:txBody>
      </p:sp>
      <p:sp>
        <p:nvSpPr>
          <p:cNvPr id="126447818" name="TextBox 62"/>
          <p:cNvSpPr txBox="1"/>
          <p:nvPr/>
        </p:nvSpPr>
        <p:spPr bwMode="auto">
          <a:xfrm>
            <a:off x="4632275" y="4505325"/>
            <a:ext cx="1498808" cy="173124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/>
          <a:p>
            <a:pPr algn="l"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1024-point FFT Hann</a:t>
            </a:r>
            <a:endParaRPr/>
          </a:p>
        </p:txBody>
      </p:sp>
      <p:sp>
        <p:nvSpPr>
          <p:cNvPr id="17195550" name="TextBox 63"/>
          <p:cNvSpPr txBox="1"/>
          <p:nvPr/>
        </p:nvSpPr>
        <p:spPr bwMode="auto">
          <a:xfrm>
            <a:off x="4632275" y="4781550"/>
            <a:ext cx="1461939" cy="173124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/>
          <a:p>
            <a:pPr algn="l"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Zero-Allocation DSP</a:t>
            </a:r>
            <a:endParaRPr/>
          </a:p>
        </p:txBody>
      </p:sp>
      <p:sp>
        <p:nvSpPr>
          <p:cNvPr id="2120241846" name="TextBox 64"/>
          <p:cNvSpPr txBox="1"/>
          <p:nvPr/>
        </p:nvSpPr>
        <p:spPr bwMode="auto">
          <a:xfrm>
            <a:off x="8264424" y="3952875"/>
            <a:ext cx="1703993" cy="173124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/>
          <a:p>
            <a:pPr algn="l"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Domain Models &amp; DTOs</a:t>
            </a:r>
            <a:endParaRPr/>
          </a:p>
        </p:txBody>
      </p:sp>
      <p:sp>
        <p:nvSpPr>
          <p:cNvPr id="444517646" name="TextBox 65"/>
          <p:cNvSpPr txBox="1"/>
          <p:nvPr/>
        </p:nvSpPr>
        <p:spPr bwMode="auto">
          <a:xfrm>
            <a:off x="8264424" y="4229100"/>
            <a:ext cx="1559722" cy="173124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/>
          <a:p>
            <a:pPr algn="l"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SQLite WAL &amp; Repos</a:t>
            </a:r>
            <a:endParaRPr/>
          </a:p>
        </p:txBody>
      </p:sp>
      <p:sp>
        <p:nvSpPr>
          <p:cNvPr id="1340205156" name="TextBox 66"/>
          <p:cNvSpPr txBox="1"/>
          <p:nvPr/>
        </p:nvSpPr>
        <p:spPr bwMode="auto">
          <a:xfrm>
            <a:off x="8264424" y="4505325"/>
            <a:ext cx="1551707" cy="173124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/>
          <a:p>
            <a:pPr algn="l"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LrcParser &amp; BFS Scan</a:t>
            </a:r>
            <a:endParaRPr/>
          </a:p>
        </p:txBody>
      </p:sp>
      <p:sp>
        <p:nvSpPr>
          <p:cNvPr id="1621897790" name="TextBox 67"/>
          <p:cNvSpPr txBox="1"/>
          <p:nvPr/>
        </p:nvSpPr>
        <p:spPr bwMode="auto">
          <a:xfrm>
            <a:off x="8264424" y="4781550"/>
            <a:ext cx="1694375" cy="173124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/>
          <a:p>
            <a:pPr algn="l"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Recommendation Engine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893161" name="Rounded Rectangle 2"/>
          <p:cNvSpPr/>
          <p:nvPr/>
        </p:nvSpPr>
        <p:spPr bwMode="auto">
          <a:xfrm>
            <a:off x="6019800" y="1724025"/>
            <a:ext cx="5410200" cy="4524375"/>
          </a:xfrm>
          <a:prstGeom prst="roundRect">
            <a:avLst>
              <a:gd name="adj" fmla="val 25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95525462" name="Rounded Rectangle 3"/>
          <p:cNvSpPr/>
          <p:nvPr/>
        </p:nvSpPr>
        <p:spPr bwMode="auto">
          <a:xfrm>
            <a:off x="762000" y="1724025"/>
            <a:ext cx="4800600" cy="1683841"/>
          </a:xfrm>
          <a:prstGeom prst="roundRect">
            <a:avLst>
              <a:gd name="adj" fmla="val 452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71811317" name="Rectangle 4"/>
          <p:cNvSpPr/>
          <p:nvPr/>
        </p:nvSpPr>
        <p:spPr bwMode="auto">
          <a:xfrm>
            <a:off x="762000" y="1724025"/>
            <a:ext cx="38100" cy="1683841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42805890" name="Rounded Rectangle 5"/>
          <p:cNvSpPr/>
          <p:nvPr/>
        </p:nvSpPr>
        <p:spPr bwMode="auto">
          <a:xfrm>
            <a:off x="762000" y="3636466"/>
            <a:ext cx="2324100" cy="1455241"/>
          </a:xfrm>
          <a:prstGeom prst="roundRect">
            <a:avLst>
              <a:gd name="adj" fmla="val 5236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18702649" name="Rounded Rectangle 6"/>
          <p:cNvSpPr/>
          <p:nvPr/>
        </p:nvSpPr>
        <p:spPr bwMode="auto">
          <a:xfrm>
            <a:off x="3238500" y="3636466"/>
            <a:ext cx="2324100" cy="1455241"/>
          </a:xfrm>
          <a:prstGeom prst="roundRect">
            <a:avLst>
              <a:gd name="adj" fmla="val 5236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1235563600" name="Picture 8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28700" y="1971675"/>
            <a:ext cx="190500" cy="190500"/>
          </a:xfrm>
          <a:prstGeom prst="rect">
            <a:avLst/>
          </a:prstGeom>
        </p:spPr>
      </p:pic>
      <p:pic>
        <p:nvPicPr>
          <p:cNvPr id="86060297" name="Picture 9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23925" y="3798391"/>
            <a:ext cx="219074" cy="190500"/>
          </a:xfrm>
          <a:prstGeom prst="rect">
            <a:avLst/>
          </a:prstGeom>
        </p:spPr>
      </p:pic>
      <p:pic>
        <p:nvPicPr>
          <p:cNvPr id="939700205" name="Picture 10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400425" y="3798391"/>
            <a:ext cx="238125" cy="190500"/>
          </a:xfrm>
          <a:prstGeom prst="rect">
            <a:avLst/>
          </a:prstGeom>
        </p:spPr>
      </p:pic>
      <p:sp>
        <p:nvSpPr>
          <p:cNvPr id="1814073562" name="TextBox 14"/>
          <p:cNvSpPr txBox="1"/>
          <p:nvPr/>
        </p:nvSpPr>
        <p:spPr bwMode="auto">
          <a:xfrm>
            <a:off x="762000" y="885825"/>
            <a:ext cx="5742791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  <a:defRPr/>
            </a:pPr>
            <a:r>
              <a:rPr sz="3000" b="1" i="0" u="none">
                <a:solidFill>
                  <a:srgbClr val="0F172A"/>
                </a:solidFill>
                <a:latin typeface="Times New Roman"/>
                <a:cs typeface="Times New Roman"/>
              </a:rPr>
              <a:t>Local BFF &amp; HTTP 206 Streaming</a:t>
            </a:r>
            <a:endParaRPr/>
          </a:p>
        </p:txBody>
      </p:sp>
      <p:sp>
        <p:nvSpPr>
          <p:cNvPr id="2136432444" name="TextBox 15"/>
          <p:cNvSpPr txBox="1"/>
          <p:nvPr/>
        </p:nvSpPr>
        <p:spPr bwMode="auto">
          <a:xfrm>
            <a:off x="6773211" y="2038349"/>
            <a:ext cx="3903376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Luồng tua nhạc tức thời (HTTP 206 Partial Content)</a:t>
            </a:r>
            <a:endParaRPr/>
          </a:p>
        </p:txBody>
      </p:sp>
      <p:sp>
        <p:nvSpPr>
          <p:cNvPr id="1929641281" name="TextBox 16"/>
          <p:cNvSpPr txBox="1"/>
          <p:nvPr/>
        </p:nvSpPr>
        <p:spPr bwMode="auto">
          <a:xfrm>
            <a:off x="1314450" y="1951508"/>
            <a:ext cx="1665521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defRPr/>
            </a:pPr>
            <a:r>
              <a:rPr sz="1500" b="1" i="0" u="none">
                <a:solidFill>
                  <a:srgbClr val="0F172A"/>
                </a:solidFill>
                <a:latin typeface="Times New Roman"/>
                <a:cs typeface="Times New Roman"/>
              </a:rPr>
              <a:t>Owin Self-Host BFF</a:t>
            </a:r>
            <a:endParaRPr/>
          </a:p>
        </p:txBody>
      </p:sp>
      <p:sp>
        <p:nvSpPr>
          <p:cNvPr id="2073831977" name="TextBox 17"/>
          <p:cNvSpPr txBox="1"/>
          <p:nvPr/>
        </p:nvSpPr>
        <p:spPr bwMode="auto">
          <a:xfrm>
            <a:off x="1171575" y="229362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233672450" name="TextBox 18"/>
          <p:cNvSpPr txBox="1"/>
          <p:nvPr/>
        </p:nvSpPr>
        <p:spPr bwMode="auto">
          <a:xfrm>
            <a:off x="1257300" y="2295525"/>
            <a:ext cx="1578317" cy="218778"/>
          </a:xfrm>
          <a:prstGeom prst="rect">
            <a:avLst/>
          </a:prstGeom>
          <a:noFill/>
        </p:spPr>
        <p:txBody>
          <a:bodyPr wrap="none" lIns="85725" tIns="0" rIns="0" bIns="0" anchor="t">
            <a:spAutoFit/>
          </a:bodyPr>
          <a:lstStyle/>
          <a:p>
            <a:pPr algn="l">
              <a:lnSpc>
                <a:spcPts val="1920"/>
              </a:lnSpc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Vòng đời gắn liền WPF.</a:t>
            </a:r>
            <a:endParaRPr/>
          </a:p>
        </p:txBody>
      </p:sp>
      <p:sp>
        <p:nvSpPr>
          <p:cNvPr id="1265611357" name="TextBox 19"/>
          <p:cNvSpPr txBox="1"/>
          <p:nvPr/>
        </p:nvSpPr>
        <p:spPr bwMode="auto">
          <a:xfrm>
            <a:off x="1171575" y="261360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914059146" name="TextBox 20"/>
          <p:cNvSpPr txBox="1"/>
          <p:nvPr/>
        </p:nvSpPr>
        <p:spPr bwMode="auto">
          <a:xfrm>
            <a:off x="1257300" y="2615505"/>
            <a:ext cx="1597745" cy="218778"/>
          </a:xfrm>
          <a:prstGeom prst="rect">
            <a:avLst/>
          </a:prstGeom>
          <a:noFill/>
        </p:spPr>
        <p:txBody>
          <a:bodyPr wrap="none" lIns="85725" tIns="0" rIns="0" bIns="0" anchor="t">
            <a:spAutoFit/>
          </a:bodyPr>
          <a:lstStyle/>
          <a:p>
            <a:pPr algn="l">
              <a:lnSpc>
                <a:spcPts val="1920"/>
              </a:lnSpc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Bảo mật API Key ngoài.</a:t>
            </a:r>
            <a:endParaRPr/>
          </a:p>
        </p:txBody>
      </p:sp>
      <p:sp>
        <p:nvSpPr>
          <p:cNvPr id="689330578" name="TextBox 21"/>
          <p:cNvSpPr txBox="1"/>
          <p:nvPr/>
        </p:nvSpPr>
        <p:spPr bwMode="auto">
          <a:xfrm>
            <a:off x="1171575" y="293358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463250945" name="TextBox 22"/>
          <p:cNvSpPr txBox="1"/>
          <p:nvPr/>
        </p:nvSpPr>
        <p:spPr bwMode="auto">
          <a:xfrm>
            <a:off x="1257300" y="2935485"/>
            <a:ext cx="1833835" cy="218778"/>
          </a:xfrm>
          <a:prstGeom prst="rect">
            <a:avLst/>
          </a:prstGeom>
          <a:noFill/>
        </p:spPr>
        <p:txBody>
          <a:bodyPr wrap="none" lIns="85725" tIns="0" rIns="0" bIns="0" anchor="t">
            <a:spAutoFit/>
          </a:bodyPr>
          <a:lstStyle/>
          <a:p>
            <a:pPr algn="l">
              <a:lnSpc>
                <a:spcPts val="1920"/>
              </a:lnSpc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Gom nhóm JSON đa nguồn.</a:t>
            </a:r>
            <a:endParaRPr/>
          </a:p>
        </p:txBody>
      </p:sp>
      <p:sp>
        <p:nvSpPr>
          <p:cNvPr id="792404682" name="TextBox 23"/>
          <p:cNvSpPr txBox="1"/>
          <p:nvPr/>
        </p:nvSpPr>
        <p:spPr bwMode="auto">
          <a:xfrm>
            <a:off x="923925" y="4103191"/>
            <a:ext cx="995465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065F46"/>
                </a:solidFill>
                <a:latin typeface="Times New Roman"/>
                <a:cs typeface="Times New Roman"/>
              </a:rPr>
              <a:t>Smart Caching</a:t>
            </a:r>
            <a:endParaRPr/>
          </a:p>
        </p:txBody>
      </p:sp>
      <p:sp>
        <p:nvSpPr>
          <p:cNvPr id="2067676983" name="TextBox 24"/>
          <p:cNvSpPr txBox="1"/>
          <p:nvPr/>
        </p:nvSpPr>
        <p:spPr bwMode="auto">
          <a:xfrm>
            <a:off x="923925" y="4369891"/>
            <a:ext cx="2095500" cy="373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  <a:defRPr/>
            </a:pPr>
            <a:r>
              <a:rPr sz="1050" b="0" i="0" u="none">
                <a:solidFill>
                  <a:srgbClr val="166534"/>
                </a:solidFill>
                <a:latin typeface="Times New Roman"/>
                <a:cs typeface="Times New Roman"/>
              </a:rPr>
              <a:t>MemoryCache 30 phút, giảm 70% request trùng lặp.</a:t>
            </a:r>
            <a:endParaRPr/>
          </a:p>
        </p:txBody>
      </p:sp>
      <p:sp>
        <p:nvSpPr>
          <p:cNvPr id="1153162960" name="TextBox 25"/>
          <p:cNvSpPr txBox="1"/>
          <p:nvPr/>
        </p:nvSpPr>
        <p:spPr bwMode="auto">
          <a:xfrm>
            <a:off x="3400425" y="4103191"/>
            <a:ext cx="1165384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1E40AF"/>
                </a:solidFill>
                <a:latin typeface="Times New Roman"/>
                <a:cs typeface="Times New Roman"/>
              </a:rPr>
              <a:t>RemoveDiacritics</a:t>
            </a:r>
            <a:endParaRPr/>
          </a:p>
        </p:txBody>
      </p:sp>
      <p:sp>
        <p:nvSpPr>
          <p:cNvPr id="1651124390" name="TextBox 26"/>
          <p:cNvSpPr txBox="1"/>
          <p:nvPr/>
        </p:nvSpPr>
        <p:spPr bwMode="auto">
          <a:xfrm>
            <a:off x="3400425" y="4369891"/>
            <a:ext cx="2095500" cy="368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  <a:defRPr/>
            </a:pPr>
            <a:r>
              <a:rPr sz="1050" b="0" i="0" u="none">
                <a:solidFill>
                  <a:srgbClr val="1E3A8A"/>
                </a:solidFill>
                <a:latin typeface="Times New Roman"/>
                <a:cs typeface="Times New Roman"/>
              </a:rPr>
              <a:t>Tách Unicode FormD, tìm kiếm không dấu ("con mua" → Cơn Mưa).</a:t>
            </a:r>
            <a:endParaRPr/>
          </a:p>
        </p:txBody>
      </p:sp>
      <p:sp>
        <p:nvSpPr>
          <p:cNvPr id="107963239" name="Rectangle 27"/>
          <p:cNvSpPr/>
          <p:nvPr/>
        </p:nvSpPr>
        <p:spPr bwMode="auto">
          <a:xfrm>
            <a:off x="6715125" y="2809875"/>
            <a:ext cx="19050" cy="31242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21885318" name="Rectangle 28"/>
          <p:cNvSpPr/>
          <p:nvPr/>
        </p:nvSpPr>
        <p:spPr bwMode="auto">
          <a:xfrm>
            <a:off x="7624761" y="2809875"/>
            <a:ext cx="19050" cy="31242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97019539" name="Rectangle 29"/>
          <p:cNvSpPr/>
          <p:nvPr/>
        </p:nvSpPr>
        <p:spPr bwMode="auto">
          <a:xfrm>
            <a:off x="8629650" y="2809875"/>
            <a:ext cx="19050" cy="31242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666413259" name="Rectangle 30"/>
          <p:cNvSpPr/>
          <p:nvPr/>
        </p:nvSpPr>
        <p:spPr bwMode="auto">
          <a:xfrm>
            <a:off x="9634537" y="2809875"/>
            <a:ext cx="19050" cy="31242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537903934" name="Rectangle 31"/>
          <p:cNvSpPr/>
          <p:nvPr/>
        </p:nvSpPr>
        <p:spPr bwMode="auto">
          <a:xfrm>
            <a:off x="10715625" y="2809875"/>
            <a:ext cx="19050" cy="31242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562593576" name="Rounded Rectangle 32"/>
          <p:cNvSpPr/>
          <p:nvPr/>
        </p:nvSpPr>
        <p:spPr bwMode="auto">
          <a:xfrm>
            <a:off x="6334125" y="2466975"/>
            <a:ext cx="762000" cy="304800"/>
          </a:xfrm>
          <a:prstGeom prst="roundRect">
            <a:avLst>
              <a:gd name="adj" fmla="val 125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91637434" name="Rounded Rectangle 33"/>
          <p:cNvSpPr/>
          <p:nvPr/>
        </p:nvSpPr>
        <p:spPr bwMode="auto">
          <a:xfrm>
            <a:off x="7339011" y="2466975"/>
            <a:ext cx="762000" cy="304800"/>
          </a:xfrm>
          <a:prstGeom prst="roundRect">
            <a:avLst>
              <a:gd name="adj" fmla="val 125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75058039" name="Rounded Rectangle 34"/>
          <p:cNvSpPr/>
          <p:nvPr/>
        </p:nvSpPr>
        <p:spPr bwMode="auto">
          <a:xfrm>
            <a:off x="8343900" y="2466975"/>
            <a:ext cx="762000" cy="304800"/>
          </a:xfrm>
          <a:prstGeom prst="roundRect">
            <a:avLst>
              <a:gd name="adj" fmla="val 125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01224343" name="Rounded Rectangle 35"/>
          <p:cNvSpPr/>
          <p:nvPr/>
        </p:nvSpPr>
        <p:spPr bwMode="auto">
          <a:xfrm>
            <a:off x="9348787" y="2466975"/>
            <a:ext cx="762000" cy="304800"/>
          </a:xfrm>
          <a:prstGeom prst="roundRect">
            <a:avLst>
              <a:gd name="adj" fmla="val 12500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14671662" name="Rounded Rectangle 36"/>
          <p:cNvSpPr/>
          <p:nvPr/>
        </p:nvSpPr>
        <p:spPr bwMode="auto">
          <a:xfrm>
            <a:off x="10353675" y="2466975"/>
            <a:ext cx="762000" cy="304800"/>
          </a:xfrm>
          <a:prstGeom prst="roundRect">
            <a:avLst>
              <a:gd name="adj" fmla="val 125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15358321" name="TextBox 37"/>
          <p:cNvSpPr txBox="1"/>
          <p:nvPr/>
        </p:nvSpPr>
        <p:spPr bwMode="auto">
          <a:xfrm>
            <a:off x="6305550" y="2543175"/>
            <a:ext cx="8191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000" b="1" i="0" u="none">
                <a:solidFill>
                  <a:srgbClr val="334155"/>
                </a:solidFill>
                <a:latin typeface="Times New Roman"/>
                <a:cs typeface="Times New Roman"/>
              </a:rPr>
              <a:t>User</a:t>
            </a:r>
            <a:endParaRPr/>
          </a:p>
        </p:txBody>
      </p:sp>
      <p:sp>
        <p:nvSpPr>
          <p:cNvPr id="227081948" name="TextBox 38"/>
          <p:cNvSpPr txBox="1"/>
          <p:nvPr/>
        </p:nvSpPr>
        <p:spPr bwMode="auto">
          <a:xfrm>
            <a:off x="7310437" y="2543175"/>
            <a:ext cx="8191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000" b="1" i="0" u="none">
                <a:solidFill>
                  <a:srgbClr val="1E40AF"/>
                </a:solidFill>
                <a:latin typeface="Times New Roman"/>
                <a:cs typeface="Times New Roman"/>
              </a:rPr>
              <a:t>WPF UI</a:t>
            </a:r>
            <a:endParaRPr/>
          </a:p>
        </p:txBody>
      </p:sp>
      <p:sp>
        <p:nvSpPr>
          <p:cNvPr id="1763154990" name="TextBox 39"/>
          <p:cNvSpPr txBox="1"/>
          <p:nvPr/>
        </p:nvSpPr>
        <p:spPr bwMode="auto">
          <a:xfrm>
            <a:off x="8315325" y="2543175"/>
            <a:ext cx="8191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000" b="1" i="0" u="none">
                <a:solidFill>
                  <a:srgbClr val="166534"/>
                </a:solidFill>
                <a:latin typeface="Times New Roman"/>
                <a:cs typeface="Times New Roman"/>
              </a:rPr>
              <a:t>NAudio</a:t>
            </a:r>
            <a:endParaRPr/>
          </a:p>
        </p:txBody>
      </p:sp>
      <p:sp>
        <p:nvSpPr>
          <p:cNvPr id="1673285289" name="TextBox 40"/>
          <p:cNvSpPr txBox="1"/>
          <p:nvPr/>
        </p:nvSpPr>
        <p:spPr bwMode="auto">
          <a:xfrm>
            <a:off x="9320212" y="2543175"/>
            <a:ext cx="8191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000" b="1" i="0" u="none">
                <a:solidFill>
                  <a:srgbClr val="6B21A8"/>
                </a:solidFill>
                <a:latin typeface="Times New Roman"/>
                <a:cs typeface="Times New Roman"/>
              </a:rPr>
              <a:t>BFF</a:t>
            </a:r>
            <a:endParaRPr/>
          </a:p>
        </p:txBody>
      </p:sp>
      <p:sp>
        <p:nvSpPr>
          <p:cNvPr id="388136655" name="TextBox 41"/>
          <p:cNvSpPr txBox="1"/>
          <p:nvPr/>
        </p:nvSpPr>
        <p:spPr bwMode="auto">
          <a:xfrm>
            <a:off x="10325100" y="2543175"/>
            <a:ext cx="8191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000" b="1" i="0" u="none">
                <a:solidFill>
                  <a:srgbClr val="9A3412"/>
                </a:solidFill>
                <a:latin typeface="Times New Roman"/>
                <a:cs typeface="Times New Roman"/>
              </a:rPr>
              <a:t>CDN</a:t>
            </a:r>
            <a:endParaRPr/>
          </a:p>
        </p:txBody>
      </p:sp>
      <p:sp>
        <p:nvSpPr>
          <p:cNvPr id="486711111" name="Rectangle 42"/>
          <p:cNvSpPr/>
          <p:nvPr/>
        </p:nvSpPr>
        <p:spPr bwMode="auto">
          <a:xfrm>
            <a:off x="6715125" y="3476625"/>
            <a:ext cx="909637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38554947" name="Rectangle 43"/>
          <p:cNvSpPr/>
          <p:nvPr/>
        </p:nvSpPr>
        <p:spPr bwMode="auto">
          <a:xfrm>
            <a:off x="7624761" y="4010025"/>
            <a:ext cx="1004887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608668380" name="Rectangle 44"/>
          <p:cNvSpPr/>
          <p:nvPr/>
        </p:nvSpPr>
        <p:spPr bwMode="auto">
          <a:xfrm>
            <a:off x="8629650" y="4200525"/>
            <a:ext cx="1004887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46454342" name="Rectangle 45"/>
          <p:cNvSpPr/>
          <p:nvPr/>
        </p:nvSpPr>
        <p:spPr bwMode="auto">
          <a:xfrm>
            <a:off x="9634537" y="4448175"/>
            <a:ext cx="1862137" cy="190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609062504" name="Rectangle 46"/>
          <p:cNvSpPr/>
          <p:nvPr/>
        </p:nvSpPr>
        <p:spPr bwMode="auto">
          <a:xfrm>
            <a:off x="9634537" y="4924425"/>
            <a:ext cx="1862137" cy="190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96162718" name="Rectangle 47"/>
          <p:cNvSpPr/>
          <p:nvPr/>
        </p:nvSpPr>
        <p:spPr bwMode="auto">
          <a:xfrm>
            <a:off x="8629650" y="5305425"/>
            <a:ext cx="1004887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1093647" name="Rectangle 48"/>
          <p:cNvSpPr/>
          <p:nvPr/>
        </p:nvSpPr>
        <p:spPr bwMode="auto">
          <a:xfrm>
            <a:off x="6715125" y="5705475"/>
            <a:ext cx="1914525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55420092" name="TextBox 49"/>
          <p:cNvSpPr txBox="1"/>
          <p:nvPr/>
        </p:nvSpPr>
        <p:spPr bwMode="auto">
          <a:xfrm>
            <a:off x="6572250" y="3133725"/>
            <a:ext cx="1195387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000" b="0" i="0" u="none">
                <a:solidFill>
                  <a:srgbClr val="475569"/>
                </a:solidFill>
                <a:latin typeface="Times New Roman"/>
                <a:cs typeface="Times New Roman"/>
              </a:rPr>
              <a:t>1. Seekbar (02:45)</a:t>
            </a:r>
            <a:endParaRPr/>
          </a:p>
        </p:txBody>
      </p:sp>
      <p:sp>
        <p:nvSpPr>
          <p:cNvPr id="1769113704" name="TextBox 50"/>
          <p:cNvSpPr txBox="1"/>
          <p:nvPr/>
        </p:nvSpPr>
        <p:spPr bwMode="auto">
          <a:xfrm>
            <a:off x="7481886" y="3514725"/>
            <a:ext cx="1290637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000" b="0" i="0" u="none">
                <a:solidFill>
                  <a:srgbClr val="2563EB"/>
                </a:solidFill>
                <a:latin typeface="Times New Roman"/>
                <a:cs typeface="Times New Roman"/>
              </a:rPr>
              <a:t>2. SetPosition(Offset)</a:t>
            </a:r>
            <a:endParaRPr/>
          </a:p>
        </p:txBody>
      </p:sp>
      <p:sp>
        <p:nvSpPr>
          <p:cNvPr id="1510419109" name="TextBox 51"/>
          <p:cNvSpPr txBox="1"/>
          <p:nvPr/>
        </p:nvSpPr>
        <p:spPr bwMode="auto">
          <a:xfrm>
            <a:off x="8486775" y="3895725"/>
            <a:ext cx="1290637" cy="126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50" b="0" i="0" u="none">
                <a:solidFill>
                  <a:srgbClr val="059669"/>
                </a:solidFill>
                <a:latin typeface="Times New Roman"/>
                <a:cs typeface="Times New Roman"/>
              </a:rPr>
              <a:t>3. Range: bytes=3.5M-</a:t>
            </a:r>
            <a:endParaRPr/>
          </a:p>
        </p:txBody>
      </p:sp>
      <p:sp>
        <p:nvSpPr>
          <p:cNvPr id="898873336" name="TextBox 52"/>
          <p:cNvSpPr txBox="1"/>
          <p:nvPr/>
        </p:nvSpPr>
        <p:spPr bwMode="auto">
          <a:xfrm>
            <a:off x="9401770" y="4276725"/>
            <a:ext cx="2327671" cy="126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50" b="0" i="0" u="none">
                <a:solidFill>
                  <a:srgbClr val="7C3AED"/>
                </a:solidFill>
                <a:latin typeface="Times New Roman"/>
                <a:cs typeface="Times New Roman"/>
              </a:rPr>
              <a:t>4. Forward Request</a:t>
            </a:r>
            <a:endParaRPr/>
          </a:p>
        </p:txBody>
      </p:sp>
      <p:sp>
        <p:nvSpPr>
          <p:cNvPr id="689059510" name="TextBox 53"/>
          <p:cNvSpPr txBox="1"/>
          <p:nvPr/>
        </p:nvSpPr>
        <p:spPr bwMode="auto">
          <a:xfrm>
            <a:off x="9401770" y="4752975"/>
            <a:ext cx="2327671" cy="126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50" b="0" i="0" u="none">
                <a:solidFill>
                  <a:srgbClr val="D97706"/>
                </a:solidFill>
                <a:latin typeface="Times New Roman"/>
                <a:cs typeface="Times New Roman"/>
              </a:rPr>
              <a:t>5. HTTP 206 (Chunk)</a:t>
            </a:r>
            <a:endParaRPr/>
          </a:p>
        </p:txBody>
      </p:sp>
      <p:sp>
        <p:nvSpPr>
          <p:cNvPr id="1014378714" name="TextBox 54"/>
          <p:cNvSpPr txBox="1"/>
          <p:nvPr/>
        </p:nvSpPr>
        <p:spPr bwMode="auto">
          <a:xfrm>
            <a:off x="8486775" y="5133975"/>
            <a:ext cx="1290637" cy="126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50" b="0" i="0" u="none">
                <a:solidFill>
                  <a:srgbClr val="059669"/>
                </a:solidFill>
                <a:latin typeface="Times New Roman"/>
                <a:cs typeface="Times New Roman"/>
              </a:rPr>
              <a:t>6. Pipe Stream</a:t>
            </a:r>
            <a:endParaRPr/>
          </a:p>
        </p:txBody>
      </p:sp>
      <p:sp>
        <p:nvSpPr>
          <p:cNvPr id="288503776" name="TextBox 55"/>
          <p:cNvSpPr txBox="1"/>
          <p:nvPr/>
        </p:nvSpPr>
        <p:spPr bwMode="auto">
          <a:xfrm>
            <a:off x="6475808" y="5514975"/>
            <a:ext cx="2393156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000" b="1" i="0" u="none">
                <a:solidFill>
                  <a:srgbClr val="475569"/>
                </a:solidFill>
                <a:latin typeface="Times New Roman"/>
                <a:cs typeface="Times New Roman"/>
              </a:rPr>
              <a:t>7. Nhạc phát tiếp (&lt; 80ms)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394407" name="Rounded Rectangle 2"/>
          <p:cNvSpPr/>
          <p:nvPr/>
        </p:nvSpPr>
        <p:spPr bwMode="auto">
          <a:xfrm>
            <a:off x="5699670" y="1724025"/>
            <a:ext cx="5730328" cy="4968180"/>
          </a:xfrm>
          <a:prstGeom prst="roundRect">
            <a:avLst>
              <a:gd name="adj" fmla="val 23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44852783" name="Rounded Rectangle 3"/>
          <p:cNvSpPr/>
          <p:nvPr/>
        </p:nvSpPr>
        <p:spPr bwMode="auto">
          <a:xfrm>
            <a:off x="762000" y="2390775"/>
            <a:ext cx="4480470" cy="857250"/>
          </a:xfrm>
          <a:prstGeom prst="roundRect">
            <a:avLst>
              <a:gd name="adj" fmla="val 888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87040533" name="Rectangle 4"/>
          <p:cNvSpPr/>
          <p:nvPr/>
        </p:nvSpPr>
        <p:spPr bwMode="auto">
          <a:xfrm>
            <a:off x="762000" y="2066925"/>
            <a:ext cx="448047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147289091" name="Rounded Rectangle 5"/>
          <p:cNvSpPr/>
          <p:nvPr/>
        </p:nvSpPr>
        <p:spPr bwMode="auto">
          <a:xfrm>
            <a:off x="762000" y="3438525"/>
            <a:ext cx="4480470" cy="857250"/>
          </a:xfrm>
          <a:prstGeom prst="roundRect">
            <a:avLst>
              <a:gd name="adj" fmla="val 888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08679645" name="Rounded Rectangle 6"/>
          <p:cNvSpPr/>
          <p:nvPr/>
        </p:nvSpPr>
        <p:spPr bwMode="auto">
          <a:xfrm>
            <a:off x="762000" y="4486275"/>
            <a:ext cx="4480470" cy="857250"/>
          </a:xfrm>
          <a:prstGeom prst="roundRect">
            <a:avLst>
              <a:gd name="adj" fmla="val 888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26380801" name="Rounded Rectangle 7"/>
          <p:cNvSpPr/>
          <p:nvPr/>
        </p:nvSpPr>
        <p:spPr bwMode="auto">
          <a:xfrm>
            <a:off x="762000" y="5534025"/>
            <a:ext cx="4480470" cy="857250"/>
          </a:xfrm>
          <a:prstGeom prst="roundRect">
            <a:avLst>
              <a:gd name="adj" fmla="val 888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12448816" name="Rectangle 8"/>
          <p:cNvSpPr/>
          <p:nvPr/>
        </p:nvSpPr>
        <p:spPr bwMode="auto">
          <a:xfrm>
            <a:off x="8555235" y="4219575"/>
            <a:ext cx="19050" cy="2286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52310470" name="Rectangle 9"/>
          <p:cNvSpPr/>
          <p:nvPr/>
        </p:nvSpPr>
        <p:spPr bwMode="auto">
          <a:xfrm>
            <a:off x="8555235" y="5143500"/>
            <a:ext cx="19050" cy="1905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9473258" name="Rectangle 10"/>
          <p:cNvSpPr/>
          <p:nvPr/>
        </p:nvSpPr>
        <p:spPr bwMode="auto">
          <a:xfrm>
            <a:off x="8555235" y="3238500"/>
            <a:ext cx="19050" cy="3048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94775787" name="Rectangle 11"/>
          <p:cNvSpPr/>
          <p:nvPr/>
        </p:nvSpPr>
        <p:spPr bwMode="auto">
          <a:xfrm>
            <a:off x="7812285" y="3333750"/>
            <a:ext cx="1504950" cy="13335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55305366" name="Rectangle 12"/>
          <p:cNvSpPr/>
          <p:nvPr/>
        </p:nvSpPr>
        <p:spPr bwMode="auto">
          <a:xfrm>
            <a:off x="7327552" y="5353050"/>
            <a:ext cx="19050" cy="1524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24277307" name="Rectangle 13"/>
          <p:cNvSpPr/>
          <p:nvPr/>
        </p:nvSpPr>
        <p:spPr bwMode="auto">
          <a:xfrm>
            <a:off x="9783067" y="5353050"/>
            <a:ext cx="19050" cy="1524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68397780" name="Rounded Rectangle 14"/>
          <p:cNvSpPr/>
          <p:nvPr/>
        </p:nvSpPr>
        <p:spPr bwMode="auto">
          <a:xfrm>
            <a:off x="6090195" y="5505450"/>
            <a:ext cx="2360414" cy="872430"/>
          </a:xfrm>
          <a:prstGeom prst="roundRect">
            <a:avLst>
              <a:gd name="adj" fmla="val 8734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8189039" name="Rounded Rectangle 15"/>
          <p:cNvSpPr/>
          <p:nvPr/>
        </p:nvSpPr>
        <p:spPr bwMode="auto">
          <a:xfrm>
            <a:off x="8679209" y="5505450"/>
            <a:ext cx="2360414" cy="872430"/>
          </a:xfrm>
          <a:prstGeom prst="roundRect">
            <a:avLst>
              <a:gd name="adj" fmla="val 8734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799956487" name="Picture 17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327552" y="5334000"/>
            <a:ext cx="2474565" cy="19050"/>
          </a:xfrm>
          <a:prstGeom prst="rect">
            <a:avLst/>
          </a:prstGeom>
        </p:spPr>
      </p:pic>
      <p:pic>
        <p:nvPicPr>
          <p:cNvPr id="558031741" name="Picture 18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62025" y="2590800"/>
            <a:ext cx="342900" cy="342900"/>
          </a:xfrm>
          <a:prstGeom prst="rect">
            <a:avLst/>
          </a:prstGeom>
        </p:spPr>
      </p:pic>
      <p:pic>
        <p:nvPicPr>
          <p:cNvPr id="337984368" name="Picture 19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962025" y="3638550"/>
            <a:ext cx="342900" cy="342900"/>
          </a:xfrm>
          <a:prstGeom prst="rect">
            <a:avLst/>
          </a:prstGeom>
        </p:spPr>
      </p:pic>
      <p:pic>
        <p:nvPicPr>
          <p:cNvPr id="1002017874" name="Picture 20" descr="imag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962025" y="4686300"/>
            <a:ext cx="342900" cy="342900"/>
          </a:xfrm>
          <a:prstGeom prst="rect">
            <a:avLst/>
          </a:prstGeom>
        </p:spPr>
      </p:pic>
      <p:pic>
        <p:nvPicPr>
          <p:cNvPr id="1590211683" name="Picture 21" descr="image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962025" y="5734050"/>
            <a:ext cx="342900" cy="342900"/>
          </a:xfrm>
          <a:prstGeom prst="rect">
            <a:avLst/>
          </a:prstGeom>
        </p:spPr>
      </p:pic>
      <p:pic>
        <p:nvPicPr>
          <p:cNvPr id="314874667" name="Picture 22" descr="image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1057275" y="2686050"/>
            <a:ext cx="152400" cy="152400"/>
          </a:xfrm>
          <a:prstGeom prst="rect">
            <a:avLst/>
          </a:prstGeom>
        </p:spPr>
      </p:pic>
      <p:pic>
        <p:nvPicPr>
          <p:cNvPr id="1184410404" name="Picture 23" descr="image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1047750" y="3733800"/>
            <a:ext cx="171450" cy="152400"/>
          </a:xfrm>
          <a:prstGeom prst="rect">
            <a:avLst/>
          </a:prstGeom>
        </p:spPr>
      </p:pic>
      <p:pic>
        <p:nvPicPr>
          <p:cNvPr id="1182844947" name="Picture 24" descr="image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1057275" y="4781550"/>
            <a:ext cx="152400" cy="152400"/>
          </a:xfrm>
          <a:prstGeom prst="rect">
            <a:avLst/>
          </a:prstGeom>
        </p:spPr>
      </p:pic>
      <p:pic>
        <p:nvPicPr>
          <p:cNvPr id="1694107192" name="Picture 25" descr="image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1057275" y="5829300"/>
            <a:ext cx="152400" cy="152400"/>
          </a:xfrm>
          <a:prstGeom prst="rect">
            <a:avLst/>
          </a:prstGeom>
        </p:spPr>
      </p:pic>
      <p:pic>
        <p:nvPicPr>
          <p:cNvPr id="707182569" name="Picture 26" descr="image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6589365" y="5676900"/>
            <a:ext cx="152400" cy="152400"/>
          </a:xfrm>
          <a:prstGeom prst="rect">
            <a:avLst/>
          </a:prstGeom>
        </p:spPr>
      </p:pic>
      <p:pic>
        <p:nvPicPr>
          <p:cNvPr id="1753494940" name="Picture 27" descr="image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9278391" y="5676900"/>
            <a:ext cx="133350" cy="152400"/>
          </a:xfrm>
          <a:prstGeom prst="rect">
            <a:avLst/>
          </a:prstGeom>
        </p:spPr>
      </p:pic>
      <p:sp>
        <p:nvSpPr>
          <p:cNvPr id="1527324736" name="TextBox 31"/>
          <p:cNvSpPr txBox="1"/>
          <p:nvPr/>
        </p:nvSpPr>
        <p:spPr bwMode="auto">
          <a:xfrm>
            <a:off x="762000" y="885825"/>
            <a:ext cx="6379567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  <a:defRPr/>
            </a:pPr>
            <a:r>
              <a:rPr sz="3000" b="1" i="0" u="none">
                <a:solidFill>
                  <a:srgbClr val="0F172A"/>
                </a:solidFill>
                <a:latin typeface="Times New Roman"/>
                <a:cs typeface="Times New Roman"/>
              </a:rPr>
              <a:t>Audio Engine &amp; 10-Band DSP Pipeline</a:t>
            </a:r>
            <a:endParaRPr/>
          </a:p>
        </p:txBody>
      </p:sp>
      <p:sp>
        <p:nvSpPr>
          <p:cNvPr id="773582132" name="TextBox 32"/>
          <p:cNvSpPr txBox="1"/>
          <p:nvPr/>
        </p:nvSpPr>
        <p:spPr bwMode="auto">
          <a:xfrm>
            <a:off x="762000" y="1724025"/>
            <a:ext cx="4804505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500" b="1" i="0" u="none">
                <a:solidFill>
                  <a:srgbClr val="334155"/>
                </a:solidFill>
                <a:latin typeface="Times New Roman"/>
                <a:cs typeface="Times New Roman"/>
              </a:rPr>
              <a:t>4 Kỹ thuật Tối ưu Hóa DSP Cốt lõi</a:t>
            </a:r>
            <a:endParaRPr/>
          </a:p>
        </p:txBody>
      </p:sp>
      <p:sp>
        <p:nvSpPr>
          <p:cNvPr id="1890831287" name="TextBox 33"/>
          <p:cNvSpPr txBox="1"/>
          <p:nvPr/>
        </p:nvSpPr>
        <p:spPr bwMode="auto">
          <a:xfrm>
            <a:off x="7518843" y="2038349"/>
            <a:ext cx="2091983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Luồng Đồ thị Xử lý Tín hiệu</a:t>
            </a:r>
            <a:endParaRPr/>
          </a:p>
        </p:txBody>
      </p:sp>
      <p:sp>
        <p:nvSpPr>
          <p:cNvPr id="110502366" name="TextBox 34"/>
          <p:cNvSpPr txBox="1"/>
          <p:nvPr/>
        </p:nvSpPr>
        <p:spPr bwMode="auto">
          <a:xfrm>
            <a:off x="7888485" y="3333750"/>
            <a:ext cx="1187826" cy="12695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50" b="1" i="0" u="none">
                <a:solidFill>
                  <a:srgbClr val="475569"/>
                </a:solidFill>
                <a:latin typeface="Times New Roman"/>
                <a:cs typeface="Times New Roman"/>
              </a:rPr>
              <a:t>32-bit Float, 48kHz Stereo</a:t>
            </a:r>
            <a:endParaRPr/>
          </a:p>
        </p:txBody>
      </p:sp>
      <p:sp>
        <p:nvSpPr>
          <p:cNvPr id="510217280" name="TextBox 35"/>
          <p:cNvSpPr txBox="1"/>
          <p:nvPr/>
        </p:nvSpPr>
        <p:spPr bwMode="auto">
          <a:xfrm>
            <a:off x="1457325" y="2590800"/>
            <a:ext cx="1074077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Cách ly Stereo</a:t>
            </a:r>
            <a:endParaRPr/>
          </a:p>
        </p:txBody>
      </p:sp>
      <p:sp>
        <p:nvSpPr>
          <p:cNvPr id="1930503011" name="TextBox 36"/>
          <p:cNvSpPr txBox="1"/>
          <p:nvPr/>
        </p:nvSpPr>
        <p:spPr bwMode="auto">
          <a:xfrm>
            <a:off x="1457325" y="2847975"/>
            <a:ext cx="2353208" cy="18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5"/>
              </a:lnSpc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20 bộ lọc IIR độc lập, triệt tiêu méo pha.</a:t>
            </a:r>
            <a:endParaRPr/>
          </a:p>
        </p:txBody>
      </p:sp>
      <p:sp>
        <p:nvSpPr>
          <p:cNvPr id="1729563464" name="TextBox 37"/>
          <p:cNvSpPr txBox="1"/>
          <p:nvPr/>
        </p:nvSpPr>
        <p:spPr bwMode="auto">
          <a:xfrm>
            <a:off x="1457325" y="3638550"/>
            <a:ext cx="1583895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Zero Heap Allocation</a:t>
            </a:r>
            <a:endParaRPr/>
          </a:p>
        </p:txBody>
      </p:sp>
      <p:sp>
        <p:nvSpPr>
          <p:cNvPr id="32500531" name="TextBox 38"/>
          <p:cNvSpPr txBox="1"/>
          <p:nvPr/>
        </p:nvSpPr>
        <p:spPr bwMode="auto">
          <a:xfrm>
            <a:off x="1457325" y="3895725"/>
            <a:ext cx="2720296" cy="18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5"/>
              </a:lnSpc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Cập nhật hệ số tại chỗ, chống khựng âm thanh.</a:t>
            </a:r>
            <a:endParaRPr/>
          </a:p>
        </p:txBody>
      </p:sp>
      <p:sp>
        <p:nvSpPr>
          <p:cNvPr id="1472392351" name="TextBox 39"/>
          <p:cNvSpPr txBox="1"/>
          <p:nvPr/>
        </p:nvSpPr>
        <p:spPr bwMode="auto">
          <a:xfrm>
            <a:off x="1457325" y="4686300"/>
            <a:ext cx="908903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Soft Limiter</a:t>
            </a:r>
            <a:endParaRPr/>
          </a:p>
        </p:txBody>
      </p:sp>
      <p:sp>
        <p:nvSpPr>
          <p:cNvPr id="1327831377" name="TextBox 40"/>
          <p:cNvSpPr txBox="1"/>
          <p:nvPr/>
        </p:nvSpPr>
        <p:spPr bwMode="auto">
          <a:xfrm>
            <a:off x="1457325" y="4943475"/>
            <a:ext cx="2790829" cy="18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5"/>
              </a:lnSpc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Kẹp biên độ tín hiệu, bảo vệ màng loa máy tính.</a:t>
            </a:r>
            <a:endParaRPr/>
          </a:p>
        </p:txBody>
      </p:sp>
      <p:sp>
        <p:nvSpPr>
          <p:cNvPr id="86565414" name="TextBox 41"/>
          <p:cNvSpPr txBox="1"/>
          <p:nvPr/>
        </p:nvSpPr>
        <p:spPr bwMode="auto">
          <a:xfrm>
            <a:off x="1457325" y="5734050"/>
            <a:ext cx="1175065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7 Preset Âm sắc</a:t>
            </a:r>
            <a:endParaRPr/>
          </a:p>
        </p:txBody>
      </p:sp>
      <p:sp>
        <p:nvSpPr>
          <p:cNvPr id="1856111370" name="TextBox 42"/>
          <p:cNvSpPr txBox="1"/>
          <p:nvPr/>
        </p:nvSpPr>
        <p:spPr bwMode="auto">
          <a:xfrm>
            <a:off x="1457325" y="5991225"/>
            <a:ext cx="2665794" cy="18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5"/>
              </a:lnSpc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Tùy biến nhanh: Pop, Rock, Jazz, Bass Boost.</a:t>
            </a:r>
            <a:endParaRPr/>
          </a:p>
        </p:txBody>
      </p:sp>
      <p:sp>
        <p:nvSpPr>
          <p:cNvPr id="388378164" name="TextBox 43"/>
          <p:cNvSpPr txBox="1"/>
          <p:nvPr/>
        </p:nvSpPr>
        <p:spPr bwMode="auto">
          <a:xfrm>
            <a:off x="6650264" y="5657850"/>
            <a:ext cx="1240275" cy="184666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/>
          <a:p>
            <a:pPr algn="ctr">
              <a:defRPr/>
            </a:pPr>
            <a:r>
              <a:rPr sz="1200" b="1" i="0" u="none">
                <a:solidFill>
                  <a:srgbClr val="F8FAFC"/>
                </a:solidFill>
                <a:latin typeface="Times New Roman"/>
                <a:cs typeface="Times New Roman"/>
              </a:rPr>
              <a:t>WaveOutEvent</a:t>
            </a:r>
            <a:endParaRPr/>
          </a:p>
        </p:txBody>
      </p:sp>
      <p:sp>
        <p:nvSpPr>
          <p:cNvPr id="1103662325" name="TextBox 44"/>
          <p:cNvSpPr txBox="1"/>
          <p:nvPr/>
        </p:nvSpPr>
        <p:spPr bwMode="auto">
          <a:xfrm>
            <a:off x="5938018" y="5905500"/>
            <a:ext cx="2664767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0"/>
              </a:lnSpc>
              <a:defRPr/>
            </a:pPr>
            <a:r>
              <a:rPr sz="900" b="0" i="0" u="none">
                <a:solidFill>
                  <a:srgbClr val="F8FAFC"/>
                </a:solidFill>
                <a:latin typeface="Times New Roman"/>
                <a:cs typeface="Times New Roman"/>
              </a:rPr>
              <a:t>Độ trễ 100ms</a:t>
            </a:r>
            <a:br>
              <a:rPr>
                <a:latin typeface="Times New Roman"/>
                <a:cs typeface="Times New Roman"/>
              </a:rPr>
            </a:br>
            <a:r>
              <a:rPr sz="900" b="0" i="0" u="none">
                <a:solidFill>
                  <a:srgbClr val="F8FAFC"/>
                </a:solidFill>
                <a:latin typeface="Times New Roman"/>
                <a:cs typeface="Times New Roman"/>
              </a:rPr>
              <a:t> Direct Hardware DSP</a:t>
            </a:r>
            <a:endParaRPr/>
          </a:p>
        </p:txBody>
      </p:sp>
      <p:sp>
        <p:nvSpPr>
          <p:cNvPr id="1479617433" name="TextBox 45"/>
          <p:cNvSpPr txBox="1"/>
          <p:nvPr/>
        </p:nvSpPr>
        <p:spPr bwMode="auto">
          <a:xfrm>
            <a:off x="9303975" y="5657850"/>
            <a:ext cx="1110882" cy="184666"/>
          </a:xfrm>
          <a:prstGeom prst="rect">
            <a:avLst/>
          </a:prstGeom>
          <a:noFill/>
        </p:spPr>
        <p:txBody>
          <a:bodyPr wrap="none" lIns="209550" tIns="0" rIns="0" bIns="0" anchor="t">
            <a:spAutoFit/>
          </a:bodyPr>
          <a:lstStyle/>
          <a:p>
            <a:pPr algn="ctr">
              <a:defRPr/>
            </a:pPr>
            <a:r>
              <a:rPr sz="1200" b="1" i="0" u="none">
                <a:solidFill>
                  <a:srgbClr val="FFFFFF"/>
                </a:solidFill>
                <a:latin typeface="Times New Roman"/>
                <a:cs typeface="Times New Roman"/>
              </a:rPr>
              <a:t>FftCalculator</a:t>
            </a:r>
            <a:endParaRPr/>
          </a:p>
        </p:txBody>
      </p:sp>
      <p:sp>
        <p:nvSpPr>
          <p:cNvPr id="1272866696" name="TextBox 46"/>
          <p:cNvSpPr txBox="1"/>
          <p:nvPr/>
        </p:nvSpPr>
        <p:spPr bwMode="auto">
          <a:xfrm>
            <a:off x="8527033" y="5905500"/>
            <a:ext cx="2664767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0"/>
              </a:lnSpc>
              <a:defRPr/>
            </a:pPr>
            <a:r>
              <a:rPr sz="900" b="0" i="0" u="none">
                <a:solidFill>
                  <a:srgbClr val="DBEAFE"/>
                </a:solidFill>
                <a:latin typeface="Times New Roman"/>
                <a:cs typeface="Times New Roman"/>
              </a:rPr>
              <a:t>Hanning Window</a:t>
            </a:r>
            <a:br>
              <a:rPr>
                <a:latin typeface="Times New Roman"/>
                <a:cs typeface="Times New Roman"/>
              </a:rPr>
            </a:br>
            <a:r>
              <a:rPr sz="900" b="0" i="0" u="none">
                <a:solidFill>
                  <a:srgbClr val="DBEAFE"/>
                </a:solidFill>
                <a:latin typeface="Times New Roman"/>
                <a:cs typeface="Times New Roman"/>
              </a:rPr>
              <a:t> FFT 1024 điểm</a:t>
            </a:r>
            <a:endParaRPr/>
          </a:p>
        </p:txBody>
      </p:sp>
      <p:sp>
        <p:nvSpPr>
          <p:cNvPr id="828721102" name="Rounded Rectangle 47"/>
          <p:cNvSpPr/>
          <p:nvPr/>
        </p:nvSpPr>
        <p:spPr bwMode="auto">
          <a:xfrm>
            <a:off x="6090195" y="2543175"/>
            <a:ext cx="4949279" cy="695325"/>
          </a:xfrm>
          <a:prstGeom prst="roundRect">
            <a:avLst>
              <a:gd name="adj" fmla="val 10958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30583867" name="Rounded Rectangle 48"/>
          <p:cNvSpPr/>
          <p:nvPr/>
        </p:nvSpPr>
        <p:spPr bwMode="auto">
          <a:xfrm>
            <a:off x="6090195" y="3524250"/>
            <a:ext cx="4949279" cy="695325"/>
          </a:xfrm>
          <a:prstGeom prst="roundRect">
            <a:avLst>
              <a:gd name="adj" fmla="val 10958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84167692" name="Rounded Rectangle 49"/>
          <p:cNvSpPr/>
          <p:nvPr/>
        </p:nvSpPr>
        <p:spPr bwMode="auto">
          <a:xfrm>
            <a:off x="6090195" y="4448175"/>
            <a:ext cx="4949279" cy="695325"/>
          </a:xfrm>
          <a:prstGeom prst="roundRect">
            <a:avLst>
              <a:gd name="adj" fmla="val 10958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1196566291" name="Picture 50" descr="image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7745610" y="2714625"/>
            <a:ext cx="133350" cy="171450"/>
          </a:xfrm>
          <a:prstGeom prst="rect">
            <a:avLst/>
          </a:prstGeom>
        </p:spPr>
      </p:pic>
      <p:pic>
        <p:nvPicPr>
          <p:cNvPr id="2124650907" name="Picture 51" descr="image.png"/>
          <p:cNvPicPr>
            <a:picLocks noChangeAspect="1"/>
          </p:cNvPicPr>
          <p:nvPr/>
        </p:nvPicPr>
        <p:blipFill rotWithShape="1">
          <a:blip r:embed="rId15"/>
          <a:stretch/>
        </p:blipFill>
        <p:spPr bwMode="auto">
          <a:xfrm>
            <a:off x="7202685" y="3695700"/>
            <a:ext cx="219074" cy="171450"/>
          </a:xfrm>
          <a:prstGeom prst="rect">
            <a:avLst/>
          </a:prstGeom>
        </p:spPr>
      </p:pic>
      <p:pic>
        <p:nvPicPr>
          <p:cNvPr id="1745111528" name="Picture 52" descr="image.png"/>
          <p:cNvPicPr>
            <a:picLocks noChangeAspect="1"/>
          </p:cNvPicPr>
          <p:nvPr/>
        </p:nvPicPr>
        <p:blipFill rotWithShape="1">
          <a:blip r:embed="rId16"/>
          <a:stretch/>
        </p:blipFill>
        <p:spPr bwMode="auto">
          <a:xfrm>
            <a:off x="7655123" y="4619625"/>
            <a:ext cx="190500" cy="171450"/>
          </a:xfrm>
          <a:prstGeom prst="rect">
            <a:avLst/>
          </a:prstGeom>
        </p:spPr>
      </p:pic>
      <p:sp>
        <p:nvSpPr>
          <p:cNvPr id="1606032417" name="TextBox 53"/>
          <p:cNvSpPr txBox="1"/>
          <p:nvPr/>
        </p:nvSpPr>
        <p:spPr bwMode="auto">
          <a:xfrm>
            <a:off x="7792155" y="2695575"/>
            <a:ext cx="1545359" cy="207749"/>
          </a:xfrm>
          <a:prstGeom prst="rect">
            <a:avLst/>
          </a:prstGeom>
          <a:noFill/>
        </p:spPr>
        <p:txBody>
          <a:bodyPr wrap="none" lIns="209550" tIns="0" rIns="0" bIns="0" anchor="t">
            <a:spAutoFit/>
          </a:bodyPr>
          <a:lstStyle/>
          <a:p>
            <a:pPr algn="ctr">
              <a:defRPr/>
            </a:pPr>
            <a:r>
              <a:rPr sz="1350" b="1" i="0" u="none">
                <a:solidFill>
                  <a:srgbClr val="F8FAFC"/>
                </a:solidFill>
                <a:latin typeface="Times New Roman"/>
                <a:cs typeface="Times New Roman"/>
              </a:rPr>
              <a:t>Nguồn Âm Thanh</a:t>
            </a:r>
            <a:endParaRPr/>
          </a:p>
        </p:txBody>
      </p:sp>
      <p:sp>
        <p:nvSpPr>
          <p:cNvPr id="1654131288" name="TextBox 54"/>
          <p:cNvSpPr txBox="1"/>
          <p:nvPr/>
        </p:nvSpPr>
        <p:spPr bwMode="auto">
          <a:xfrm>
            <a:off x="7465174" y="2933699"/>
            <a:ext cx="2199320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1000" b="0" i="0" u="none">
                <a:solidFill>
                  <a:srgbClr val="CBD5E1"/>
                </a:solidFill>
                <a:latin typeface="Times New Roman"/>
                <a:cs typeface="Times New Roman"/>
              </a:rPr>
              <a:t>AudioFileReader</a:t>
            </a:r>
            <a:r>
              <a:rPr sz="1000" b="0" i="0" u="none">
                <a:solidFill>
                  <a:srgbClr val="CBD5E1"/>
                </a:solidFill>
                <a:latin typeface="Times New Roman"/>
                <a:cs typeface="Times New Roman"/>
              </a:rPr>
              <a:t> (</a:t>
            </a:r>
            <a:r>
              <a:rPr sz="1000" b="0" i="0" u="none">
                <a:solidFill>
                  <a:srgbClr val="CBD5E1"/>
                </a:solidFill>
                <a:latin typeface="Times New Roman"/>
                <a:cs typeface="Times New Roman"/>
              </a:rPr>
              <a:t>Đĩa</a:t>
            </a:r>
            <a:r>
              <a:rPr sz="1000" b="0" i="0" u="none">
                <a:solidFill>
                  <a:srgbClr val="CBD5E1"/>
                </a:solidFill>
                <a:latin typeface="Times New Roman"/>
                <a:cs typeface="Times New Roman"/>
              </a:rPr>
              <a:t>) / HTTP 206 (</a:t>
            </a:r>
            <a:r>
              <a:rPr sz="1000" b="0" i="0" u="none">
                <a:solidFill>
                  <a:srgbClr val="CBD5E1"/>
                </a:solidFill>
                <a:latin typeface="Times New Roman"/>
                <a:cs typeface="Times New Roman"/>
              </a:rPr>
              <a:t>Mạng</a:t>
            </a:r>
            <a:r>
              <a:rPr sz="1000" b="0" i="0" u="none">
                <a:solidFill>
                  <a:srgbClr val="CBD5E1"/>
                </a:solidFill>
                <a:latin typeface="Times New Roman"/>
                <a:cs typeface="Times New Roman"/>
              </a:rPr>
              <a:t>)</a:t>
            </a:r>
            <a:endParaRPr/>
          </a:p>
        </p:txBody>
      </p:sp>
      <p:sp>
        <p:nvSpPr>
          <p:cNvPr id="429466810" name="TextBox 55"/>
          <p:cNvSpPr txBox="1"/>
          <p:nvPr/>
        </p:nvSpPr>
        <p:spPr bwMode="auto">
          <a:xfrm>
            <a:off x="7311254" y="3676650"/>
            <a:ext cx="2507161" cy="207749"/>
          </a:xfrm>
          <a:prstGeom prst="rect">
            <a:avLst/>
          </a:prstGeom>
          <a:noFill/>
        </p:spPr>
        <p:txBody>
          <a:bodyPr wrap="none" lIns="295274" tIns="0" rIns="0" bIns="0" anchor="t">
            <a:spAutoFit/>
          </a:bodyPr>
          <a:lstStyle/>
          <a:p>
            <a:pPr algn="ctr">
              <a:defRPr/>
            </a:pPr>
            <a:r>
              <a:rPr sz="1350" b="1" i="0" u="none">
                <a:solidFill>
                  <a:srgbClr val="FFFFFF"/>
                </a:solidFill>
                <a:latin typeface="Times New Roman"/>
                <a:cs typeface="Times New Roman"/>
              </a:rPr>
              <a:t>DspEqualizerSampleProvider</a:t>
            </a:r>
            <a:endParaRPr/>
          </a:p>
        </p:txBody>
      </p:sp>
      <p:sp>
        <p:nvSpPr>
          <p:cNvPr id="760268469" name="TextBox 56"/>
          <p:cNvSpPr txBox="1"/>
          <p:nvPr/>
        </p:nvSpPr>
        <p:spPr bwMode="auto">
          <a:xfrm>
            <a:off x="7538912" y="3914775"/>
            <a:ext cx="2051844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1000" b="0" i="0" u="none">
                <a:solidFill>
                  <a:srgbClr val="DDD6FE"/>
                </a:solidFill>
                <a:latin typeface="Times New Roman"/>
                <a:cs typeface="Times New Roman"/>
              </a:rPr>
              <a:t>Bộ lọc 10-Band Bi-quad IIR (Q = 1.414)</a:t>
            </a:r>
            <a:endParaRPr/>
          </a:p>
        </p:txBody>
      </p:sp>
      <p:sp>
        <p:nvSpPr>
          <p:cNvPr id="1763994204" name="TextBox 57"/>
          <p:cNvSpPr txBox="1"/>
          <p:nvPr/>
        </p:nvSpPr>
        <p:spPr bwMode="auto">
          <a:xfrm>
            <a:off x="7734446" y="4600575"/>
            <a:ext cx="1660776" cy="207749"/>
          </a:xfrm>
          <a:prstGeom prst="rect">
            <a:avLst/>
          </a:prstGeom>
          <a:noFill/>
        </p:spPr>
        <p:txBody>
          <a:bodyPr wrap="none" lIns="266700" tIns="0" rIns="0" bIns="0" anchor="t">
            <a:spAutoFit/>
          </a:bodyPr>
          <a:lstStyle/>
          <a:p>
            <a:pPr algn="ctr">
              <a:defRPr/>
            </a:pPr>
            <a:r>
              <a:rPr sz="1350" b="1" i="0" u="none">
                <a:solidFill>
                  <a:srgbClr val="F8FAFC"/>
                </a:solidFill>
                <a:latin typeface="Times New Roman"/>
                <a:cs typeface="Times New Roman"/>
              </a:rPr>
              <a:t>SampleAggregator</a:t>
            </a:r>
            <a:endParaRPr/>
          </a:p>
        </p:txBody>
      </p:sp>
      <p:sp>
        <p:nvSpPr>
          <p:cNvPr id="281512442" name="TextBox 58"/>
          <p:cNvSpPr txBox="1"/>
          <p:nvPr/>
        </p:nvSpPr>
        <p:spPr bwMode="auto">
          <a:xfrm>
            <a:off x="7409069" y="4838700"/>
            <a:ext cx="2311530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1000" b="0" i="0" u="none">
                <a:solidFill>
                  <a:srgbClr val="F8FAFC"/>
                </a:solidFill>
                <a:latin typeface="Times New Roman"/>
                <a:cs typeface="Times New Roman"/>
              </a:rPr>
              <a:t>Cầu nối thu thập tĩnh (Ring Buffer 2048 mẫu)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7500560" name="Rounded Rectangle 2"/>
          <p:cNvSpPr/>
          <p:nvPr/>
        </p:nvSpPr>
        <p:spPr bwMode="auto">
          <a:xfrm>
            <a:off x="762000" y="1724025"/>
            <a:ext cx="5486400" cy="4739282"/>
          </a:xfrm>
          <a:prstGeom prst="roundRect">
            <a:avLst>
              <a:gd name="adj" fmla="val 3215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62181218" name="Rounded Rectangle 3"/>
          <p:cNvSpPr/>
          <p:nvPr/>
        </p:nvSpPr>
        <p:spPr bwMode="auto">
          <a:xfrm>
            <a:off x="6705600" y="1724025"/>
            <a:ext cx="4724399" cy="1874341"/>
          </a:xfrm>
          <a:prstGeom prst="roundRect">
            <a:avLst>
              <a:gd name="adj" fmla="val 609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88131593" name="Rounded Rectangle 4"/>
          <p:cNvSpPr/>
          <p:nvPr/>
        </p:nvSpPr>
        <p:spPr bwMode="auto">
          <a:xfrm>
            <a:off x="6705600" y="3826966"/>
            <a:ext cx="4724399" cy="2636341"/>
          </a:xfrm>
          <a:prstGeom prst="roundRect">
            <a:avLst>
              <a:gd name="adj" fmla="val 433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45740149" name="Rectangle 5"/>
          <p:cNvSpPr/>
          <p:nvPr/>
        </p:nvSpPr>
        <p:spPr bwMode="auto">
          <a:xfrm>
            <a:off x="6705600" y="1724025"/>
            <a:ext cx="38100" cy="187434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75629679" name="Rectangle 6"/>
          <p:cNvSpPr/>
          <p:nvPr/>
        </p:nvSpPr>
        <p:spPr bwMode="auto">
          <a:xfrm>
            <a:off x="6705600" y="3826966"/>
            <a:ext cx="38100" cy="263634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1127952181" name="Picture 8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43000" y="4518421"/>
            <a:ext cx="4724399" cy="1011435"/>
          </a:xfrm>
          <a:prstGeom prst="rect">
            <a:avLst/>
          </a:prstGeom>
        </p:spPr>
      </p:pic>
      <p:pic>
        <p:nvPicPr>
          <p:cNvPr id="1038876824" name="Picture 9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143000" y="2681138"/>
            <a:ext cx="285750" cy="228600"/>
          </a:xfrm>
          <a:prstGeom prst="rect">
            <a:avLst/>
          </a:prstGeom>
        </p:spPr>
      </p:pic>
      <p:pic>
        <p:nvPicPr>
          <p:cNvPr id="433576469" name="Picture 10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1933277" y="4832746"/>
            <a:ext cx="3143696" cy="382785"/>
          </a:xfrm>
          <a:prstGeom prst="rect">
            <a:avLst/>
          </a:prstGeom>
        </p:spPr>
      </p:pic>
      <p:pic>
        <p:nvPicPr>
          <p:cNvPr id="1078800867" name="Picture 11" descr="imag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048500" y="2047875"/>
            <a:ext cx="171450" cy="190500"/>
          </a:xfrm>
          <a:prstGeom prst="rect">
            <a:avLst/>
          </a:prstGeom>
        </p:spPr>
      </p:pic>
      <p:pic>
        <p:nvPicPr>
          <p:cNvPr id="1660570782" name="Picture 12" descr="image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7048500" y="4150815"/>
            <a:ext cx="190500" cy="190500"/>
          </a:xfrm>
          <a:prstGeom prst="rect">
            <a:avLst/>
          </a:prstGeom>
        </p:spPr>
      </p:pic>
      <p:pic>
        <p:nvPicPr>
          <p:cNvPr id="161492684" name="Picture 13" descr="image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8820150" y="5625107"/>
            <a:ext cx="533400" cy="533400"/>
          </a:xfrm>
          <a:prstGeom prst="rect">
            <a:avLst/>
          </a:prstGeom>
        </p:spPr>
      </p:pic>
      <p:sp>
        <p:nvSpPr>
          <p:cNvPr id="1967493192" name="TextBox 14"/>
          <p:cNvSpPr txBox="1"/>
          <p:nvPr/>
        </p:nvSpPr>
        <p:spPr bwMode="auto">
          <a:xfrm>
            <a:off x="0" y="6858000"/>
            <a:ext cx="1943545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cs typeface="Times New Roman"/>
              </a:rPr>
              <a:t>Giao tiếp qua HTTP Loopback.</a:t>
            </a:r>
            <a:endParaRPr/>
          </a:p>
        </p:txBody>
      </p:sp>
      <p:sp>
        <p:nvSpPr>
          <p:cNvPr id="767679663" name="TextBox 17"/>
          <p:cNvSpPr txBox="1"/>
          <p:nvPr/>
        </p:nvSpPr>
        <p:spPr bwMode="auto">
          <a:xfrm>
            <a:off x="762000" y="885825"/>
            <a:ext cx="6877780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  <a:defRPr/>
            </a:pPr>
            <a:r>
              <a:rPr sz="3000" b="1" i="0" u="none">
                <a:solidFill>
                  <a:srgbClr val="0F172A"/>
                </a:solidFill>
                <a:latin typeface="Times New Roman"/>
                <a:cs typeface="Times New Roman"/>
              </a:rPr>
              <a:t>Phân tích Phổ FFT &amp; Trực quan Đĩa than</a:t>
            </a:r>
            <a:endParaRPr/>
          </a:p>
        </p:txBody>
      </p:sp>
      <p:sp>
        <p:nvSpPr>
          <p:cNvPr id="2048669207" name="TextBox 18"/>
          <p:cNvSpPr txBox="1"/>
          <p:nvPr/>
        </p:nvSpPr>
        <p:spPr bwMode="auto">
          <a:xfrm>
            <a:off x="1543050" y="2656939"/>
            <a:ext cx="2688878" cy="2769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defRPr/>
            </a:pPr>
            <a:r>
              <a:rPr sz="1800" b="1" i="0" u="none">
                <a:solidFill>
                  <a:srgbClr val="3B82F6"/>
                </a:solidFill>
                <a:latin typeface="Times New Roman"/>
                <a:cs typeface="Times New Roman"/>
              </a:rPr>
              <a:t>Thuật toán FFT 1024 Điểm</a:t>
            </a:r>
            <a:endParaRPr/>
          </a:p>
        </p:txBody>
      </p:sp>
      <p:sp>
        <p:nvSpPr>
          <p:cNvPr id="308543116" name="TextBox 19"/>
          <p:cNvSpPr txBox="1"/>
          <p:nvPr/>
        </p:nvSpPr>
        <p:spPr bwMode="auto">
          <a:xfrm>
            <a:off x="1276350" y="3161198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459567876" name="TextBox 20"/>
          <p:cNvSpPr txBox="1"/>
          <p:nvPr/>
        </p:nvSpPr>
        <p:spPr bwMode="auto">
          <a:xfrm>
            <a:off x="1371600" y="3162151"/>
            <a:ext cx="3068148" cy="252185"/>
          </a:xfrm>
          <a:prstGeom prst="rect">
            <a:avLst/>
          </a:prstGeom>
          <a:noFill/>
        </p:spPr>
        <p:txBody>
          <a:bodyPr wrap="none" lIns="95250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CBD5E1"/>
                </a:solidFill>
                <a:latin typeface="Times New Roman"/>
                <a:cs typeface="Times New Roman"/>
              </a:rPr>
              <a:t>Radix-2: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Biến đổi 1024 mẫu sang phổ tần.</a:t>
            </a:r>
            <a:endParaRPr/>
          </a:p>
        </p:txBody>
      </p:sp>
      <p:sp>
        <p:nvSpPr>
          <p:cNvPr id="2052602742" name="TextBox 21"/>
          <p:cNvSpPr txBox="1"/>
          <p:nvPr/>
        </p:nvSpPr>
        <p:spPr bwMode="auto">
          <a:xfrm>
            <a:off x="1276350" y="3549788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798771170" name="TextBox 22"/>
          <p:cNvSpPr txBox="1"/>
          <p:nvPr/>
        </p:nvSpPr>
        <p:spPr bwMode="auto">
          <a:xfrm>
            <a:off x="1371600" y="3550741"/>
            <a:ext cx="3274935" cy="252185"/>
          </a:xfrm>
          <a:prstGeom prst="rect">
            <a:avLst/>
          </a:prstGeom>
          <a:noFill/>
        </p:spPr>
        <p:txBody>
          <a:bodyPr wrap="none" lIns="95250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CBD5E1"/>
                </a:solidFill>
                <a:latin typeface="Times New Roman"/>
                <a:cs typeface="Times New Roman"/>
              </a:rPr>
              <a:t>Thang Logarit: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16 cột sóng theo độ nhạy tai.</a:t>
            </a:r>
            <a:endParaRPr/>
          </a:p>
        </p:txBody>
      </p:sp>
      <p:sp>
        <p:nvSpPr>
          <p:cNvPr id="1851399809" name="TextBox 23"/>
          <p:cNvSpPr txBox="1"/>
          <p:nvPr/>
        </p:nvSpPr>
        <p:spPr bwMode="auto">
          <a:xfrm>
            <a:off x="1276350" y="3938379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854419964" name="TextBox 24"/>
          <p:cNvSpPr txBox="1"/>
          <p:nvPr/>
        </p:nvSpPr>
        <p:spPr bwMode="auto">
          <a:xfrm>
            <a:off x="1371600" y="3939331"/>
            <a:ext cx="2711063" cy="252185"/>
          </a:xfrm>
          <a:prstGeom prst="rect">
            <a:avLst/>
          </a:prstGeom>
          <a:noFill/>
        </p:spPr>
        <p:txBody>
          <a:bodyPr wrap="none" lIns="95250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CBD5E1"/>
                </a:solidFill>
                <a:latin typeface="Times New Roman"/>
                <a:cs typeface="Times New Roman"/>
              </a:rPr>
              <a:t>Cửa sổ Hanning: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Triệt tiêu rò rỉ phổ.</a:t>
            </a:r>
            <a:endParaRPr/>
          </a:p>
        </p:txBody>
      </p:sp>
      <p:sp>
        <p:nvSpPr>
          <p:cNvPr id="825404439" name="TextBox 25"/>
          <p:cNvSpPr txBox="1"/>
          <p:nvPr/>
        </p:nvSpPr>
        <p:spPr bwMode="auto">
          <a:xfrm>
            <a:off x="7334250" y="2027709"/>
            <a:ext cx="2397836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defRPr/>
            </a:pPr>
            <a:r>
              <a:rPr sz="1500" b="1" i="0" u="none">
                <a:solidFill>
                  <a:srgbClr val="0F172A"/>
                </a:solidFill>
                <a:latin typeface="Times New Roman"/>
                <a:cs typeface="Times New Roman"/>
              </a:rPr>
              <a:t>Điều tiết Sự kiện (Throttling)</a:t>
            </a:r>
            <a:endParaRPr/>
          </a:p>
        </p:txBody>
      </p:sp>
      <p:sp>
        <p:nvSpPr>
          <p:cNvPr id="270434965" name="TextBox 26"/>
          <p:cNvSpPr txBox="1"/>
          <p:nvPr/>
        </p:nvSpPr>
        <p:spPr bwMode="auto">
          <a:xfrm>
            <a:off x="7353300" y="4130650"/>
            <a:ext cx="215642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defRPr/>
            </a:pPr>
            <a:r>
              <a:rPr sz="1500" b="1" i="0" u="none">
                <a:solidFill>
                  <a:srgbClr val="0F172A"/>
                </a:solidFill>
                <a:latin typeface="Times New Roman"/>
                <a:cs typeface="Times New Roman"/>
              </a:rPr>
              <a:t>Hoạt cảnh Đĩa Than Vinyl</a:t>
            </a:r>
            <a:endParaRPr/>
          </a:p>
        </p:txBody>
      </p:sp>
      <p:sp>
        <p:nvSpPr>
          <p:cNvPr id="28364038" name="TextBox 27"/>
          <p:cNvSpPr txBox="1"/>
          <p:nvPr/>
        </p:nvSpPr>
        <p:spPr bwMode="auto">
          <a:xfrm>
            <a:off x="7191375" y="240792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2006081425" name="TextBox 28"/>
          <p:cNvSpPr txBox="1"/>
          <p:nvPr/>
        </p:nvSpPr>
        <p:spPr bwMode="auto">
          <a:xfrm>
            <a:off x="7277100" y="2409825"/>
            <a:ext cx="2383666" cy="218778"/>
          </a:xfrm>
          <a:prstGeom prst="rect">
            <a:avLst/>
          </a:prstGeom>
          <a:noFill/>
        </p:spPr>
        <p:txBody>
          <a:bodyPr wrap="none" lIns="85725" tIns="0" rIns="0" bIns="0" anchor="t">
            <a:spAutoFit/>
          </a:bodyPr>
          <a:lstStyle/>
          <a:p>
            <a:pPr algn="l">
              <a:lnSpc>
                <a:spcPts val="1920"/>
              </a:lnSpc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Giới hạn cập nhật UI 33ms (30 FPS).</a:t>
            </a:r>
            <a:endParaRPr/>
          </a:p>
        </p:txBody>
      </p:sp>
      <p:sp>
        <p:nvSpPr>
          <p:cNvPr id="116232194" name="TextBox 29"/>
          <p:cNvSpPr txBox="1"/>
          <p:nvPr/>
        </p:nvSpPr>
        <p:spPr bwMode="auto">
          <a:xfrm>
            <a:off x="7191375" y="272790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073862068" name="TextBox 30"/>
          <p:cNvSpPr txBox="1"/>
          <p:nvPr/>
        </p:nvSpPr>
        <p:spPr bwMode="auto">
          <a:xfrm>
            <a:off x="7277100" y="2729805"/>
            <a:ext cx="2253822" cy="218778"/>
          </a:xfrm>
          <a:prstGeom prst="rect">
            <a:avLst/>
          </a:prstGeom>
          <a:noFill/>
        </p:spPr>
        <p:txBody>
          <a:bodyPr wrap="none" lIns="85725" tIns="0" rIns="0" bIns="0" anchor="t">
            <a:spAutoFit/>
          </a:bodyPr>
          <a:lstStyle/>
          <a:p>
            <a:pPr algn="l">
              <a:lnSpc>
                <a:spcPts val="1920"/>
              </a:lnSpc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Giải phóng luồng WPF Dispatcher.</a:t>
            </a:r>
            <a:endParaRPr/>
          </a:p>
        </p:txBody>
      </p:sp>
      <p:sp>
        <p:nvSpPr>
          <p:cNvPr id="873486434" name="TextBox 31"/>
          <p:cNvSpPr txBox="1"/>
          <p:nvPr/>
        </p:nvSpPr>
        <p:spPr bwMode="auto">
          <a:xfrm>
            <a:off x="7191375" y="304788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844304063" name="TextBox 32"/>
          <p:cNvSpPr txBox="1"/>
          <p:nvPr/>
        </p:nvSpPr>
        <p:spPr bwMode="auto">
          <a:xfrm>
            <a:off x="7277100" y="3049785"/>
            <a:ext cx="2621615" cy="218778"/>
          </a:xfrm>
          <a:prstGeom prst="rect">
            <a:avLst/>
          </a:prstGeom>
          <a:noFill/>
        </p:spPr>
        <p:txBody>
          <a:bodyPr wrap="none" lIns="85725" tIns="0" rIns="0" bIns="0" anchor="t">
            <a:spAutoFit/>
          </a:bodyPr>
          <a:lstStyle/>
          <a:p>
            <a:pPr algn="l">
              <a:lnSpc>
                <a:spcPts val="1920"/>
              </a:lnSpc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Chống tải hàng đợi thông điệp Windows.</a:t>
            </a:r>
            <a:endParaRPr/>
          </a:p>
        </p:txBody>
      </p:sp>
      <p:sp>
        <p:nvSpPr>
          <p:cNvPr id="965121556" name="TextBox 33"/>
          <p:cNvSpPr txBox="1"/>
          <p:nvPr/>
        </p:nvSpPr>
        <p:spPr bwMode="auto">
          <a:xfrm>
            <a:off x="7191375" y="4510861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713388654" name="TextBox 34"/>
          <p:cNvSpPr txBox="1"/>
          <p:nvPr/>
        </p:nvSpPr>
        <p:spPr bwMode="auto">
          <a:xfrm>
            <a:off x="7277100" y="4512766"/>
            <a:ext cx="2257734" cy="218778"/>
          </a:xfrm>
          <a:prstGeom prst="rect">
            <a:avLst/>
          </a:prstGeom>
          <a:noFill/>
        </p:spPr>
        <p:txBody>
          <a:bodyPr wrap="none" lIns="85725" tIns="0" rIns="0" bIns="0" anchor="t">
            <a:spAutoFit/>
          </a:bodyPr>
          <a:lstStyle/>
          <a:p>
            <a:pPr algn="l">
              <a:lnSpc>
                <a:spcPts val="1920"/>
              </a:lnSpc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Xoay 360° qua XAML Storyboard.</a:t>
            </a:r>
            <a:endParaRPr/>
          </a:p>
        </p:txBody>
      </p:sp>
      <p:sp>
        <p:nvSpPr>
          <p:cNvPr id="30522162" name="TextBox 35"/>
          <p:cNvSpPr txBox="1"/>
          <p:nvPr/>
        </p:nvSpPr>
        <p:spPr bwMode="auto">
          <a:xfrm>
            <a:off x="7191375" y="4830841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408648821" name="TextBox 36"/>
          <p:cNvSpPr txBox="1"/>
          <p:nvPr/>
        </p:nvSpPr>
        <p:spPr bwMode="auto">
          <a:xfrm>
            <a:off x="7277100" y="4832746"/>
            <a:ext cx="2503891" cy="218778"/>
          </a:xfrm>
          <a:prstGeom prst="rect">
            <a:avLst/>
          </a:prstGeom>
          <a:noFill/>
        </p:spPr>
        <p:txBody>
          <a:bodyPr wrap="none" lIns="85725" tIns="0" rIns="0" bIns="0" anchor="t">
            <a:spAutoFit/>
          </a:bodyPr>
          <a:lstStyle/>
          <a:p>
            <a:pPr algn="l">
              <a:lnSpc>
                <a:spcPts val="1920"/>
              </a:lnSpc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Đồng bộ máy trạng thái PlaybackState.</a:t>
            </a:r>
            <a:endParaRPr/>
          </a:p>
        </p:txBody>
      </p:sp>
      <p:sp>
        <p:nvSpPr>
          <p:cNvPr id="1926345457" name="TextBox 37"/>
          <p:cNvSpPr txBox="1"/>
          <p:nvPr/>
        </p:nvSpPr>
        <p:spPr bwMode="auto">
          <a:xfrm>
            <a:off x="7191375" y="5150822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490143872" name="TextBox 38"/>
          <p:cNvSpPr txBox="1"/>
          <p:nvPr/>
        </p:nvSpPr>
        <p:spPr bwMode="auto">
          <a:xfrm>
            <a:off x="7277100" y="5152726"/>
            <a:ext cx="2585644" cy="218778"/>
          </a:xfrm>
          <a:prstGeom prst="rect">
            <a:avLst/>
          </a:prstGeom>
          <a:noFill/>
        </p:spPr>
        <p:txBody>
          <a:bodyPr wrap="none" lIns="85725" tIns="0" rIns="0" bIns="0" anchor="t">
            <a:spAutoFit/>
          </a:bodyPr>
          <a:lstStyle/>
          <a:p>
            <a:pPr algn="l">
              <a:lnSpc>
                <a:spcPts val="1920"/>
              </a:lnSpc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Hỗ trợ Spotify Green &amp; Rainbow Mode.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825973" name="Rounded Rectangle 2"/>
          <p:cNvSpPr/>
          <p:nvPr/>
        </p:nvSpPr>
        <p:spPr bwMode="auto">
          <a:xfrm>
            <a:off x="160786" y="1373238"/>
            <a:ext cx="6907555" cy="5004790"/>
          </a:xfrm>
          <a:prstGeom prst="roundRect">
            <a:avLst>
              <a:gd name="adj" fmla="val 22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8546828" name="Rounded Rectangle 3"/>
          <p:cNvSpPr/>
          <p:nvPr/>
        </p:nvSpPr>
        <p:spPr bwMode="auto">
          <a:xfrm>
            <a:off x="7249718" y="1347489"/>
            <a:ext cx="4480470" cy="3076574"/>
          </a:xfrm>
          <a:prstGeom prst="roundRect">
            <a:avLst>
              <a:gd name="adj" fmla="val 3715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38444719" name="Rounded Rectangle 4"/>
          <p:cNvSpPr/>
          <p:nvPr/>
        </p:nvSpPr>
        <p:spPr bwMode="auto">
          <a:xfrm>
            <a:off x="7249718" y="4834919"/>
            <a:ext cx="4480470" cy="1674316"/>
          </a:xfrm>
          <a:prstGeom prst="roundRect">
            <a:avLst>
              <a:gd name="adj" fmla="val 455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12703839" name="Rounded Rectangle 5"/>
          <p:cNvSpPr/>
          <p:nvPr/>
        </p:nvSpPr>
        <p:spPr bwMode="auto">
          <a:xfrm>
            <a:off x="1076325" y="2543175"/>
            <a:ext cx="1619250" cy="1179016"/>
          </a:xfrm>
          <a:prstGeom prst="roundRect">
            <a:avLst>
              <a:gd name="adj" fmla="val 6463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91521312" name="Rounded Rectangle 6"/>
          <p:cNvSpPr/>
          <p:nvPr/>
        </p:nvSpPr>
        <p:spPr bwMode="auto">
          <a:xfrm>
            <a:off x="3228975" y="2543175"/>
            <a:ext cx="1619250" cy="1179016"/>
          </a:xfrm>
          <a:prstGeom prst="roundRect">
            <a:avLst>
              <a:gd name="adj" fmla="val 6463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634726911" name="Rounded Rectangle 7"/>
          <p:cNvSpPr/>
          <p:nvPr/>
        </p:nvSpPr>
        <p:spPr bwMode="auto">
          <a:xfrm>
            <a:off x="5353050" y="2543175"/>
            <a:ext cx="1619250" cy="1179016"/>
          </a:xfrm>
          <a:prstGeom prst="roundRect">
            <a:avLst>
              <a:gd name="adj" fmla="val 6463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141826500" name="Rounded Rectangle 10"/>
          <p:cNvSpPr/>
          <p:nvPr/>
        </p:nvSpPr>
        <p:spPr bwMode="auto">
          <a:xfrm>
            <a:off x="3584303" y="4325987"/>
            <a:ext cx="1619250" cy="1179016"/>
          </a:xfrm>
          <a:prstGeom prst="roundRect">
            <a:avLst>
              <a:gd name="adj" fmla="val 6463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21133097" name="Rounded Rectangle 11"/>
          <p:cNvSpPr/>
          <p:nvPr/>
        </p:nvSpPr>
        <p:spPr bwMode="auto">
          <a:xfrm>
            <a:off x="5972175" y="4329112"/>
            <a:ext cx="1619250" cy="1179016"/>
          </a:xfrm>
          <a:prstGeom prst="roundRect">
            <a:avLst>
              <a:gd name="adj" fmla="val 6463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83452064" name="Rectangle 12"/>
          <p:cNvSpPr/>
          <p:nvPr/>
        </p:nvSpPr>
        <p:spPr bwMode="auto">
          <a:xfrm>
            <a:off x="7743825" y="6693991"/>
            <a:ext cx="44804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14139667" name="Rectangle 13"/>
          <p:cNvSpPr/>
          <p:nvPr/>
        </p:nvSpPr>
        <p:spPr bwMode="auto">
          <a:xfrm>
            <a:off x="7743825" y="5029200"/>
            <a:ext cx="44804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22312088" name="Rectangle 14"/>
          <p:cNvSpPr/>
          <p:nvPr/>
        </p:nvSpPr>
        <p:spPr bwMode="auto">
          <a:xfrm>
            <a:off x="7743825" y="5029200"/>
            <a:ext cx="38100" cy="167431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69257195" name="Rectangle 15"/>
          <p:cNvSpPr/>
          <p:nvPr/>
        </p:nvSpPr>
        <p:spPr bwMode="auto">
          <a:xfrm>
            <a:off x="12214770" y="5029200"/>
            <a:ext cx="9525" cy="16743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41826076" name="Rectangle 16"/>
          <p:cNvSpPr/>
          <p:nvPr/>
        </p:nvSpPr>
        <p:spPr bwMode="auto">
          <a:xfrm>
            <a:off x="1085850" y="2552700"/>
            <a:ext cx="1600200" cy="31432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20962168" name="Rectangle 17"/>
          <p:cNvSpPr/>
          <p:nvPr/>
        </p:nvSpPr>
        <p:spPr bwMode="auto">
          <a:xfrm>
            <a:off x="3238500" y="2552700"/>
            <a:ext cx="1600200" cy="314325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892163875" name="Rectangle 18"/>
          <p:cNvSpPr/>
          <p:nvPr/>
        </p:nvSpPr>
        <p:spPr bwMode="auto">
          <a:xfrm>
            <a:off x="5362575" y="2552700"/>
            <a:ext cx="1600200" cy="31432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608370719" name="Rectangle 19"/>
          <p:cNvSpPr/>
          <p:nvPr/>
        </p:nvSpPr>
        <p:spPr bwMode="auto">
          <a:xfrm>
            <a:off x="3593828" y="4335512"/>
            <a:ext cx="1600200" cy="3143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79577148" name="Rectangle 20"/>
          <p:cNvSpPr/>
          <p:nvPr/>
        </p:nvSpPr>
        <p:spPr bwMode="auto">
          <a:xfrm>
            <a:off x="5981700" y="4338637"/>
            <a:ext cx="1600200" cy="3143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93344099" name="Rectangle 21"/>
          <p:cNvSpPr/>
          <p:nvPr/>
        </p:nvSpPr>
        <p:spPr bwMode="auto">
          <a:xfrm>
            <a:off x="8048625" y="2486025"/>
            <a:ext cx="3870870" cy="3048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89294452" name="Rectangle 22"/>
          <p:cNvSpPr/>
          <p:nvPr/>
        </p:nvSpPr>
        <p:spPr bwMode="auto">
          <a:xfrm>
            <a:off x="8048625" y="2486025"/>
            <a:ext cx="28575" cy="304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17568657" name="Rectangle 23"/>
          <p:cNvSpPr/>
          <p:nvPr/>
        </p:nvSpPr>
        <p:spPr bwMode="auto">
          <a:xfrm>
            <a:off x="8048625" y="3219449"/>
            <a:ext cx="3870870" cy="3048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6985442" name="Rectangle 24"/>
          <p:cNvSpPr/>
          <p:nvPr/>
        </p:nvSpPr>
        <p:spPr bwMode="auto">
          <a:xfrm>
            <a:off x="8048625" y="3219449"/>
            <a:ext cx="28575" cy="304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64861824" name="Rectangle 25"/>
          <p:cNvSpPr/>
          <p:nvPr/>
        </p:nvSpPr>
        <p:spPr bwMode="auto">
          <a:xfrm>
            <a:off x="8048625" y="3952875"/>
            <a:ext cx="3870870" cy="3048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28067333" name="Rectangle 26"/>
          <p:cNvSpPr/>
          <p:nvPr/>
        </p:nvSpPr>
        <p:spPr bwMode="auto">
          <a:xfrm>
            <a:off x="8048625" y="3952875"/>
            <a:ext cx="28575" cy="304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217772177" name="Picture 28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048625" y="2047875"/>
            <a:ext cx="190500" cy="190500"/>
          </a:xfrm>
          <a:prstGeom prst="rect">
            <a:avLst/>
          </a:prstGeom>
        </p:spPr>
      </p:pic>
      <p:pic>
        <p:nvPicPr>
          <p:cNvPr id="73229215" name="Picture 29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010524" y="5281612"/>
            <a:ext cx="190500" cy="171450"/>
          </a:xfrm>
          <a:prstGeom prst="rect">
            <a:avLst/>
          </a:prstGeom>
        </p:spPr>
      </p:pic>
      <p:sp>
        <p:nvSpPr>
          <p:cNvPr id="85712943" name="TextBox 33"/>
          <p:cNvSpPr txBox="1"/>
          <p:nvPr/>
        </p:nvSpPr>
        <p:spPr bwMode="auto">
          <a:xfrm>
            <a:off x="762000" y="885825"/>
            <a:ext cx="6306342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  <a:defRPr/>
            </a:pPr>
            <a:r>
              <a:rPr sz="3000" b="1" i="0" u="none">
                <a:solidFill>
                  <a:srgbClr val="0F172A"/>
                </a:solidFill>
                <a:latin typeface="Times New Roman"/>
                <a:cs typeface="Times New Roman"/>
              </a:rPr>
              <a:t>Tầng Lưu trữ Bền vững: SQLite WAL</a:t>
            </a:r>
            <a:endParaRPr/>
          </a:p>
        </p:txBody>
      </p:sp>
      <p:sp>
        <p:nvSpPr>
          <p:cNvPr id="495646059" name="TextBox 34"/>
          <p:cNvSpPr txBox="1"/>
          <p:nvPr/>
        </p:nvSpPr>
        <p:spPr bwMode="auto">
          <a:xfrm>
            <a:off x="1619250" y="2038349"/>
            <a:ext cx="4504503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Lược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 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đồ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 CSDL </a:t>
            </a:r>
            <a:r>
              <a:rPr lang="en-US"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9 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Bảng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 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Chuẩn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 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hóa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 (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Mô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 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phỏng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 5 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Bảng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 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Chính</a:t>
            </a:r>
            <a:r>
              <a:rPr sz="1350" b="1" i="0" u="none">
                <a:solidFill>
                  <a:srgbClr val="334155"/>
                </a:solidFill>
                <a:latin typeface="Times New Roman"/>
                <a:cs typeface="Times New Roman"/>
              </a:rPr>
              <a:t>)</a:t>
            </a:r>
            <a:endParaRPr/>
          </a:p>
        </p:txBody>
      </p:sp>
      <p:sp>
        <p:nvSpPr>
          <p:cNvPr id="2050417033" name="TextBox 35"/>
          <p:cNvSpPr txBox="1"/>
          <p:nvPr/>
        </p:nvSpPr>
        <p:spPr bwMode="auto">
          <a:xfrm>
            <a:off x="2847975" y="3051720"/>
            <a:ext cx="201978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50" b="1" i="0" u="none">
                <a:solidFill>
                  <a:srgbClr val="64748B"/>
                </a:solidFill>
                <a:latin typeface="Times New Roman"/>
                <a:cs typeface="Times New Roman"/>
              </a:rPr>
              <a:t>1..*</a:t>
            </a:r>
            <a:endParaRPr/>
          </a:p>
        </p:txBody>
      </p:sp>
      <p:sp>
        <p:nvSpPr>
          <p:cNvPr id="700527327" name="TextBox 36"/>
          <p:cNvSpPr txBox="1"/>
          <p:nvPr/>
        </p:nvSpPr>
        <p:spPr bwMode="auto">
          <a:xfrm>
            <a:off x="5000625" y="3051720"/>
            <a:ext cx="201978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50" b="1" i="0" u="none">
                <a:solidFill>
                  <a:srgbClr val="64748B"/>
                </a:solidFill>
                <a:latin typeface="Times New Roman"/>
                <a:cs typeface="Times New Roman"/>
              </a:rPr>
              <a:t>*..1</a:t>
            </a:r>
            <a:endParaRPr/>
          </a:p>
        </p:txBody>
      </p:sp>
      <p:sp>
        <p:nvSpPr>
          <p:cNvPr id="1173990405" name="TextBox 37"/>
          <p:cNvSpPr txBox="1"/>
          <p:nvPr/>
        </p:nvSpPr>
        <p:spPr bwMode="auto">
          <a:xfrm>
            <a:off x="8353425" y="2027709"/>
            <a:ext cx="2273058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defRPr/>
            </a:pPr>
            <a:r>
              <a:rPr sz="1500" b="1" i="0" u="none">
                <a:solidFill>
                  <a:srgbClr val="3B82F6"/>
                </a:solidFill>
                <a:latin typeface="Times New Roman"/>
                <a:cs typeface="Times New Roman"/>
              </a:rPr>
              <a:t>Tối</a:t>
            </a:r>
            <a:r>
              <a:rPr sz="1500" b="1" i="0" u="none">
                <a:solidFill>
                  <a:srgbClr val="3B82F6"/>
                </a:solidFill>
                <a:latin typeface="Times New Roman"/>
                <a:cs typeface="Times New Roman"/>
              </a:rPr>
              <a:t> </a:t>
            </a:r>
            <a:r>
              <a:rPr sz="1500" b="1" i="0" u="none">
                <a:solidFill>
                  <a:srgbClr val="3B82F6"/>
                </a:solidFill>
                <a:latin typeface="Times New Roman"/>
                <a:cs typeface="Times New Roman"/>
              </a:rPr>
              <a:t>ưu</a:t>
            </a:r>
            <a:r>
              <a:rPr sz="1500" b="1" i="0" u="none">
                <a:solidFill>
                  <a:srgbClr val="3B82F6"/>
                </a:solidFill>
                <a:latin typeface="Times New Roman"/>
                <a:cs typeface="Times New Roman"/>
              </a:rPr>
              <a:t> </a:t>
            </a:r>
            <a:r>
              <a:rPr sz="1500" b="1" i="0" u="none">
                <a:solidFill>
                  <a:srgbClr val="3B82F6"/>
                </a:solidFill>
                <a:latin typeface="Times New Roman"/>
                <a:cs typeface="Times New Roman"/>
              </a:rPr>
              <a:t>Hiệu</a:t>
            </a:r>
            <a:r>
              <a:rPr sz="1500" b="1" i="0" u="none">
                <a:solidFill>
                  <a:srgbClr val="3B82F6"/>
                </a:solidFill>
                <a:latin typeface="Times New Roman"/>
                <a:cs typeface="Times New Roman"/>
              </a:rPr>
              <a:t> </a:t>
            </a:r>
            <a:r>
              <a:rPr sz="1500" b="1" i="0" u="none">
                <a:solidFill>
                  <a:srgbClr val="3B82F6"/>
                </a:solidFill>
                <a:latin typeface="Times New Roman"/>
                <a:cs typeface="Times New Roman"/>
              </a:rPr>
              <a:t>năng</a:t>
            </a:r>
            <a:r>
              <a:rPr sz="1500" b="1" i="0" u="none">
                <a:solidFill>
                  <a:srgbClr val="3B82F6"/>
                </a:solidFill>
                <a:latin typeface="Times New Roman"/>
                <a:cs typeface="Times New Roman"/>
              </a:rPr>
              <a:t> (Pragma)</a:t>
            </a:r>
            <a:endParaRPr/>
          </a:p>
        </p:txBody>
      </p:sp>
      <p:sp>
        <p:nvSpPr>
          <p:cNvPr id="1072237487" name="TextBox 38"/>
          <p:cNvSpPr txBox="1"/>
          <p:nvPr/>
        </p:nvSpPr>
        <p:spPr bwMode="auto">
          <a:xfrm>
            <a:off x="8296274" y="5263463"/>
            <a:ext cx="1481175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defRPr/>
            </a:pP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Mô</a:t>
            </a: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 </a:t>
            </a: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hình</a:t>
            </a: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 Repository</a:t>
            </a:r>
            <a:endParaRPr/>
          </a:p>
        </p:txBody>
      </p:sp>
      <p:sp>
        <p:nvSpPr>
          <p:cNvPr id="1161824367" name="TextBox 39"/>
          <p:cNvSpPr txBox="1"/>
          <p:nvPr/>
        </p:nvSpPr>
        <p:spPr bwMode="auto">
          <a:xfrm>
            <a:off x="1000125" y="2628900"/>
            <a:ext cx="17716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050" b="1" i="0" u="none">
                <a:solidFill>
                  <a:srgbClr val="FFFFFF"/>
                </a:solidFill>
                <a:latin typeface="Times New Roman"/>
                <a:cs typeface="Times New Roman"/>
              </a:rPr>
              <a:t>playlists</a:t>
            </a:r>
            <a:endParaRPr/>
          </a:p>
        </p:txBody>
      </p:sp>
      <p:sp>
        <p:nvSpPr>
          <p:cNvPr id="920377006" name="TextBox 40"/>
          <p:cNvSpPr txBox="1"/>
          <p:nvPr/>
        </p:nvSpPr>
        <p:spPr bwMode="auto">
          <a:xfrm>
            <a:off x="1200150" y="2981325"/>
            <a:ext cx="1466849" cy="5913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defRPr/>
            </a:pPr>
            <a:r>
              <a:rPr sz="900" b="1" i="0" u="none">
                <a:solidFill>
                  <a:srgbClr val="D97706"/>
                </a:solidFill>
                <a:latin typeface="Times New Roman"/>
                <a:cs typeface="Times New Roman"/>
              </a:rPr>
              <a:t>PK</a:t>
            </a: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 id</a:t>
            </a:r>
            <a:br>
              <a:rPr>
                <a:latin typeface="Times New Roman"/>
                <a:cs typeface="Times New Roman"/>
              </a:rPr>
            </a:b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 name</a:t>
            </a:r>
            <a:br>
              <a:rPr>
                <a:latin typeface="Times New Roman"/>
                <a:cs typeface="Times New Roman"/>
              </a:rPr>
            </a:b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 created_at</a:t>
            </a:r>
            <a:endParaRPr/>
          </a:p>
        </p:txBody>
      </p:sp>
      <p:sp>
        <p:nvSpPr>
          <p:cNvPr id="4619548" name="TextBox 41"/>
          <p:cNvSpPr txBox="1"/>
          <p:nvPr/>
        </p:nvSpPr>
        <p:spPr bwMode="auto">
          <a:xfrm>
            <a:off x="3152775" y="2628900"/>
            <a:ext cx="17716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050" b="1" i="0" u="none">
                <a:solidFill>
                  <a:srgbClr val="FFFFFF"/>
                </a:solidFill>
                <a:latin typeface="Times New Roman"/>
                <a:cs typeface="Times New Roman"/>
              </a:rPr>
              <a:t>playlist_tracks</a:t>
            </a:r>
            <a:endParaRPr/>
          </a:p>
        </p:txBody>
      </p:sp>
      <p:sp>
        <p:nvSpPr>
          <p:cNvPr id="179226060" name="TextBox 42"/>
          <p:cNvSpPr txBox="1"/>
          <p:nvPr/>
        </p:nvSpPr>
        <p:spPr bwMode="auto">
          <a:xfrm>
            <a:off x="3352800" y="2981325"/>
            <a:ext cx="1466849" cy="5913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defRPr/>
            </a:pPr>
            <a:r>
              <a:rPr sz="900" b="1" i="0" u="none">
                <a:solidFill>
                  <a:srgbClr val="0F172A"/>
                </a:solidFill>
                <a:latin typeface="Times New Roman"/>
                <a:cs typeface="Times New Roman"/>
              </a:rPr>
              <a:t>FK</a:t>
            </a: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 playlist_id</a:t>
            </a:r>
            <a:br>
              <a:rPr>
                <a:latin typeface="Times New Roman"/>
                <a:cs typeface="Times New Roman"/>
              </a:rPr>
            </a:br>
            <a:r>
              <a:rPr sz="900" b="1" i="0" u="none">
                <a:solidFill>
                  <a:srgbClr val="0F172A"/>
                </a:solidFill>
                <a:latin typeface="Times New Roman"/>
                <a:cs typeface="Times New Roman"/>
              </a:rPr>
              <a:t>FK</a:t>
            </a: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 track_id</a:t>
            </a:r>
            <a:br>
              <a:rPr>
                <a:latin typeface="Times New Roman"/>
                <a:cs typeface="Times New Roman"/>
              </a:rPr>
            </a:b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 position</a:t>
            </a:r>
            <a:endParaRPr/>
          </a:p>
        </p:txBody>
      </p:sp>
      <p:sp>
        <p:nvSpPr>
          <p:cNvPr id="1518761119" name="TextBox 43"/>
          <p:cNvSpPr txBox="1"/>
          <p:nvPr/>
        </p:nvSpPr>
        <p:spPr bwMode="auto">
          <a:xfrm>
            <a:off x="5276850" y="2628900"/>
            <a:ext cx="17716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050" b="1" i="0" u="none">
                <a:solidFill>
                  <a:srgbClr val="FFFFFF"/>
                </a:solidFill>
                <a:latin typeface="Times New Roman"/>
                <a:cs typeface="Times New Roman"/>
              </a:rPr>
              <a:t>tracks</a:t>
            </a:r>
            <a:endParaRPr/>
          </a:p>
        </p:txBody>
      </p:sp>
      <p:sp>
        <p:nvSpPr>
          <p:cNvPr id="628202792" name="TextBox 44"/>
          <p:cNvSpPr txBox="1"/>
          <p:nvPr/>
        </p:nvSpPr>
        <p:spPr bwMode="auto">
          <a:xfrm>
            <a:off x="5476875" y="2981325"/>
            <a:ext cx="1466849" cy="5913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defRPr/>
            </a:pPr>
            <a:r>
              <a:rPr sz="900" b="1" i="0" u="none">
                <a:solidFill>
                  <a:srgbClr val="D97706"/>
                </a:solidFill>
                <a:latin typeface="Times New Roman"/>
                <a:cs typeface="Times New Roman"/>
              </a:rPr>
              <a:t>PK</a:t>
            </a: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 id</a:t>
            </a:r>
            <a:br>
              <a:rPr>
                <a:latin typeface="Times New Roman"/>
                <a:cs typeface="Times New Roman"/>
              </a:rPr>
            </a:b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 track_key</a:t>
            </a:r>
            <a:br>
              <a:rPr>
                <a:latin typeface="Times New Roman"/>
                <a:cs typeface="Times New Roman"/>
              </a:rPr>
            </a:b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 title, artist</a:t>
            </a:r>
            <a:endParaRPr/>
          </a:p>
        </p:txBody>
      </p:sp>
      <p:sp>
        <p:nvSpPr>
          <p:cNvPr id="1904897968" name="TextBox 45"/>
          <p:cNvSpPr txBox="1"/>
          <p:nvPr/>
        </p:nvSpPr>
        <p:spPr bwMode="auto">
          <a:xfrm>
            <a:off x="3508103" y="4411712"/>
            <a:ext cx="17716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050" b="1" i="0" u="none">
                <a:solidFill>
                  <a:srgbClr val="F8FAFC"/>
                </a:solidFill>
                <a:latin typeface="Times New Roman"/>
                <a:cs typeface="Times New Roman"/>
              </a:rPr>
              <a:t>user_interactions</a:t>
            </a:r>
            <a:endParaRPr/>
          </a:p>
        </p:txBody>
      </p:sp>
      <p:sp>
        <p:nvSpPr>
          <p:cNvPr id="854141764" name="TextBox 46"/>
          <p:cNvSpPr txBox="1"/>
          <p:nvPr/>
        </p:nvSpPr>
        <p:spPr bwMode="auto">
          <a:xfrm>
            <a:off x="3708128" y="4764137"/>
            <a:ext cx="1466849" cy="5913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defRPr/>
            </a:pPr>
            <a:r>
              <a:rPr sz="900" b="1" i="0" u="none">
                <a:solidFill>
                  <a:srgbClr val="D97706"/>
                </a:solidFill>
                <a:latin typeface="Times New Roman"/>
                <a:cs typeface="Times New Roman"/>
              </a:rPr>
              <a:t>PK</a:t>
            </a: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 id</a:t>
            </a:r>
            <a:br>
              <a:rPr>
                <a:latin typeface="Times New Roman"/>
                <a:cs typeface="Times New Roman"/>
              </a:rPr>
            </a:br>
            <a:r>
              <a:rPr sz="900" b="1" i="0" u="none">
                <a:solidFill>
                  <a:srgbClr val="0F172A"/>
                </a:solidFill>
                <a:latin typeface="Times New Roman"/>
                <a:cs typeface="Times New Roman"/>
              </a:rPr>
              <a:t>FK</a:t>
            </a: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track_id</a:t>
            </a:r>
            <a:br>
              <a:rPr>
                <a:latin typeface="Times New Roman"/>
                <a:cs typeface="Times New Roman"/>
              </a:rPr>
            </a:b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action_type</a:t>
            </a:r>
            <a:endParaRPr sz="900" b="0" i="0" u="none">
              <a:solidFill>
                <a:srgbClr val="475569"/>
              </a:solidFill>
              <a:latin typeface="Times New Roman"/>
              <a:cs typeface="Times New Roman"/>
            </a:endParaRPr>
          </a:p>
        </p:txBody>
      </p:sp>
      <p:sp>
        <p:nvSpPr>
          <p:cNvPr id="1729950267" name="TextBox 47"/>
          <p:cNvSpPr txBox="1"/>
          <p:nvPr/>
        </p:nvSpPr>
        <p:spPr bwMode="auto">
          <a:xfrm>
            <a:off x="5895975" y="4414837"/>
            <a:ext cx="17716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050" b="1" i="0" u="none">
                <a:solidFill>
                  <a:srgbClr val="F8FAFC"/>
                </a:solidFill>
                <a:latin typeface="Times New Roman"/>
                <a:cs typeface="Times New Roman"/>
              </a:rPr>
              <a:t>stream_cache</a:t>
            </a:r>
            <a:endParaRPr/>
          </a:p>
        </p:txBody>
      </p:sp>
      <p:sp>
        <p:nvSpPr>
          <p:cNvPr id="1238129421" name="TextBox 48"/>
          <p:cNvSpPr txBox="1"/>
          <p:nvPr/>
        </p:nvSpPr>
        <p:spPr bwMode="auto">
          <a:xfrm>
            <a:off x="6096000" y="4767261"/>
            <a:ext cx="1466849" cy="5913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defRPr/>
            </a:pPr>
            <a:r>
              <a:rPr sz="900" b="1" i="0" u="none">
                <a:solidFill>
                  <a:srgbClr val="D97706"/>
                </a:solidFill>
                <a:latin typeface="Times New Roman"/>
                <a:cs typeface="Times New Roman"/>
              </a:rPr>
              <a:t>PK</a:t>
            </a: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 id</a:t>
            </a:r>
            <a:br>
              <a:rPr>
                <a:latin typeface="Times New Roman"/>
                <a:cs typeface="Times New Roman"/>
              </a:rPr>
            </a:br>
            <a:r>
              <a:rPr sz="900" b="1" i="0" u="none">
                <a:solidFill>
                  <a:srgbClr val="0F172A"/>
                </a:solidFill>
                <a:latin typeface="Times New Roman"/>
                <a:cs typeface="Times New Roman"/>
              </a:rPr>
              <a:t>FK</a:t>
            </a: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 track_id</a:t>
            </a:r>
            <a:br>
              <a:rPr>
                <a:latin typeface="Times New Roman"/>
                <a:cs typeface="Times New Roman"/>
              </a:rPr>
            </a:br>
            <a:r>
              <a:rPr sz="900" b="0" i="0" u="none">
                <a:solidFill>
                  <a:srgbClr val="475569"/>
                </a:solidFill>
                <a:latin typeface="Times New Roman"/>
                <a:cs typeface="Times New Roman"/>
              </a:rPr>
              <a:t> sha1_hash</a:t>
            </a:r>
            <a:endParaRPr/>
          </a:p>
        </p:txBody>
      </p:sp>
      <p:sp>
        <p:nvSpPr>
          <p:cNvPr id="2005606961" name="TextBox 49"/>
          <p:cNvSpPr txBox="1"/>
          <p:nvPr/>
        </p:nvSpPr>
        <p:spPr bwMode="auto">
          <a:xfrm>
            <a:off x="8162925" y="2562225"/>
            <a:ext cx="373751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050" b="0" i="0" u="none">
                <a:solidFill>
                  <a:srgbClr val="34D399"/>
                </a:solidFill>
                <a:latin typeface="Times New Roman"/>
                <a:cs typeface="Times New Roman"/>
              </a:rPr>
              <a:t>PRAGMA </a:t>
            </a:r>
            <a:r>
              <a:rPr sz="1050" b="0" i="0" u="none">
                <a:solidFill>
                  <a:srgbClr val="34D399"/>
                </a:solidFill>
                <a:latin typeface="Times New Roman"/>
                <a:cs typeface="Times New Roman"/>
              </a:rPr>
              <a:t>journal_mode</a:t>
            </a:r>
            <a:r>
              <a:rPr sz="1050" b="0" i="0" u="none">
                <a:solidFill>
                  <a:srgbClr val="34D399"/>
                </a:solidFill>
                <a:latin typeface="Times New Roman"/>
                <a:cs typeface="Times New Roman"/>
              </a:rPr>
              <a:t> = WAL;</a:t>
            </a:r>
            <a:endParaRPr/>
          </a:p>
        </p:txBody>
      </p:sp>
      <p:sp>
        <p:nvSpPr>
          <p:cNvPr id="560014138" name="TextBox 50"/>
          <p:cNvSpPr txBox="1"/>
          <p:nvPr/>
        </p:nvSpPr>
        <p:spPr bwMode="auto">
          <a:xfrm>
            <a:off x="8048625" y="2847975"/>
            <a:ext cx="2277868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50" b="0" i="0" u="none">
                <a:solidFill>
                  <a:srgbClr val="94A3B8"/>
                </a:solidFill>
                <a:latin typeface="Times New Roman"/>
                <a:cs typeface="Times New Roman"/>
              </a:rPr>
              <a:t>Đọc/ghi song song, không khóa CSDL.</a:t>
            </a:r>
            <a:endParaRPr/>
          </a:p>
        </p:txBody>
      </p:sp>
      <p:sp>
        <p:nvSpPr>
          <p:cNvPr id="27826880" name="TextBox 51"/>
          <p:cNvSpPr txBox="1"/>
          <p:nvPr/>
        </p:nvSpPr>
        <p:spPr bwMode="auto">
          <a:xfrm>
            <a:off x="8162925" y="3295650"/>
            <a:ext cx="373751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050" b="0" i="0" u="none">
                <a:solidFill>
                  <a:srgbClr val="34D399"/>
                </a:solidFill>
                <a:latin typeface="Times New Roman"/>
                <a:cs typeface="Times New Roman"/>
              </a:rPr>
              <a:t>PRAGMA synchronous = NORMAL;</a:t>
            </a:r>
            <a:endParaRPr/>
          </a:p>
        </p:txBody>
      </p:sp>
      <p:sp>
        <p:nvSpPr>
          <p:cNvPr id="392222699" name="TextBox 52"/>
          <p:cNvSpPr txBox="1"/>
          <p:nvPr/>
        </p:nvSpPr>
        <p:spPr bwMode="auto">
          <a:xfrm>
            <a:off x="8048625" y="3581400"/>
            <a:ext cx="2083904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50" b="0" i="0" u="none">
                <a:solidFill>
                  <a:srgbClr val="94A3B8"/>
                </a:solidFill>
                <a:latin typeface="Times New Roman"/>
                <a:cs typeface="Times New Roman"/>
              </a:rPr>
              <a:t>Tốc độ ghi x3, đảm bảo an toàn đĩa.</a:t>
            </a:r>
            <a:endParaRPr/>
          </a:p>
        </p:txBody>
      </p:sp>
      <p:sp>
        <p:nvSpPr>
          <p:cNvPr id="1688787648" name="TextBox 53"/>
          <p:cNvSpPr txBox="1"/>
          <p:nvPr/>
        </p:nvSpPr>
        <p:spPr bwMode="auto">
          <a:xfrm>
            <a:off x="8162925" y="4029075"/>
            <a:ext cx="373751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050" b="0" i="0" u="none">
                <a:solidFill>
                  <a:srgbClr val="34D399"/>
                </a:solidFill>
                <a:latin typeface="Times New Roman"/>
                <a:cs typeface="Times New Roman"/>
              </a:rPr>
              <a:t>PRAGMA cache_size = -64000;</a:t>
            </a:r>
            <a:endParaRPr/>
          </a:p>
        </p:txBody>
      </p:sp>
      <p:sp>
        <p:nvSpPr>
          <p:cNvPr id="411682124" name="TextBox 54"/>
          <p:cNvSpPr txBox="1"/>
          <p:nvPr/>
        </p:nvSpPr>
        <p:spPr bwMode="auto">
          <a:xfrm>
            <a:off x="8048625" y="4314825"/>
            <a:ext cx="2253822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50" b="0" i="0" u="none">
                <a:solidFill>
                  <a:srgbClr val="94A3B8"/>
                </a:solidFill>
                <a:latin typeface="Times New Roman"/>
                <a:cs typeface="Times New Roman"/>
              </a:rPr>
              <a:t>Dành riêng 64MB RAM đệm truy vấn.</a:t>
            </a:r>
            <a:endParaRPr/>
          </a:p>
        </p:txBody>
      </p:sp>
      <p:sp>
        <p:nvSpPr>
          <p:cNvPr id="404970544" name="TextBox 55"/>
          <p:cNvSpPr txBox="1"/>
          <p:nvPr/>
        </p:nvSpPr>
        <p:spPr bwMode="auto">
          <a:xfrm>
            <a:off x="8153399" y="5579745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043711364" name="TextBox 56"/>
          <p:cNvSpPr txBox="1"/>
          <p:nvPr/>
        </p:nvSpPr>
        <p:spPr bwMode="auto">
          <a:xfrm>
            <a:off x="8239125" y="5581649"/>
            <a:ext cx="2790251" cy="218778"/>
          </a:xfrm>
          <a:prstGeom prst="rect">
            <a:avLst/>
          </a:prstGeom>
          <a:noFill/>
        </p:spPr>
        <p:txBody>
          <a:bodyPr wrap="none" lIns="85725" tIns="0" rIns="0" bIns="0" anchor="t">
            <a:spAutoFit/>
          </a:bodyPr>
          <a:lstStyle/>
          <a:p>
            <a:pPr algn="l">
              <a:lnSpc>
                <a:spcPts val="1920"/>
              </a:lnSpc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6 lớp chuyên trách (Track, Playlist, Queue).</a:t>
            </a:r>
            <a:endParaRPr/>
          </a:p>
        </p:txBody>
      </p:sp>
      <p:sp>
        <p:nvSpPr>
          <p:cNvPr id="1305462765" name="TextBox 57"/>
          <p:cNvSpPr txBox="1"/>
          <p:nvPr/>
        </p:nvSpPr>
        <p:spPr bwMode="auto">
          <a:xfrm>
            <a:off x="8153399" y="5899725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593096999" name="TextBox 58"/>
          <p:cNvSpPr txBox="1"/>
          <p:nvPr/>
        </p:nvSpPr>
        <p:spPr bwMode="auto">
          <a:xfrm>
            <a:off x="8239125" y="5901630"/>
            <a:ext cx="2447786" cy="218778"/>
          </a:xfrm>
          <a:prstGeom prst="rect">
            <a:avLst/>
          </a:prstGeom>
          <a:noFill/>
        </p:spPr>
        <p:txBody>
          <a:bodyPr wrap="none" lIns="85725" tIns="0" rIns="0" bIns="0" anchor="t">
            <a:spAutoFit/>
          </a:bodyPr>
          <a:lstStyle/>
          <a:p>
            <a:pPr algn="l">
              <a:lnSpc>
                <a:spcPts val="1920"/>
              </a:lnSpc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Thực thi toàn vẹn khóa ngoại tự động.</a:t>
            </a:r>
            <a:endParaRPr/>
          </a:p>
        </p:txBody>
      </p:sp>
      <p:sp>
        <p:nvSpPr>
          <p:cNvPr id="718113937" name="TextBox 59"/>
          <p:cNvSpPr txBox="1"/>
          <p:nvPr/>
        </p:nvSpPr>
        <p:spPr bwMode="auto">
          <a:xfrm>
            <a:off x="8153399" y="6219705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2111696329" name="TextBox 60"/>
          <p:cNvSpPr txBox="1"/>
          <p:nvPr/>
        </p:nvSpPr>
        <p:spPr bwMode="auto">
          <a:xfrm>
            <a:off x="8239125" y="6221610"/>
            <a:ext cx="3346494" cy="218778"/>
          </a:xfrm>
          <a:prstGeom prst="rect">
            <a:avLst/>
          </a:prstGeom>
          <a:noFill/>
        </p:spPr>
        <p:txBody>
          <a:bodyPr wrap="none" lIns="85725" tIns="0" rIns="0" bIns="0" anchor="t">
            <a:spAutoFit/>
          </a:bodyPr>
          <a:lstStyle/>
          <a:p>
            <a:pPr algn="l">
              <a:lnSpc>
                <a:spcPts val="1920"/>
              </a:lnSpc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Đóng gói Giao dịch Nguyên tử (SQLiteTransaction).</a:t>
            </a:r>
            <a:endParaRPr/>
          </a:p>
        </p:txBody>
      </p:sp>
      <p:cxnSp>
        <p:nvCxnSpPr>
          <p:cNvPr id="596240790" name="Straight Connector 62"/>
          <p:cNvCxnSpPr/>
          <p:nvPr/>
        </p:nvCxnSpPr>
        <p:spPr bwMode="auto">
          <a:xfrm>
            <a:off x="6200775" y="3722190"/>
            <a:ext cx="0" cy="306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9454879" name="Straight Connector 64"/>
          <p:cNvCxnSpPr/>
          <p:nvPr/>
        </p:nvCxnSpPr>
        <p:spPr bwMode="auto">
          <a:xfrm flipH="1">
            <a:off x="4393928" y="4036516"/>
            <a:ext cx="238787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78362651" name="Straight Connector 67"/>
          <p:cNvCxnSpPr>
            <a:endCxn id="1608370719" idx="0"/>
          </p:cNvCxnSpPr>
          <p:nvPr/>
        </p:nvCxnSpPr>
        <p:spPr bwMode="auto">
          <a:xfrm>
            <a:off x="4393928" y="4036516"/>
            <a:ext cx="0" cy="29899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9294588" name="Straight Connector 69"/>
          <p:cNvCxnSpPr>
            <a:endCxn id="1579577148" idx="0"/>
          </p:cNvCxnSpPr>
          <p:nvPr/>
        </p:nvCxnSpPr>
        <p:spPr bwMode="auto">
          <a:xfrm>
            <a:off x="6779715" y="4026991"/>
            <a:ext cx="2085" cy="311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8322667" name="TextBox 76"/>
          <p:cNvSpPr txBox="1"/>
          <p:nvPr/>
        </p:nvSpPr>
        <p:spPr bwMode="auto">
          <a:xfrm rot="16199999">
            <a:off x="4131897" y="4057598"/>
            <a:ext cx="201978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50" b="1" i="0" u="none">
                <a:solidFill>
                  <a:srgbClr val="64748B"/>
                </a:solidFill>
                <a:latin typeface="Times New Roman"/>
                <a:cs typeface="Times New Roman"/>
              </a:rPr>
              <a:t>*..1</a:t>
            </a:r>
            <a:endParaRPr/>
          </a:p>
        </p:txBody>
      </p:sp>
      <p:sp>
        <p:nvSpPr>
          <p:cNvPr id="412424659" name="TextBox 77"/>
          <p:cNvSpPr txBox="1"/>
          <p:nvPr/>
        </p:nvSpPr>
        <p:spPr bwMode="auto">
          <a:xfrm rot="16199999">
            <a:off x="6534875" y="4091329"/>
            <a:ext cx="201978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50" b="1" i="0" u="none">
                <a:solidFill>
                  <a:srgbClr val="64748B"/>
                </a:solidFill>
                <a:latin typeface="Times New Roman"/>
                <a:cs typeface="Times New Roman"/>
              </a:rPr>
              <a:t>*..1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1656146" name="Rounded Rectangle 1"/>
          <p:cNvSpPr/>
          <p:nvPr/>
        </p:nvSpPr>
        <p:spPr bwMode="auto">
          <a:xfrm>
            <a:off x="6172200" y="2200275"/>
            <a:ext cx="5257800" cy="495300"/>
          </a:xfrm>
          <a:prstGeom prst="roundRect">
            <a:avLst>
              <a:gd name="adj" fmla="val 7692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9135317" name="Rectangle 2"/>
          <p:cNvSpPr/>
          <p:nvPr/>
        </p:nvSpPr>
        <p:spPr bwMode="auto">
          <a:xfrm>
            <a:off x="766762" y="2762250"/>
            <a:ext cx="3284190" cy="190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82475369" name="Rectangle 3"/>
          <p:cNvSpPr/>
          <p:nvPr/>
        </p:nvSpPr>
        <p:spPr bwMode="auto">
          <a:xfrm>
            <a:off x="4050952" y="2762250"/>
            <a:ext cx="1506884" cy="190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29856380" name="Rectangle 4"/>
          <p:cNvSpPr/>
          <p:nvPr/>
        </p:nvSpPr>
        <p:spPr bwMode="auto">
          <a:xfrm>
            <a:off x="6172200" y="2200275"/>
            <a:ext cx="38100" cy="495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875129125" name="Rectangle 5"/>
          <p:cNvSpPr/>
          <p:nvPr/>
        </p:nvSpPr>
        <p:spPr bwMode="auto">
          <a:xfrm>
            <a:off x="766762" y="3319462"/>
            <a:ext cx="328419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83158615" name="Rectangle 6"/>
          <p:cNvSpPr/>
          <p:nvPr/>
        </p:nvSpPr>
        <p:spPr bwMode="auto">
          <a:xfrm>
            <a:off x="4050952" y="3319462"/>
            <a:ext cx="15068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81908699" name="Rectangle 7"/>
          <p:cNvSpPr/>
          <p:nvPr/>
        </p:nvSpPr>
        <p:spPr bwMode="auto">
          <a:xfrm>
            <a:off x="766762" y="3862387"/>
            <a:ext cx="328419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368682" name="Rectangle 8"/>
          <p:cNvSpPr/>
          <p:nvPr/>
        </p:nvSpPr>
        <p:spPr bwMode="auto">
          <a:xfrm>
            <a:off x="4050952" y="3862387"/>
            <a:ext cx="15068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534989193" name="Rectangle 9"/>
          <p:cNvSpPr/>
          <p:nvPr/>
        </p:nvSpPr>
        <p:spPr bwMode="auto">
          <a:xfrm>
            <a:off x="766762" y="4405312"/>
            <a:ext cx="328419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821206090" name="Rectangle 10"/>
          <p:cNvSpPr/>
          <p:nvPr/>
        </p:nvSpPr>
        <p:spPr bwMode="auto">
          <a:xfrm>
            <a:off x="4050952" y="4405312"/>
            <a:ext cx="15068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82793430" name="Rectangle 11"/>
          <p:cNvSpPr/>
          <p:nvPr/>
        </p:nvSpPr>
        <p:spPr bwMode="auto">
          <a:xfrm>
            <a:off x="766762" y="4948237"/>
            <a:ext cx="328419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695718342" name="Rectangle 12"/>
          <p:cNvSpPr/>
          <p:nvPr/>
        </p:nvSpPr>
        <p:spPr bwMode="auto">
          <a:xfrm>
            <a:off x="4050952" y="4948237"/>
            <a:ext cx="15068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61600246" name="Rectangle 13"/>
          <p:cNvSpPr/>
          <p:nvPr/>
        </p:nvSpPr>
        <p:spPr bwMode="auto">
          <a:xfrm>
            <a:off x="766762" y="5491162"/>
            <a:ext cx="328419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5183521" name="Rectangle 14"/>
          <p:cNvSpPr/>
          <p:nvPr/>
        </p:nvSpPr>
        <p:spPr bwMode="auto">
          <a:xfrm>
            <a:off x="4050952" y="5491162"/>
            <a:ext cx="15068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20559940" name="Rectangle 15"/>
          <p:cNvSpPr/>
          <p:nvPr/>
        </p:nvSpPr>
        <p:spPr bwMode="auto">
          <a:xfrm>
            <a:off x="766762" y="6034087"/>
            <a:ext cx="328419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79561500" name="Rectangle 16"/>
          <p:cNvSpPr/>
          <p:nvPr/>
        </p:nvSpPr>
        <p:spPr bwMode="auto">
          <a:xfrm>
            <a:off x="4050952" y="6034087"/>
            <a:ext cx="15068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1771100147" name="Picture 17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172200" y="2924175"/>
            <a:ext cx="5257800" cy="1522511"/>
          </a:xfrm>
          <a:prstGeom prst="rect">
            <a:avLst/>
          </a:prstGeom>
        </p:spPr>
      </p:pic>
      <p:pic>
        <p:nvPicPr>
          <p:cNvPr id="216396798" name="Picture 18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62000" y="1819275"/>
            <a:ext cx="238125" cy="209550"/>
          </a:xfrm>
          <a:prstGeom prst="rect">
            <a:avLst/>
          </a:prstGeom>
        </p:spPr>
      </p:pic>
      <p:pic>
        <p:nvPicPr>
          <p:cNvPr id="78097777" name="Picture 19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172200" y="1819275"/>
            <a:ext cx="209550" cy="209550"/>
          </a:xfrm>
          <a:prstGeom prst="rect">
            <a:avLst/>
          </a:prstGeom>
        </p:spPr>
      </p:pic>
      <p:pic>
        <p:nvPicPr>
          <p:cNvPr id="742004585" name="Picture 20" descr="imag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335142" y="3146127"/>
            <a:ext cx="2739290" cy="1176337"/>
          </a:xfrm>
          <a:prstGeom prst="rect">
            <a:avLst/>
          </a:prstGeom>
        </p:spPr>
      </p:pic>
      <p:sp>
        <p:nvSpPr>
          <p:cNvPr id="204446569" name="Rounded Rectangle 21"/>
          <p:cNvSpPr/>
          <p:nvPr/>
        </p:nvSpPr>
        <p:spPr bwMode="auto">
          <a:xfrm>
            <a:off x="762000" y="2276475"/>
            <a:ext cx="4800600" cy="4314825"/>
          </a:xfrm>
          <a:prstGeom prst="roundRect">
            <a:avLst>
              <a:gd name="adj" fmla="val 0"/>
            </a:avLst>
          </a:prstGeom>
          <a:solidFill>
            <a:srgbClr val="F8FA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graphicFrame>
        <p:nvGraphicFramePr>
          <p:cNvPr id="1883936029" name="Table 22"/>
          <p:cNvGraphicFramePr>
            <a:graphicFrameLocks xmlns:a="http://schemas.openxmlformats.org/drawingml/2006/main" noGrp="1"/>
          </p:cNvGraphicFramePr>
          <p:nvPr/>
        </p:nvGraphicFramePr>
        <p:xfrm rot="0">
          <a:off x="762000" y="2276475"/>
          <a:ext cx="4791074" cy="4314825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284190"/>
                <a:gridCol w="1506884"/>
              </a:tblGrid>
              <a:tr h="539353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150" b="1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Hành vi Tương tác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sz="1150" b="1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Điểm (Δ)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1F5F9"/>
                    </a:solidFill>
                  </a:tcPr>
                </a:tc>
              </a:tr>
              <a:tr h="539353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Đánh dấu Yêu thích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sz="15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+10.0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539353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Thêm vào Playlist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sz="15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+8.0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539353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Nghe </a:t>
                      </a: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trọn</a:t>
                      </a: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vẹn</a:t>
                      </a: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 100%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sz="15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+5.0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539353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Nghe liên tục &gt; 30s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sz="1500" b="1" i="0" u="none">
                          <a:solidFill>
                            <a:srgbClr val="3B82F6"/>
                          </a:solidFill>
                          <a:latin typeface="Times New Roman"/>
                          <a:cs typeface="Times New Roman"/>
                        </a:rPr>
                        <a:t>+2.0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539353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Chủ động Click chọn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sz="1500" b="1" i="0" u="none">
                          <a:solidFill>
                            <a:srgbClr val="3B82F6"/>
                          </a:solidFill>
                          <a:latin typeface="Times New Roman"/>
                          <a:cs typeface="Times New Roman"/>
                        </a:rPr>
                        <a:t>+1.5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539353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Bỏ qua (Skip) &lt; 30s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sz="1500" b="1" i="0" u="none">
                          <a:solidFill>
                            <a:srgbClr val="EF4444"/>
                          </a:solidFill>
                          <a:latin typeface="Times New Roman"/>
                          <a:cs typeface="Times New Roman"/>
                        </a:rPr>
                        <a:t>-4.0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539354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5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Bỏ Yêu thích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sz="1500" b="1" i="0" u="none">
                          <a:solidFill>
                            <a:srgbClr val="EF4444"/>
                          </a:solidFill>
                          <a:latin typeface="Times New Roman"/>
                          <a:cs typeface="Times New Roman"/>
                        </a:rPr>
                        <a:t>-10.0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466251087" name="TextBox 24"/>
          <p:cNvSpPr txBox="1"/>
          <p:nvPr/>
        </p:nvSpPr>
        <p:spPr bwMode="auto">
          <a:xfrm>
            <a:off x="762000" y="885825"/>
            <a:ext cx="5171287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  <a:defRPr/>
            </a:pPr>
            <a:r>
              <a:rPr sz="3000" b="1" i="0" u="none">
                <a:solidFill>
                  <a:srgbClr val="0F172A"/>
                </a:solidFill>
                <a:latin typeface="Times New Roman"/>
                <a:cs typeface="Times New Roman"/>
              </a:rPr>
              <a:t>Động cơ Gợi ý &amp; Smart Shuffle</a:t>
            </a:r>
            <a:endParaRPr/>
          </a:p>
        </p:txBody>
      </p:sp>
      <p:sp>
        <p:nvSpPr>
          <p:cNvPr id="1158071141" name="TextBox 25"/>
          <p:cNvSpPr txBox="1"/>
          <p:nvPr/>
        </p:nvSpPr>
        <p:spPr bwMode="auto">
          <a:xfrm>
            <a:off x="1114425" y="1797092"/>
            <a:ext cx="1260923" cy="2539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defRPr/>
            </a:pPr>
            <a:r>
              <a:rPr sz="1650" b="1" i="0" u="none">
                <a:solidFill>
                  <a:srgbClr val="334155"/>
                </a:solidFill>
                <a:latin typeface="Times New Roman"/>
                <a:cs typeface="Times New Roman"/>
              </a:rPr>
              <a:t>Affinity Score</a:t>
            </a:r>
            <a:endParaRPr/>
          </a:p>
        </p:txBody>
      </p:sp>
      <p:sp>
        <p:nvSpPr>
          <p:cNvPr id="1682278011" name="TextBox 26"/>
          <p:cNvSpPr txBox="1"/>
          <p:nvPr/>
        </p:nvSpPr>
        <p:spPr bwMode="auto">
          <a:xfrm>
            <a:off x="6496050" y="1797092"/>
            <a:ext cx="2718693" cy="2539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defRPr/>
            </a:pPr>
            <a:r>
              <a:rPr sz="1650" b="1" i="0" u="none">
                <a:solidFill>
                  <a:srgbClr val="334155"/>
                </a:solidFill>
                <a:latin typeface="Times New Roman"/>
                <a:cs typeface="Times New Roman"/>
              </a:rPr>
              <a:t>Thuật toán Softmax Sampling</a:t>
            </a:r>
            <a:endParaRPr/>
          </a:p>
        </p:txBody>
      </p:sp>
      <p:sp>
        <p:nvSpPr>
          <p:cNvPr id="1530511977" name="TextBox 27"/>
          <p:cNvSpPr txBox="1"/>
          <p:nvPr/>
        </p:nvSpPr>
        <p:spPr bwMode="auto">
          <a:xfrm>
            <a:off x="6400800" y="2352675"/>
            <a:ext cx="3961021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881337"/>
                </a:solidFill>
                <a:latin typeface="Times New Roman"/>
                <a:cs typeface="Times New Roman"/>
              </a:rPr>
              <a:t>Hạn chế Random():</a:t>
            </a:r>
            <a:r>
              <a:rPr sz="1200" b="0" i="0" u="none">
                <a:solidFill>
                  <a:srgbClr val="881337"/>
                </a:solidFill>
                <a:latin typeface="Times New Roman"/>
                <a:cs typeface="Times New Roman"/>
              </a:rPr>
              <a:t> Lặp lại bài cũ, chọn trúng bài không thích.</a:t>
            </a:r>
            <a:endParaRPr/>
          </a:p>
        </p:txBody>
      </p:sp>
      <p:sp>
        <p:nvSpPr>
          <p:cNvPr id="1604439154" name="TextBox 28"/>
          <p:cNvSpPr txBox="1"/>
          <p:nvPr/>
        </p:nvSpPr>
        <p:spPr bwMode="auto">
          <a:xfrm>
            <a:off x="6305550" y="4750534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602498712" name="TextBox 29"/>
          <p:cNvSpPr txBox="1"/>
          <p:nvPr/>
        </p:nvSpPr>
        <p:spPr bwMode="auto">
          <a:xfrm>
            <a:off x="6400800" y="4751486"/>
            <a:ext cx="2435090" cy="252185"/>
          </a:xfrm>
          <a:prstGeom prst="rect">
            <a:avLst/>
          </a:prstGeom>
          <a:noFill/>
        </p:spPr>
        <p:txBody>
          <a:bodyPr wrap="none" lIns="95250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S_i: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Điểm số Affinity của bài hát.</a:t>
            </a:r>
            <a:endParaRPr/>
          </a:p>
        </p:txBody>
      </p:sp>
      <p:sp>
        <p:nvSpPr>
          <p:cNvPr id="1371516556" name="TextBox 30"/>
          <p:cNvSpPr txBox="1"/>
          <p:nvPr/>
        </p:nvSpPr>
        <p:spPr bwMode="auto">
          <a:xfrm>
            <a:off x="6305550" y="5139124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949706458" name="TextBox 31"/>
          <p:cNvSpPr txBox="1"/>
          <p:nvPr/>
        </p:nvSpPr>
        <p:spPr bwMode="auto">
          <a:xfrm>
            <a:off x="6400800" y="5140076"/>
            <a:ext cx="3877728" cy="252185"/>
          </a:xfrm>
          <a:prstGeom prst="rect">
            <a:avLst/>
          </a:prstGeom>
          <a:noFill/>
        </p:spPr>
        <p:txBody>
          <a:bodyPr wrap="none" lIns="95250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T (</a:t>
            </a:r>
            <a:r>
              <a:rPr lang="en-US" sz="1350" b="1">
                <a:solidFill>
                  <a:srgbClr val="0F172A"/>
                </a:solidFill>
                <a:latin typeface="Times New Roman"/>
                <a:cs typeface="Times New Roman"/>
              </a:rPr>
              <a:t>Tham</a:t>
            </a:r>
            <a:r>
              <a:rPr lang="en-US" sz="1350" b="1">
                <a:solidFill>
                  <a:srgbClr val="0F172A"/>
                </a:solidFill>
                <a:latin typeface="Times New Roman"/>
                <a:cs typeface="Times New Roman"/>
              </a:rPr>
              <a:t> </a:t>
            </a:r>
            <a:r>
              <a:rPr lang="en-US" sz="1350" b="1">
                <a:solidFill>
                  <a:srgbClr val="0F172A"/>
                </a:solidFill>
                <a:latin typeface="Times New Roman"/>
                <a:cs typeface="Times New Roman"/>
              </a:rPr>
              <a:t>số</a:t>
            </a:r>
            <a:r>
              <a:rPr lang="en-US" sz="1350" b="1">
                <a:solidFill>
                  <a:srgbClr val="0F172A"/>
                </a:solidFill>
                <a:latin typeface="Times New Roman"/>
                <a:cs typeface="Times New Roman"/>
              </a:rPr>
              <a:t> </a:t>
            </a:r>
            <a:r>
              <a:rPr lang="en-US" sz="1350" b="1">
                <a:solidFill>
                  <a:srgbClr val="0F172A"/>
                </a:solidFill>
                <a:latin typeface="Times New Roman"/>
                <a:cs typeface="Times New Roman"/>
              </a:rPr>
              <a:t>n</a:t>
            </a: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hiệt</a:t>
            </a: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 </a:t>
            </a: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độ</a:t>
            </a: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):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Điều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chỉnh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hành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vi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thuật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toán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.</a:t>
            </a:r>
            <a:endParaRPr/>
          </a:p>
        </p:txBody>
      </p:sp>
      <p:sp>
        <p:nvSpPr>
          <p:cNvPr id="950569517" name="TextBox 32"/>
          <p:cNvSpPr txBox="1"/>
          <p:nvPr/>
        </p:nvSpPr>
        <p:spPr bwMode="auto">
          <a:xfrm>
            <a:off x="6448425" y="5527714"/>
            <a:ext cx="104196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○</a:t>
            </a:r>
            <a:endParaRPr/>
          </a:p>
        </p:txBody>
      </p:sp>
      <p:sp>
        <p:nvSpPr>
          <p:cNvPr id="650843757" name="TextBox 33"/>
          <p:cNvSpPr txBox="1"/>
          <p:nvPr/>
        </p:nvSpPr>
        <p:spPr bwMode="auto">
          <a:xfrm>
            <a:off x="6553200" y="5528667"/>
            <a:ext cx="3363165" cy="252185"/>
          </a:xfrm>
          <a:prstGeom prst="rect">
            <a:avLst/>
          </a:prstGeom>
          <a:noFill/>
        </p:spPr>
        <p:txBody>
          <a:bodyPr wrap="none" lIns="104775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475569"/>
                </a:solidFill>
                <a:latin typeface="Times New Roman"/>
                <a:cs typeface="Times New Roman"/>
              </a:rPr>
              <a:t>T </a:t>
            </a:r>
            <a:r>
              <a:rPr sz="1350" b="1" i="0" u="none">
                <a:solidFill>
                  <a:srgbClr val="475569"/>
                </a:solidFill>
                <a:latin typeface="Times New Roman"/>
                <a:cs typeface="Times New Roman"/>
              </a:rPr>
              <a:t>thấp</a:t>
            </a:r>
            <a:r>
              <a:rPr sz="1350" b="1" i="0" u="none">
                <a:solidFill>
                  <a:srgbClr val="475569"/>
                </a:solidFill>
                <a:latin typeface="Times New Roman"/>
                <a:cs typeface="Times New Roman"/>
              </a:rPr>
              <a:t>: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Khai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thác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(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Ưu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tiên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phát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bài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điểm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cao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).</a:t>
            </a:r>
            <a:endParaRPr/>
          </a:p>
        </p:txBody>
      </p:sp>
      <p:sp>
        <p:nvSpPr>
          <p:cNvPr id="1142687366" name="TextBox 34"/>
          <p:cNvSpPr txBox="1"/>
          <p:nvPr/>
        </p:nvSpPr>
        <p:spPr bwMode="auto">
          <a:xfrm>
            <a:off x="6448425" y="5878204"/>
            <a:ext cx="104196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○</a:t>
            </a:r>
            <a:endParaRPr/>
          </a:p>
        </p:txBody>
      </p:sp>
      <p:sp>
        <p:nvSpPr>
          <p:cNvPr id="1427893899" name="TextBox 35"/>
          <p:cNvSpPr txBox="1"/>
          <p:nvPr/>
        </p:nvSpPr>
        <p:spPr bwMode="auto">
          <a:xfrm>
            <a:off x="6553200" y="5879157"/>
            <a:ext cx="3276603" cy="252185"/>
          </a:xfrm>
          <a:prstGeom prst="rect">
            <a:avLst/>
          </a:prstGeom>
          <a:noFill/>
        </p:spPr>
        <p:txBody>
          <a:bodyPr wrap="none" lIns="104775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475569"/>
                </a:solidFill>
                <a:latin typeface="Times New Roman"/>
                <a:cs typeface="Times New Roman"/>
              </a:rPr>
              <a:t>T </a:t>
            </a:r>
            <a:r>
              <a:rPr sz="1350" b="1" i="0" u="none">
                <a:solidFill>
                  <a:srgbClr val="475569"/>
                </a:solidFill>
                <a:latin typeface="Times New Roman"/>
                <a:cs typeface="Times New Roman"/>
              </a:rPr>
              <a:t>cao</a:t>
            </a:r>
            <a:r>
              <a:rPr sz="1350" b="1" i="0" u="none">
                <a:solidFill>
                  <a:srgbClr val="475569"/>
                </a:solidFill>
                <a:latin typeface="Times New Roman"/>
                <a:cs typeface="Times New Roman"/>
              </a:rPr>
              <a:t>: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Khám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phá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(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Tăng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cơ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hội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phát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bài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mới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).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9477493" name="Rounded Rectangle 1"/>
          <p:cNvSpPr/>
          <p:nvPr/>
        </p:nvSpPr>
        <p:spPr bwMode="auto">
          <a:xfrm>
            <a:off x="762000" y="1800225"/>
            <a:ext cx="3352800" cy="4448175"/>
          </a:xfrm>
          <a:prstGeom prst="roundRect">
            <a:avLst>
              <a:gd name="adj" fmla="val 340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68991270" name="Rounded Rectangle 2"/>
          <p:cNvSpPr/>
          <p:nvPr/>
        </p:nvSpPr>
        <p:spPr bwMode="auto">
          <a:xfrm>
            <a:off x="4419600" y="1800225"/>
            <a:ext cx="3352800" cy="4448175"/>
          </a:xfrm>
          <a:prstGeom prst="roundRect">
            <a:avLst>
              <a:gd name="adj" fmla="val 340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34461528" name="Rounded Rectangle 3"/>
          <p:cNvSpPr/>
          <p:nvPr/>
        </p:nvSpPr>
        <p:spPr bwMode="auto">
          <a:xfrm>
            <a:off x="8077200" y="1800225"/>
            <a:ext cx="3352800" cy="4448175"/>
          </a:xfrm>
          <a:prstGeom prst="roundRect">
            <a:avLst>
              <a:gd name="adj" fmla="val 340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78959596" name="Rounded Rectangle 4"/>
          <p:cNvSpPr/>
          <p:nvPr/>
        </p:nvSpPr>
        <p:spPr bwMode="auto">
          <a:xfrm>
            <a:off x="1266825" y="5114925"/>
            <a:ext cx="899368" cy="219074"/>
          </a:xfrm>
          <a:prstGeom prst="roundRect">
            <a:avLst>
              <a:gd name="adj" fmla="val 17391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806590114" name="Picture 5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76325" y="2114550"/>
            <a:ext cx="457200" cy="457200"/>
          </a:xfrm>
          <a:prstGeom prst="rect">
            <a:avLst/>
          </a:prstGeom>
        </p:spPr>
      </p:pic>
      <p:pic>
        <p:nvPicPr>
          <p:cNvPr id="1119970429" name="Picture 6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733925" y="2114550"/>
            <a:ext cx="457200" cy="457200"/>
          </a:xfrm>
          <a:prstGeom prst="rect">
            <a:avLst/>
          </a:prstGeom>
        </p:spPr>
      </p:pic>
      <p:pic>
        <p:nvPicPr>
          <p:cNvPr id="815001495" name="Picture 7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391525" y="2114550"/>
            <a:ext cx="457200" cy="457200"/>
          </a:xfrm>
          <a:prstGeom prst="rect">
            <a:avLst/>
          </a:prstGeom>
        </p:spPr>
      </p:pic>
      <p:pic>
        <p:nvPicPr>
          <p:cNvPr id="1387318930" name="Picture 8" descr="imag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1195387" y="2247900"/>
            <a:ext cx="219074" cy="190500"/>
          </a:xfrm>
          <a:prstGeom prst="rect">
            <a:avLst/>
          </a:prstGeom>
        </p:spPr>
      </p:pic>
      <p:pic>
        <p:nvPicPr>
          <p:cNvPr id="2043290057" name="Picture 9" descr="image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4867274" y="2247900"/>
            <a:ext cx="190500" cy="190500"/>
          </a:xfrm>
          <a:prstGeom prst="rect">
            <a:avLst/>
          </a:prstGeom>
        </p:spPr>
      </p:pic>
      <p:pic>
        <p:nvPicPr>
          <p:cNvPr id="807482794" name="Picture 10" descr="image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8548687" y="2247900"/>
            <a:ext cx="142875" cy="190500"/>
          </a:xfrm>
          <a:prstGeom prst="rect">
            <a:avLst/>
          </a:prstGeom>
        </p:spPr>
      </p:pic>
      <p:sp>
        <p:nvSpPr>
          <p:cNvPr id="1050838503" name="TextBox 12"/>
          <p:cNvSpPr txBox="1"/>
          <p:nvPr/>
        </p:nvSpPr>
        <p:spPr bwMode="auto">
          <a:xfrm>
            <a:off x="762000" y="885825"/>
            <a:ext cx="558755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  <a:defRPr/>
            </a:pPr>
            <a:r>
              <a:rPr sz="3000" b="1" i="0" u="none">
                <a:solidFill>
                  <a:srgbClr val="0F172A"/>
                </a:solidFill>
                <a:latin typeface="Times New Roman"/>
                <a:cs typeface="Times New Roman"/>
              </a:rPr>
              <a:t>Quản lý Ngoại tuyến &amp; Tương tác</a:t>
            </a:r>
            <a:endParaRPr/>
          </a:p>
        </p:txBody>
      </p:sp>
      <p:sp>
        <p:nvSpPr>
          <p:cNvPr id="1805688472" name="TextBox 13"/>
          <p:cNvSpPr txBox="1"/>
          <p:nvPr/>
        </p:nvSpPr>
        <p:spPr bwMode="auto">
          <a:xfrm>
            <a:off x="1076325" y="2762250"/>
            <a:ext cx="1751442" cy="2539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650" b="1" i="0" u="none">
                <a:solidFill>
                  <a:srgbClr val="0F172A"/>
                </a:solidFill>
                <a:latin typeface="Times New Roman"/>
                <a:cs typeface="Times New Roman"/>
              </a:rPr>
              <a:t>Quét Thư viện BFS</a:t>
            </a:r>
            <a:endParaRPr/>
          </a:p>
        </p:txBody>
      </p:sp>
      <p:sp>
        <p:nvSpPr>
          <p:cNvPr id="86197020" name="TextBox 14"/>
          <p:cNvSpPr txBox="1"/>
          <p:nvPr/>
        </p:nvSpPr>
        <p:spPr bwMode="auto">
          <a:xfrm>
            <a:off x="4733925" y="2762250"/>
            <a:ext cx="1604606" cy="2539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650" b="1" i="0" u="none">
                <a:solidFill>
                  <a:srgbClr val="0F172A"/>
                </a:solidFill>
                <a:latin typeface="Times New Roman"/>
                <a:cs typeface="Times New Roman"/>
              </a:rPr>
              <a:t>Hàng đợi Kéo thả</a:t>
            </a:r>
            <a:endParaRPr/>
          </a:p>
        </p:txBody>
      </p:sp>
      <p:sp>
        <p:nvSpPr>
          <p:cNvPr id="1117618776" name="TextBox 15"/>
          <p:cNvSpPr txBox="1"/>
          <p:nvPr/>
        </p:nvSpPr>
        <p:spPr bwMode="auto">
          <a:xfrm>
            <a:off x="8391525" y="2762250"/>
            <a:ext cx="1926361" cy="2539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650" b="1" i="0" u="none">
                <a:solidFill>
                  <a:srgbClr val="0F172A"/>
                </a:solidFill>
                <a:latin typeface="Times New Roman"/>
                <a:cs typeface="Times New Roman"/>
              </a:rPr>
              <a:t>Đồng bộ Lyrics .LRC</a:t>
            </a:r>
            <a:endParaRPr/>
          </a:p>
        </p:txBody>
      </p:sp>
      <p:sp>
        <p:nvSpPr>
          <p:cNvPr id="339635227" name="TextBox 16"/>
          <p:cNvSpPr txBox="1"/>
          <p:nvPr/>
        </p:nvSpPr>
        <p:spPr bwMode="auto">
          <a:xfrm>
            <a:off x="1181099" y="316230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783610565" name="TextBox 17"/>
          <p:cNvSpPr txBox="1"/>
          <p:nvPr/>
        </p:nvSpPr>
        <p:spPr bwMode="auto">
          <a:xfrm>
            <a:off x="1266825" y="3162300"/>
            <a:ext cx="2628900" cy="4572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200" b="1" i="0" u="none">
                <a:solidFill>
                  <a:srgbClr val="475569"/>
                </a:solidFill>
                <a:latin typeface="Times New Roman"/>
                <a:cs typeface="Times New Roman"/>
              </a:rPr>
              <a:t>Chống StackOverflow:</a:t>
            </a: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 Thay thế đệ quy bằng Queue.</a:t>
            </a:r>
            <a:endParaRPr/>
          </a:p>
        </p:txBody>
      </p:sp>
      <p:sp>
        <p:nvSpPr>
          <p:cNvPr id="845044420" name="TextBox 18"/>
          <p:cNvSpPr txBox="1"/>
          <p:nvPr/>
        </p:nvSpPr>
        <p:spPr bwMode="auto">
          <a:xfrm>
            <a:off x="1181099" y="373380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651854374" name="TextBox 19"/>
          <p:cNvSpPr txBox="1"/>
          <p:nvPr/>
        </p:nvSpPr>
        <p:spPr bwMode="auto">
          <a:xfrm>
            <a:off x="1266825" y="3733800"/>
            <a:ext cx="2628900" cy="4572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200" b="1" i="0" u="none">
                <a:solidFill>
                  <a:srgbClr val="475569"/>
                </a:solidFill>
                <a:latin typeface="Times New Roman"/>
                <a:cs typeface="Times New Roman"/>
              </a:rPr>
              <a:t>Xử lý ngoại lệ an toàn:</a:t>
            </a: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 Bỏ qua lỗi độ dài đường dẫn &amp; phân quyền.</a:t>
            </a:r>
            <a:endParaRPr/>
          </a:p>
        </p:txBody>
      </p:sp>
      <p:sp>
        <p:nvSpPr>
          <p:cNvPr id="1344003334" name="TextBox 20"/>
          <p:cNvSpPr txBox="1"/>
          <p:nvPr/>
        </p:nvSpPr>
        <p:spPr bwMode="auto">
          <a:xfrm>
            <a:off x="1181099" y="430530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2093404277" name="TextBox 21"/>
          <p:cNvSpPr txBox="1"/>
          <p:nvPr/>
        </p:nvSpPr>
        <p:spPr bwMode="auto">
          <a:xfrm>
            <a:off x="1266825" y="4305300"/>
            <a:ext cx="2628900" cy="4572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200" b="1" i="0" u="none">
                <a:solidFill>
                  <a:srgbClr val="475569"/>
                </a:solidFill>
                <a:latin typeface="Times New Roman"/>
                <a:cs typeface="Times New Roman"/>
              </a:rPr>
              <a:t>Trích xuất ID3:</a:t>
            </a: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 Đọc siêu dữ liệu qua TagLibSharp.</a:t>
            </a:r>
            <a:endParaRPr/>
          </a:p>
        </p:txBody>
      </p:sp>
      <p:sp>
        <p:nvSpPr>
          <p:cNvPr id="1941963221" name="TextBox 22"/>
          <p:cNvSpPr txBox="1"/>
          <p:nvPr/>
        </p:nvSpPr>
        <p:spPr bwMode="auto">
          <a:xfrm>
            <a:off x="1181099" y="487680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888275078" name="TextBox 23"/>
          <p:cNvSpPr txBox="1"/>
          <p:nvPr/>
        </p:nvSpPr>
        <p:spPr bwMode="auto">
          <a:xfrm>
            <a:off x="1266825" y="4876800"/>
            <a:ext cx="2628900" cy="439992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200" b="1" i="0" u="none">
                <a:solidFill>
                  <a:srgbClr val="475569"/>
                </a:solidFill>
                <a:latin typeface="Times New Roman"/>
                <a:cs typeface="Times New Roman"/>
              </a:rPr>
              <a:t>Tối ưu RAM Bitmap:</a:t>
            </a: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 Gọi ảnh bìa, giải phóng byte trung gian.</a:t>
            </a:r>
            <a:endParaRPr/>
          </a:p>
        </p:txBody>
      </p:sp>
      <p:sp>
        <p:nvSpPr>
          <p:cNvPr id="542097759" name="TextBox 24"/>
          <p:cNvSpPr txBox="1"/>
          <p:nvPr/>
        </p:nvSpPr>
        <p:spPr bwMode="auto">
          <a:xfrm>
            <a:off x="4838700" y="316230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480509946" name="TextBox 25"/>
          <p:cNvSpPr txBox="1"/>
          <p:nvPr/>
        </p:nvSpPr>
        <p:spPr bwMode="auto">
          <a:xfrm>
            <a:off x="4924425" y="3162300"/>
            <a:ext cx="2628900" cy="4572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200" b="1" i="0" u="none">
                <a:solidFill>
                  <a:srgbClr val="475569"/>
                </a:solidFill>
                <a:latin typeface="Times New Roman"/>
                <a:cs typeface="Times New Roman"/>
              </a:rPr>
              <a:t>Giao diện Tương tác:</a:t>
            </a: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 Tích hợp thư viện gong-wpf-dragdrop.</a:t>
            </a:r>
            <a:endParaRPr/>
          </a:p>
        </p:txBody>
      </p:sp>
      <p:sp>
        <p:nvSpPr>
          <p:cNvPr id="671347289" name="TextBox 26"/>
          <p:cNvSpPr txBox="1"/>
          <p:nvPr/>
        </p:nvSpPr>
        <p:spPr bwMode="auto">
          <a:xfrm>
            <a:off x="4838700" y="373380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2004548813" name="TextBox 27"/>
          <p:cNvSpPr txBox="1"/>
          <p:nvPr/>
        </p:nvSpPr>
        <p:spPr bwMode="auto">
          <a:xfrm>
            <a:off x="4924425" y="3733800"/>
            <a:ext cx="2628900" cy="4572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200" b="1" i="0" u="none">
                <a:solidFill>
                  <a:srgbClr val="475569"/>
                </a:solidFill>
                <a:latin typeface="Times New Roman"/>
                <a:cs typeface="Times New Roman"/>
              </a:rPr>
              <a:t>Thay đổi Ưu tiên:</a:t>
            </a: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 Kéo thả điều chỉnh thứ tự phát trực tiếp.</a:t>
            </a:r>
            <a:endParaRPr/>
          </a:p>
        </p:txBody>
      </p:sp>
      <p:sp>
        <p:nvSpPr>
          <p:cNvPr id="107551532" name="TextBox 28"/>
          <p:cNvSpPr txBox="1"/>
          <p:nvPr/>
        </p:nvSpPr>
        <p:spPr bwMode="auto">
          <a:xfrm>
            <a:off x="4838700" y="430530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57727212" name="TextBox 29"/>
          <p:cNvSpPr txBox="1"/>
          <p:nvPr/>
        </p:nvSpPr>
        <p:spPr bwMode="auto">
          <a:xfrm>
            <a:off x="4924425" y="4305300"/>
            <a:ext cx="2628900" cy="6858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200" b="1" i="0" u="none">
                <a:solidFill>
                  <a:srgbClr val="475569"/>
                </a:solidFill>
                <a:latin typeface="Times New Roman"/>
                <a:cs typeface="Times New Roman"/>
              </a:rPr>
              <a:t>Cơ chế Auto-Advance:</a:t>
            </a: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 Tự động phát hết hàng đợi thủ công trước danh sách chính.</a:t>
            </a:r>
            <a:endParaRPr/>
          </a:p>
        </p:txBody>
      </p:sp>
      <p:sp>
        <p:nvSpPr>
          <p:cNvPr id="90340448" name="TextBox 30"/>
          <p:cNvSpPr txBox="1"/>
          <p:nvPr/>
        </p:nvSpPr>
        <p:spPr bwMode="auto">
          <a:xfrm>
            <a:off x="8496300" y="316230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730581666" name="TextBox 31"/>
          <p:cNvSpPr txBox="1"/>
          <p:nvPr/>
        </p:nvSpPr>
        <p:spPr bwMode="auto">
          <a:xfrm>
            <a:off x="8582025" y="3162300"/>
            <a:ext cx="2628900" cy="4572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200" b="1" i="0" u="none">
                <a:solidFill>
                  <a:srgbClr val="475569"/>
                </a:solidFill>
                <a:latin typeface="Times New Roman"/>
                <a:cs typeface="Times New Roman"/>
              </a:rPr>
              <a:t>Phân tích Regex:</a:t>
            </a: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 Hỗ trợ đa mốc thời gian &amp; offset bù trừ.</a:t>
            </a:r>
            <a:endParaRPr/>
          </a:p>
        </p:txBody>
      </p:sp>
      <p:sp>
        <p:nvSpPr>
          <p:cNvPr id="1437316050" name="TextBox 32"/>
          <p:cNvSpPr txBox="1"/>
          <p:nvPr/>
        </p:nvSpPr>
        <p:spPr bwMode="auto">
          <a:xfrm>
            <a:off x="8496300" y="373380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364469872" name="TextBox 33"/>
          <p:cNvSpPr txBox="1"/>
          <p:nvPr/>
        </p:nvSpPr>
        <p:spPr bwMode="auto">
          <a:xfrm>
            <a:off x="8582025" y="3733800"/>
            <a:ext cx="2628900" cy="439992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200" b="1" i="0" u="none">
                <a:solidFill>
                  <a:srgbClr val="475569"/>
                </a:solidFill>
                <a:latin typeface="Times New Roman"/>
                <a:cs typeface="Times New Roman"/>
              </a:rPr>
              <a:t>Tìm kiếm O(log N):</a:t>
            </a: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 Giải thuật nhị phân định vị dòng lời theo mili-giây.</a:t>
            </a:r>
            <a:endParaRPr/>
          </a:p>
        </p:txBody>
      </p:sp>
      <p:sp>
        <p:nvSpPr>
          <p:cNvPr id="888662977" name="TextBox 34"/>
          <p:cNvSpPr txBox="1"/>
          <p:nvPr/>
        </p:nvSpPr>
        <p:spPr bwMode="auto">
          <a:xfrm>
            <a:off x="8496300" y="4533900"/>
            <a:ext cx="5450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403842642" name="TextBox 35"/>
          <p:cNvSpPr txBox="1"/>
          <p:nvPr/>
        </p:nvSpPr>
        <p:spPr bwMode="auto">
          <a:xfrm>
            <a:off x="8582025" y="4533900"/>
            <a:ext cx="2628900" cy="439992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200" b="1" i="0" u="none">
                <a:solidFill>
                  <a:srgbClr val="475569"/>
                </a:solidFill>
                <a:latin typeface="Times New Roman"/>
                <a:cs typeface="Times New Roman"/>
              </a:rPr>
              <a:t>Event Gating:</a:t>
            </a: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 Chỉ kích hoạt sự kiện cuộn UI khi chỉ số dòng thay đổi thực sự.</a:t>
            </a:r>
            <a:endParaRPr/>
          </a:p>
        </p:txBody>
      </p:sp>
      <p:sp>
        <p:nvSpPr>
          <p:cNvPr id="966951629" name="TextBox 36"/>
          <p:cNvSpPr txBox="1"/>
          <p:nvPr/>
        </p:nvSpPr>
        <p:spPr bwMode="auto">
          <a:xfrm>
            <a:off x="1304925" y="5133975"/>
            <a:ext cx="553037" cy="209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200" b="0" i="0" u="none">
                <a:solidFill>
                  <a:srgbClr val="475569"/>
                </a:solidFill>
                <a:latin typeface="Times New Roman"/>
                <a:cs typeface="Times New Roman"/>
              </a:rPr>
              <a:t>.Freeze()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6357262" name="Rounded Rectangle 1"/>
          <p:cNvSpPr/>
          <p:nvPr/>
        </p:nvSpPr>
        <p:spPr bwMode="auto">
          <a:xfrm>
            <a:off x="762000" y="2428875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72816794" name="Rounded Rectangle 2"/>
          <p:cNvSpPr/>
          <p:nvPr/>
        </p:nvSpPr>
        <p:spPr bwMode="auto">
          <a:xfrm>
            <a:off x="762000" y="33909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33514527" name="Rounded Rectangle 3"/>
          <p:cNvSpPr/>
          <p:nvPr/>
        </p:nvSpPr>
        <p:spPr bwMode="auto">
          <a:xfrm>
            <a:off x="762000" y="4352925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63167879" name="Rounded Rectangle 4"/>
          <p:cNvSpPr/>
          <p:nvPr/>
        </p:nvSpPr>
        <p:spPr bwMode="auto">
          <a:xfrm>
            <a:off x="762000" y="531495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83750705" name="Rectangle 5"/>
          <p:cNvSpPr/>
          <p:nvPr/>
        </p:nvSpPr>
        <p:spPr bwMode="auto">
          <a:xfrm>
            <a:off x="4785270" y="2600325"/>
            <a:ext cx="1259830" cy="190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94518192" name="Rectangle 6"/>
          <p:cNvSpPr/>
          <p:nvPr/>
        </p:nvSpPr>
        <p:spPr bwMode="auto">
          <a:xfrm>
            <a:off x="6045100" y="2600325"/>
            <a:ext cx="2778472" cy="190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24958956" name="Rectangle 7"/>
          <p:cNvSpPr/>
          <p:nvPr/>
        </p:nvSpPr>
        <p:spPr bwMode="auto">
          <a:xfrm>
            <a:off x="8823573" y="2600325"/>
            <a:ext cx="2606426" cy="190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10213589" name="Rectangle 8"/>
          <p:cNvSpPr/>
          <p:nvPr/>
        </p:nvSpPr>
        <p:spPr bwMode="auto">
          <a:xfrm>
            <a:off x="4785270" y="3386137"/>
            <a:ext cx="125983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68496495" name="Rectangle 9"/>
          <p:cNvSpPr/>
          <p:nvPr/>
        </p:nvSpPr>
        <p:spPr bwMode="auto">
          <a:xfrm>
            <a:off x="6045100" y="3386137"/>
            <a:ext cx="277847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57389199" name="Rectangle 10"/>
          <p:cNvSpPr/>
          <p:nvPr/>
        </p:nvSpPr>
        <p:spPr bwMode="auto">
          <a:xfrm>
            <a:off x="8823573" y="3386137"/>
            <a:ext cx="26064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59944420" name="Rectangle 11"/>
          <p:cNvSpPr/>
          <p:nvPr/>
        </p:nvSpPr>
        <p:spPr bwMode="auto">
          <a:xfrm>
            <a:off x="4785270" y="4157662"/>
            <a:ext cx="125983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26456450" name="Rectangle 12"/>
          <p:cNvSpPr/>
          <p:nvPr/>
        </p:nvSpPr>
        <p:spPr bwMode="auto">
          <a:xfrm>
            <a:off x="6045100" y="4157662"/>
            <a:ext cx="277847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79783297" name="Rectangle 13"/>
          <p:cNvSpPr/>
          <p:nvPr/>
        </p:nvSpPr>
        <p:spPr bwMode="auto">
          <a:xfrm>
            <a:off x="8823573" y="4157662"/>
            <a:ext cx="26064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61510012" name="Rectangle 14"/>
          <p:cNvSpPr/>
          <p:nvPr/>
        </p:nvSpPr>
        <p:spPr bwMode="auto">
          <a:xfrm>
            <a:off x="4785270" y="4929187"/>
            <a:ext cx="125983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62893624" name="Rectangle 15"/>
          <p:cNvSpPr/>
          <p:nvPr/>
        </p:nvSpPr>
        <p:spPr bwMode="auto">
          <a:xfrm>
            <a:off x="6045100" y="4929187"/>
            <a:ext cx="277847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37321231" name="Rectangle 16"/>
          <p:cNvSpPr/>
          <p:nvPr/>
        </p:nvSpPr>
        <p:spPr bwMode="auto">
          <a:xfrm>
            <a:off x="8823573" y="4929187"/>
            <a:ext cx="26064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732465765" name="Picture 17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785270" y="1819275"/>
            <a:ext cx="209550" cy="209550"/>
          </a:xfrm>
          <a:prstGeom prst="rect">
            <a:avLst/>
          </a:prstGeom>
        </p:spPr>
      </p:pic>
      <p:graphicFrame>
        <p:nvGraphicFramePr>
          <p:cNvPr id="1914772247" name="Table 18"/>
          <p:cNvGraphicFramePr>
            <a:graphicFrameLocks xmlns:a="http://schemas.openxmlformats.org/drawingml/2006/main" noGrp="1"/>
          </p:cNvGraphicFramePr>
          <p:nvPr/>
        </p:nvGraphicFramePr>
        <p:xfrm rot="0">
          <a:off x="4785270" y="2276475"/>
          <a:ext cx="6644728" cy="32385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59830"/>
                <a:gridCol w="2778472"/>
                <a:gridCol w="2606426"/>
              </a:tblGrid>
              <a:tr h="6477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150" b="1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Thách</a:t>
                      </a:r>
                      <a:r>
                        <a:rPr sz="1150" b="1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150" b="1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thức</a:t>
                      </a:r>
                      <a:endParaRPr sz="1150" b="1" i="0" u="none">
                        <a:solidFill>
                          <a:srgbClr val="64748B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150" b="1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Hiện tượng &amp; Nguy cơ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150" b="1" i="0" u="none">
                          <a:solidFill>
                            <a:srgbClr val="2563EB"/>
                          </a:solidFill>
                          <a:latin typeface="Times New Roman"/>
                          <a:cs typeface="Times New Roman"/>
                        </a:rPr>
                        <a:t>Giải pháp Kỹ thuật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UI Thread Freezing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Giao diện đơ giật do FFT bắn sự kiện liên tục.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Event Throttling (30 FPS) &amp; Ring Buffer tĩnh.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Rò</a:t>
                      </a: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rỉ</a:t>
                      </a: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 RAM (BFS)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Ngốn &gt; 800MB khi tải ảnh bìa hàng loạt.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Gọi </a:t>
                      </a:r>
                      <a:r>
                        <a:rPr sz="1200" b="1" i="0" u="none">
                          <a:solidFill>
                            <a:srgbClr val="334155"/>
                          </a:solidFill>
                          <a:latin typeface="Times New Roman"/>
                          <a:cs typeface="Times New Roman"/>
                        </a:rPr>
                        <a:t>.Freeze()</a:t>
                      </a: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 Bitmap, giải phóng byte thô.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Méo tiếng Stereo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Lệch pha âm thanh Trái/Phải khi qua EQ.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Tách 20 bộ lọc BiQuad độc lập (2 kênh x 10 dải).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Lỗi</a:t>
                      </a: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Khóa</a:t>
                      </a: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 SQLite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64748B"/>
                          </a:solidFill>
                          <a:latin typeface="Times New Roman"/>
                          <a:cs typeface="Times New Roman"/>
                        </a:rPr>
                        <a:t>Đụng độ luồng đọc dữ liệu UI và ghi tương tác ngầm.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Kích</a:t>
                      </a: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hoạt</a:t>
                      </a:r>
                      <a:r>
                        <a:rPr sz="1200" b="1" i="0" u="none">
                          <a:solidFill>
                            <a:srgbClr val="0F172A"/>
                          </a:solidFill>
                          <a:latin typeface="Times New Roman"/>
                          <a:cs typeface="Times New Roman"/>
                        </a:rPr>
                        <a:t> WAL Mode &amp; Atomic Transactions.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99683435" name="TextBox 20"/>
          <p:cNvSpPr txBox="1"/>
          <p:nvPr/>
        </p:nvSpPr>
        <p:spPr bwMode="auto">
          <a:xfrm>
            <a:off x="762000" y="885825"/>
            <a:ext cx="6029471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  <a:defRPr/>
            </a:pPr>
            <a:r>
              <a:rPr sz="3000" b="1" i="0" u="none">
                <a:solidFill>
                  <a:srgbClr val="0F172A"/>
                </a:solidFill>
                <a:latin typeface="Times New Roman"/>
                <a:cs typeface="Times New Roman"/>
              </a:rPr>
              <a:t>Tiến độ Xây dựng &amp; Quản trị Rủi ro</a:t>
            </a:r>
            <a:endParaRPr/>
          </a:p>
        </p:txBody>
      </p:sp>
      <p:sp>
        <p:nvSpPr>
          <p:cNvPr id="524937636" name="TextBox 21"/>
          <p:cNvSpPr txBox="1"/>
          <p:nvPr/>
        </p:nvSpPr>
        <p:spPr bwMode="auto">
          <a:xfrm>
            <a:off x="762000" y="1800225"/>
            <a:ext cx="1857881" cy="2539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650" b="1" i="0" u="none">
                <a:solidFill>
                  <a:srgbClr val="334155"/>
                </a:solidFill>
                <a:latin typeface="Times New Roman"/>
                <a:cs typeface="Times New Roman"/>
              </a:rPr>
              <a:t>Lộ trình 9 Giai đoạn</a:t>
            </a:r>
            <a:endParaRPr/>
          </a:p>
        </p:txBody>
      </p:sp>
      <p:sp>
        <p:nvSpPr>
          <p:cNvPr id="1927919589" name="TextBox 22"/>
          <p:cNvSpPr txBox="1"/>
          <p:nvPr/>
        </p:nvSpPr>
        <p:spPr bwMode="auto">
          <a:xfrm>
            <a:off x="5109120" y="1797092"/>
            <a:ext cx="2891176" cy="2539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defRPr/>
            </a:pPr>
            <a:r>
              <a:rPr sz="1650" b="1" i="0" u="none">
                <a:solidFill>
                  <a:srgbClr val="334155"/>
                </a:solidFill>
                <a:latin typeface="Times New Roman"/>
                <a:cs typeface="Times New Roman"/>
              </a:rPr>
              <a:t>Giải quyết Thách thức Kỹ thuật</a:t>
            </a:r>
            <a:endParaRPr/>
          </a:p>
        </p:txBody>
      </p:sp>
      <p:sp>
        <p:nvSpPr>
          <p:cNvPr id="594319285" name="TextBox 23"/>
          <p:cNvSpPr txBox="1"/>
          <p:nvPr/>
        </p:nvSpPr>
        <p:spPr bwMode="auto">
          <a:xfrm>
            <a:off x="619125" y="2513763"/>
            <a:ext cx="628650" cy="1731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150" b="1" i="0" u="none">
                <a:solidFill>
                  <a:srgbClr val="3B82F6"/>
                </a:solidFill>
                <a:latin typeface="Times New Roman"/>
                <a:cs typeface="Times New Roman"/>
              </a:rPr>
              <a:t>1-3</a:t>
            </a:r>
            <a:endParaRPr/>
          </a:p>
        </p:txBody>
      </p:sp>
      <p:sp>
        <p:nvSpPr>
          <p:cNvPr id="1199966237" name="TextBox 24"/>
          <p:cNvSpPr txBox="1"/>
          <p:nvPr/>
        </p:nvSpPr>
        <p:spPr bwMode="auto">
          <a:xfrm>
            <a:off x="619125" y="3475788"/>
            <a:ext cx="628650" cy="1731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150" b="1" i="0" u="none">
                <a:solidFill>
                  <a:srgbClr val="3B82F6"/>
                </a:solidFill>
                <a:latin typeface="Times New Roman"/>
                <a:cs typeface="Times New Roman"/>
              </a:rPr>
              <a:t>4-5</a:t>
            </a:r>
            <a:endParaRPr/>
          </a:p>
        </p:txBody>
      </p:sp>
      <p:sp>
        <p:nvSpPr>
          <p:cNvPr id="1475467196" name="TextBox 25"/>
          <p:cNvSpPr txBox="1"/>
          <p:nvPr/>
        </p:nvSpPr>
        <p:spPr bwMode="auto">
          <a:xfrm>
            <a:off x="619125" y="4437813"/>
            <a:ext cx="628650" cy="1731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150" b="1" i="0" u="none">
                <a:solidFill>
                  <a:srgbClr val="3B82F6"/>
                </a:solidFill>
                <a:latin typeface="Times New Roman"/>
                <a:cs typeface="Times New Roman"/>
              </a:rPr>
              <a:t>6-7</a:t>
            </a:r>
            <a:endParaRPr/>
          </a:p>
        </p:txBody>
      </p:sp>
      <p:sp>
        <p:nvSpPr>
          <p:cNvPr id="945657312" name="TextBox 26"/>
          <p:cNvSpPr txBox="1"/>
          <p:nvPr/>
        </p:nvSpPr>
        <p:spPr bwMode="auto">
          <a:xfrm>
            <a:off x="619125" y="5399838"/>
            <a:ext cx="628650" cy="1731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150" b="1" i="0" u="none">
                <a:solidFill>
                  <a:srgbClr val="F8FAFC"/>
                </a:solidFill>
                <a:latin typeface="Times New Roman"/>
                <a:cs typeface="Times New Roman"/>
              </a:rPr>
              <a:t>8-9</a:t>
            </a:r>
            <a:endParaRPr/>
          </a:p>
        </p:txBody>
      </p:sp>
      <p:sp>
        <p:nvSpPr>
          <p:cNvPr id="1236546643" name="TextBox 27"/>
          <p:cNvSpPr txBox="1"/>
          <p:nvPr/>
        </p:nvSpPr>
        <p:spPr bwMode="auto">
          <a:xfrm>
            <a:off x="1257300" y="2428875"/>
            <a:ext cx="1399422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Khởi tạo Kiến trúc</a:t>
            </a:r>
            <a:endParaRPr/>
          </a:p>
        </p:txBody>
      </p:sp>
      <p:sp>
        <p:nvSpPr>
          <p:cNvPr id="1045456094" name="TextBox 28"/>
          <p:cNvSpPr txBox="1"/>
          <p:nvPr/>
        </p:nvSpPr>
        <p:spPr bwMode="auto">
          <a:xfrm>
            <a:off x="1257300" y="2686050"/>
            <a:ext cx="269929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Thiết lập MVVM, Dark/Light Theme &amp; Local BFF OWIN.</a:t>
            </a:r>
            <a:endParaRPr/>
          </a:p>
        </p:txBody>
      </p:sp>
      <p:sp>
        <p:nvSpPr>
          <p:cNvPr id="1654250328" name="TextBox 29"/>
          <p:cNvSpPr txBox="1"/>
          <p:nvPr/>
        </p:nvSpPr>
        <p:spPr bwMode="auto">
          <a:xfrm>
            <a:off x="1257300" y="3390900"/>
            <a:ext cx="156613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Xử lý Âm thanh DSP</a:t>
            </a:r>
            <a:endParaRPr/>
          </a:p>
        </p:txBody>
      </p:sp>
      <p:sp>
        <p:nvSpPr>
          <p:cNvPr id="1647867540" name="TextBox 30"/>
          <p:cNvSpPr txBox="1"/>
          <p:nvPr/>
        </p:nvSpPr>
        <p:spPr bwMode="auto">
          <a:xfrm>
            <a:off x="1257300" y="3648074"/>
            <a:ext cx="269929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NAudio Engine, 10-Band EQ, FFT Visualizer &amp; Karaoke LRC.</a:t>
            </a:r>
            <a:endParaRPr/>
          </a:p>
        </p:txBody>
      </p:sp>
      <p:sp>
        <p:nvSpPr>
          <p:cNvPr id="1619272038" name="TextBox 31"/>
          <p:cNvSpPr txBox="1"/>
          <p:nvPr/>
        </p:nvSpPr>
        <p:spPr bwMode="auto">
          <a:xfrm>
            <a:off x="1257300" y="4352925"/>
            <a:ext cx="1370568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Lưu trữ &amp; Dữ liệu</a:t>
            </a:r>
            <a:endParaRPr/>
          </a:p>
        </p:txBody>
      </p:sp>
      <p:sp>
        <p:nvSpPr>
          <p:cNvPr id="2061223146" name="TextBox 32"/>
          <p:cNvSpPr txBox="1"/>
          <p:nvPr/>
        </p:nvSpPr>
        <p:spPr bwMode="auto">
          <a:xfrm>
            <a:off x="1257300" y="4610100"/>
            <a:ext cx="269929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CSDL SQLite WAL, Repositories, Playlist &amp; </a:t>
            </a: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Hàng</a:t>
            </a: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đợi</a:t>
            </a: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.</a:t>
            </a:r>
            <a:endParaRPr/>
          </a:p>
        </p:txBody>
      </p:sp>
      <p:sp>
        <p:nvSpPr>
          <p:cNvPr id="237700531" name="TextBox 33"/>
          <p:cNvSpPr txBox="1"/>
          <p:nvPr/>
        </p:nvSpPr>
        <p:spPr bwMode="auto">
          <a:xfrm>
            <a:off x="1257300" y="5314950"/>
            <a:ext cx="132087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1" i="0" u="none">
                <a:solidFill>
                  <a:srgbClr val="0F172A"/>
                </a:solidFill>
                <a:latin typeface="Times New Roman"/>
                <a:cs typeface="Times New Roman"/>
              </a:rPr>
              <a:t>Hoàn thiện Dự án</a:t>
            </a:r>
            <a:endParaRPr/>
          </a:p>
        </p:txBody>
      </p:sp>
      <p:sp>
        <p:nvSpPr>
          <p:cNvPr id="1437111272" name="TextBox 34"/>
          <p:cNvSpPr txBox="1"/>
          <p:nvPr/>
        </p:nvSpPr>
        <p:spPr bwMode="auto">
          <a:xfrm>
            <a:off x="1257300" y="5572125"/>
            <a:ext cx="269929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  <a:defRPr/>
            </a:pP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Smart Shuffle Boltzmann, 75 Unit Tests &amp; </a:t>
            </a: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Đóng</a:t>
            </a: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 </a:t>
            </a: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gói</a:t>
            </a:r>
            <a:r>
              <a:rPr sz="1150" b="0" i="0" u="none">
                <a:solidFill>
                  <a:srgbClr val="475569"/>
                </a:solidFill>
                <a:latin typeface="Times New Roman"/>
                <a:cs typeface="Times New Roman"/>
              </a:rPr>
              <a:t>.</a:t>
            </a:r>
            <a:endParaRPr/>
          </a:p>
        </p:txBody>
      </p:sp>
      <p:cxnSp>
        <p:nvCxnSpPr>
          <p:cNvPr id="1268341513" name="Straight Connector 36"/>
          <p:cNvCxnSpPr/>
          <p:nvPr/>
        </p:nvCxnSpPr>
        <p:spPr bwMode="auto">
          <a:xfrm>
            <a:off x="4785270" y="3590925"/>
            <a:ext cx="664472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2015891" name="Straight Connector 43"/>
          <p:cNvCxnSpPr/>
          <p:nvPr/>
        </p:nvCxnSpPr>
        <p:spPr bwMode="auto">
          <a:xfrm>
            <a:off x="4785269" y="4167187"/>
            <a:ext cx="664472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8753574" name="Straight Connector 44"/>
          <p:cNvCxnSpPr/>
          <p:nvPr/>
        </p:nvCxnSpPr>
        <p:spPr bwMode="auto">
          <a:xfrm>
            <a:off x="4785269" y="4791075"/>
            <a:ext cx="664472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8891849" name="Straight Connector 45"/>
          <p:cNvCxnSpPr/>
          <p:nvPr/>
        </p:nvCxnSpPr>
        <p:spPr bwMode="auto">
          <a:xfrm>
            <a:off x="4785269" y="5486400"/>
            <a:ext cx="664472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69245211" name="Straight Connector 47"/>
          <p:cNvCxnSpPr/>
          <p:nvPr/>
        </p:nvCxnSpPr>
        <p:spPr bwMode="auto">
          <a:xfrm>
            <a:off x="4785269" y="2771775"/>
            <a:ext cx="66447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7651824" name="Straight Connector 49"/>
          <p:cNvCxnSpPr/>
          <p:nvPr/>
        </p:nvCxnSpPr>
        <p:spPr bwMode="auto">
          <a:xfrm>
            <a:off x="4267200" y="2428875"/>
            <a:ext cx="0" cy="3476625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6861617" name="Rounded Rectangle 1"/>
          <p:cNvSpPr/>
          <p:nvPr/>
        </p:nvSpPr>
        <p:spPr bwMode="auto">
          <a:xfrm>
            <a:off x="762000" y="2276475"/>
            <a:ext cx="1391840" cy="1000125"/>
          </a:xfrm>
          <a:prstGeom prst="roundRect">
            <a:avLst>
              <a:gd name="adj" fmla="val 11428"/>
            </a:avLst>
          </a:prstGeom>
          <a:solidFill>
            <a:srgbClr val="ECFDF5"/>
          </a:solidFill>
          <a:ln w="952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15857519" name="Rounded Rectangle 2"/>
          <p:cNvSpPr/>
          <p:nvPr/>
        </p:nvSpPr>
        <p:spPr bwMode="auto">
          <a:xfrm>
            <a:off x="2306240" y="2276475"/>
            <a:ext cx="1391840" cy="1000125"/>
          </a:xfrm>
          <a:prstGeom prst="roundRect">
            <a:avLst>
              <a:gd name="adj" fmla="val 11428"/>
            </a:avLst>
          </a:prstGeom>
          <a:solidFill>
            <a:srgbClr val="ECFDF5"/>
          </a:solidFill>
          <a:ln w="952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83423584" name="Rounded Rectangle 3"/>
          <p:cNvSpPr/>
          <p:nvPr/>
        </p:nvSpPr>
        <p:spPr bwMode="auto">
          <a:xfrm>
            <a:off x="3850481" y="2276475"/>
            <a:ext cx="1391840" cy="1000125"/>
          </a:xfrm>
          <a:prstGeom prst="roundRect">
            <a:avLst>
              <a:gd name="adj" fmla="val 1142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71633205" name="Rounded Rectangle 4"/>
          <p:cNvSpPr/>
          <p:nvPr/>
        </p:nvSpPr>
        <p:spPr bwMode="auto">
          <a:xfrm>
            <a:off x="5852070" y="2276475"/>
            <a:ext cx="2693640" cy="1152525"/>
          </a:xfrm>
          <a:prstGeom prst="roundRect">
            <a:avLst>
              <a:gd name="adj" fmla="val 991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30553869" name="Rounded Rectangle 5"/>
          <p:cNvSpPr/>
          <p:nvPr/>
        </p:nvSpPr>
        <p:spPr bwMode="auto">
          <a:xfrm>
            <a:off x="8736210" y="2276475"/>
            <a:ext cx="2693789" cy="1152525"/>
          </a:xfrm>
          <a:prstGeom prst="roundRect">
            <a:avLst>
              <a:gd name="adj" fmla="val 991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5722655" name="Rounded Rectangle 6"/>
          <p:cNvSpPr/>
          <p:nvPr/>
        </p:nvSpPr>
        <p:spPr bwMode="auto">
          <a:xfrm>
            <a:off x="5852070" y="3619500"/>
            <a:ext cx="2693640" cy="1152525"/>
          </a:xfrm>
          <a:prstGeom prst="roundRect">
            <a:avLst>
              <a:gd name="adj" fmla="val 991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50591639" name="Rounded Rectangle 7"/>
          <p:cNvSpPr/>
          <p:nvPr/>
        </p:nvSpPr>
        <p:spPr bwMode="auto">
          <a:xfrm>
            <a:off x="8736210" y="3619500"/>
            <a:ext cx="2693789" cy="1152525"/>
          </a:xfrm>
          <a:prstGeom prst="roundRect">
            <a:avLst>
              <a:gd name="adj" fmla="val 991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79502288" name="Rounded Rectangle 8"/>
          <p:cNvSpPr/>
          <p:nvPr/>
        </p:nvSpPr>
        <p:spPr bwMode="auto">
          <a:xfrm>
            <a:off x="5852070" y="4962525"/>
            <a:ext cx="2693640" cy="1152525"/>
          </a:xfrm>
          <a:prstGeom prst="roundRect">
            <a:avLst>
              <a:gd name="adj" fmla="val 991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31445915" name="Rounded Rectangle 9"/>
          <p:cNvSpPr/>
          <p:nvPr/>
        </p:nvSpPr>
        <p:spPr bwMode="auto">
          <a:xfrm>
            <a:off x="8736210" y="4962525"/>
            <a:ext cx="2693789" cy="1152525"/>
          </a:xfrm>
          <a:prstGeom prst="roundRect">
            <a:avLst>
              <a:gd name="adj" fmla="val 991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478824452" name="Picture 10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62000" y="1819275"/>
            <a:ext cx="209550" cy="209550"/>
          </a:xfrm>
          <a:prstGeom prst="rect">
            <a:avLst/>
          </a:prstGeom>
        </p:spPr>
      </p:pic>
      <p:pic>
        <p:nvPicPr>
          <p:cNvPr id="312803208" name="Picture 11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852070" y="1819275"/>
            <a:ext cx="209550" cy="209550"/>
          </a:xfrm>
          <a:prstGeom prst="rect">
            <a:avLst/>
          </a:prstGeom>
        </p:spPr>
      </p:pic>
      <p:pic>
        <p:nvPicPr>
          <p:cNvPr id="75968751" name="Picture 12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090195" y="2514600"/>
            <a:ext cx="381000" cy="381000"/>
          </a:xfrm>
          <a:prstGeom prst="rect">
            <a:avLst/>
          </a:prstGeom>
        </p:spPr>
      </p:pic>
      <p:pic>
        <p:nvPicPr>
          <p:cNvPr id="1346697940" name="Picture 13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974335" y="2514600"/>
            <a:ext cx="381000" cy="381000"/>
          </a:xfrm>
          <a:prstGeom prst="rect">
            <a:avLst/>
          </a:prstGeom>
        </p:spPr>
      </p:pic>
      <p:pic>
        <p:nvPicPr>
          <p:cNvPr id="1293962881" name="Picture 14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090195" y="3857625"/>
            <a:ext cx="381000" cy="381000"/>
          </a:xfrm>
          <a:prstGeom prst="rect">
            <a:avLst/>
          </a:prstGeom>
        </p:spPr>
      </p:pic>
      <p:pic>
        <p:nvPicPr>
          <p:cNvPr id="873371586" name="Picture 15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974335" y="3857625"/>
            <a:ext cx="381000" cy="381000"/>
          </a:xfrm>
          <a:prstGeom prst="rect">
            <a:avLst/>
          </a:prstGeom>
        </p:spPr>
      </p:pic>
      <p:pic>
        <p:nvPicPr>
          <p:cNvPr id="1715973264" name="Picture 16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090195" y="5200650"/>
            <a:ext cx="381000" cy="381000"/>
          </a:xfrm>
          <a:prstGeom prst="rect">
            <a:avLst/>
          </a:prstGeom>
        </p:spPr>
      </p:pic>
      <p:pic>
        <p:nvPicPr>
          <p:cNvPr id="559419345" name="Picture 17" descr="imag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8974335" y="5200650"/>
            <a:ext cx="381000" cy="381000"/>
          </a:xfrm>
          <a:prstGeom prst="rect">
            <a:avLst/>
          </a:prstGeom>
        </p:spPr>
      </p:pic>
      <p:pic>
        <p:nvPicPr>
          <p:cNvPr id="2137185505" name="Picture 18" descr="image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204495" y="2619375"/>
            <a:ext cx="152400" cy="171450"/>
          </a:xfrm>
          <a:prstGeom prst="rect">
            <a:avLst/>
          </a:prstGeom>
        </p:spPr>
      </p:pic>
      <p:pic>
        <p:nvPicPr>
          <p:cNvPr id="1976461429" name="Picture 19" descr="image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9069585" y="2619375"/>
            <a:ext cx="190500" cy="171450"/>
          </a:xfrm>
          <a:prstGeom prst="rect">
            <a:avLst/>
          </a:prstGeom>
        </p:spPr>
      </p:pic>
      <p:pic>
        <p:nvPicPr>
          <p:cNvPr id="1153568416" name="Picture 20" descr="image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6194970" y="3962400"/>
            <a:ext cx="171450" cy="171450"/>
          </a:xfrm>
          <a:prstGeom prst="rect">
            <a:avLst/>
          </a:prstGeom>
        </p:spPr>
      </p:pic>
      <p:pic>
        <p:nvPicPr>
          <p:cNvPr id="201025916" name="Picture 21" descr="image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9112448" y="3962400"/>
            <a:ext cx="104775" cy="171450"/>
          </a:xfrm>
          <a:prstGeom prst="rect">
            <a:avLst/>
          </a:prstGeom>
        </p:spPr>
      </p:pic>
      <p:pic>
        <p:nvPicPr>
          <p:cNvPr id="1604896861" name="Picture 22" descr="image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6185445" y="5305425"/>
            <a:ext cx="190500" cy="171450"/>
          </a:xfrm>
          <a:prstGeom prst="rect">
            <a:avLst/>
          </a:prstGeom>
        </p:spPr>
      </p:pic>
      <p:pic>
        <p:nvPicPr>
          <p:cNvPr id="165131753" name="Picture 23" descr="image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9079110" y="5305425"/>
            <a:ext cx="171450" cy="171450"/>
          </a:xfrm>
          <a:prstGeom prst="rect">
            <a:avLst/>
          </a:prstGeom>
        </p:spPr>
      </p:pic>
      <p:sp>
        <p:nvSpPr>
          <p:cNvPr id="1037702629" name="TextBox 25"/>
          <p:cNvSpPr txBox="1"/>
          <p:nvPr/>
        </p:nvSpPr>
        <p:spPr bwMode="auto">
          <a:xfrm>
            <a:off x="762000" y="885825"/>
            <a:ext cx="7539500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600"/>
              </a:lnSpc>
              <a:defRPr/>
            </a:pPr>
            <a:r>
              <a:rPr sz="3000" b="1" i="0" u="none">
                <a:solidFill>
                  <a:srgbClr val="0F172A"/>
                </a:solidFill>
                <a:latin typeface="Times New Roman"/>
                <a:cs typeface="Times New Roman"/>
              </a:rPr>
              <a:t>Kiểm thử Tự động &amp; Hiệu năng Thực nghiệm</a:t>
            </a:r>
            <a:endParaRPr/>
          </a:p>
        </p:txBody>
      </p:sp>
      <p:sp>
        <p:nvSpPr>
          <p:cNvPr id="610166081" name="TextBox 26"/>
          <p:cNvSpPr txBox="1"/>
          <p:nvPr/>
        </p:nvSpPr>
        <p:spPr bwMode="auto">
          <a:xfrm>
            <a:off x="1085850" y="1797092"/>
            <a:ext cx="2556790" cy="2539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defRPr/>
            </a:pPr>
            <a:r>
              <a:rPr sz="1650" b="1" i="0" u="none">
                <a:solidFill>
                  <a:srgbClr val="334155"/>
                </a:solidFill>
                <a:latin typeface="Times New Roman"/>
                <a:cs typeface="Times New Roman"/>
              </a:rPr>
              <a:t>Chiến lược Kiểm thử CI/CD</a:t>
            </a:r>
            <a:endParaRPr/>
          </a:p>
        </p:txBody>
      </p:sp>
      <p:sp>
        <p:nvSpPr>
          <p:cNvPr id="602852667" name="TextBox 27"/>
          <p:cNvSpPr txBox="1"/>
          <p:nvPr/>
        </p:nvSpPr>
        <p:spPr bwMode="auto">
          <a:xfrm>
            <a:off x="6175920" y="1797092"/>
            <a:ext cx="2844240" cy="2539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defRPr/>
            </a:pPr>
            <a:r>
              <a:rPr sz="1650" b="1" i="0" u="none">
                <a:solidFill>
                  <a:srgbClr val="334155"/>
                </a:solidFill>
                <a:latin typeface="Times New Roman"/>
                <a:cs typeface="Times New Roman"/>
              </a:rPr>
              <a:t>Chỉ số Hiệu năng (Windows 11)</a:t>
            </a:r>
            <a:endParaRPr/>
          </a:p>
        </p:txBody>
      </p:sp>
      <p:sp>
        <p:nvSpPr>
          <p:cNvPr id="465265752" name="TextBox 28"/>
          <p:cNvSpPr txBox="1"/>
          <p:nvPr/>
        </p:nvSpPr>
        <p:spPr bwMode="auto">
          <a:xfrm>
            <a:off x="895350" y="3580447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536661933" name="TextBox 29"/>
          <p:cNvSpPr txBox="1"/>
          <p:nvPr/>
        </p:nvSpPr>
        <p:spPr bwMode="auto">
          <a:xfrm>
            <a:off x="990600" y="3581400"/>
            <a:ext cx="2714589" cy="252185"/>
          </a:xfrm>
          <a:prstGeom prst="rect">
            <a:avLst/>
          </a:prstGeom>
          <a:noFill/>
        </p:spPr>
        <p:txBody>
          <a:bodyPr wrap="none" lIns="95250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475569"/>
                </a:solidFill>
                <a:latin typeface="Times New Roman"/>
                <a:cs typeface="Times New Roman"/>
              </a:rPr>
              <a:t>Framework: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MSTest v2 chuyên biệt.</a:t>
            </a:r>
            <a:endParaRPr/>
          </a:p>
        </p:txBody>
      </p:sp>
      <p:sp>
        <p:nvSpPr>
          <p:cNvPr id="789648447" name="TextBox 30"/>
          <p:cNvSpPr txBox="1"/>
          <p:nvPr/>
        </p:nvSpPr>
        <p:spPr bwMode="auto">
          <a:xfrm>
            <a:off x="895350" y="4007137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337125573" name="TextBox 31"/>
          <p:cNvSpPr txBox="1"/>
          <p:nvPr/>
        </p:nvSpPr>
        <p:spPr bwMode="auto">
          <a:xfrm>
            <a:off x="990600" y="4008089"/>
            <a:ext cx="4347120" cy="54858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475569"/>
                </a:solidFill>
                <a:latin typeface="Times New Roman"/>
                <a:cs typeface="Times New Roman"/>
              </a:rPr>
              <a:t>Tự động hóa: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Tích hợp GitHub Actions (Biên dịch &amp; Test trên Windows Server).</a:t>
            </a:r>
            <a:endParaRPr/>
          </a:p>
        </p:txBody>
      </p:sp>
      <p:sp>
        <p:nvSpPr>
          <p:cNvPr id="925779603" name="TextBox 32"/>
          <p:cNvSpPr txBox="1"/>
          <p:nvPr/>
        </p:nvSpPr>
        <p:spPr bwMode="auto">
          <a:xfrm>
            <a:off x="895350" y="4708118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643084111" name="TextBox 33"/>
          <p:cNvSpPr txBox="1"/>
          <p:nvPr/>
        </p:nvSpPr>
        <p:spPr bwMode="auto">
          <a:xfrm>
            <a:off x="990600" y="4709070"/>
            <a:ext cx="4347120" cy="54858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475569"/>
                </a:solidFill>
                <a:latin typeface="Times New Roman"/>
                <a:cs typeface="Times New Roman"/>
              </a:rPr>
              <a:t>Bao phủ toàn diện:</a:t>
            </a:r>
            <a:r>
              <a:rPr sz="1350" b="0" i="0" u="none">
                <a:solidFill>
                  <a:srgbClr val="475569"/>
                </a:solidFill>
                <a:latin typeface="Times New Roman"/>
                <a:cs typeface="Times New Roman"/>
              </a:rPr>
              <a:t> Âm thanh DSP, SQLite WAL, Thuật toán Hàng đợi &amp; Gợi ý.</a:t>
            </a:r>
            <a:endParaRPr/>
          </a:p>
        </p:txBody>
      </p:sp>
      <p:sp>
        <p:nvSpPr>
          <p:cNvPr id="514674820" name="TextBox 34"/>
          <p:cNvSpPr txBox="1"/>
          <p:nvPr/>
        </p:nvSpPr>
        <p:spPr bwMode="auto">
          <a:xfrm>
            <a:off x="1284795" y="2476500"/>
            <a:ext cx="346249" cy="3462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700"/>
              </a:lnSpc>
              <a:defRPr/>
            </a:pPr>
            <a:r>
              <a:rPr sz="2700" b="1" i="0" u="none">
                <a:solidFill>
                  <a:srgbClr val="059669"/>
                </a:solidFill>
                <a:latin typeface="Times New Roman"/>
                <a:cs typeface="Times New Roman"/>
              </a:rPr>
              <a:t>75</a:t>
            </a:r>
            <a:endParaRPr/>
          </a:p>
        </p:txBody>
      </p:sp>
      <p:sp>
        <p:nvSpPr>
          <p:cNvPr id="882902156" name="TextBox 35"/>
          <p:cNvSpPr txBox="1"/>
          <p:nvPr/>
        </p:nvSpPr>
        <p:spPr bwMode="auto">
          <a:xfrm>
            <a:off x="1110068" y="2933699"/>
            <a:ext cx="695703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900" b="1" i="0" u="none">
                <a:solidFill>
                  <a:srgbClr val="047857"/>
                </a:solidFill>
                <a:latin typeface="Times New Roman"/>
                <a:cs typeface="Times New Roman"/>
              </a:rPr>
              <a:t>TEST CASES</a:t>
            </a:r>
            <a:endParaRPr/>
          </a:p>
        </p:txBody>
      </p:sp>
      <p:sp>
        <p:nvSpPr>
          <p:cNvPr id="1645553780" name="TextBox 36"/>
          <p:cNvSpPr txBox="1"/>
          <p:nvPr/>
        </p:nvSpPr>
        <p:spPr bwMode="auto">
          <a:xfrm>
            <a:off x="2569348" y="2476500"/>
            <a:ext cx="865622" cy="3462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700"/>
              </a:lnSpc>
              <a:defRPr/>
            </a:pPr>
            <a:r>
              <a:rPr sz="2700" b="1" i="0" u="none">
                <a:solidFill>
                  <a:srgbClr val="059669"/>
                </a:solidFill>
                <a:latin typeface="Times New Roman"/>
                <a:cs typeface="Times New Roman"/>
              </a:rPr>
              <a:t>100%</a:t>
            </a:r>
            <a:endParaRPr/>
          </a:p>
        </p:txBody>
      </p:sp>
      <p:sp>
        <p:nvSpPr>
          <p:cNvPr id="1258291264" name="TextBox 37"/>
          <p:cNvSpPr txBox="1"/>
          <p:nvPr/>
        </p:nvSpPr>
        <p:spPr bwMode="auto">
          <a:xfrm>
            <a:off x="2686368" y="2933699"/>
            <a:ext cx="631583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900" b="1" i="0" u="none">
                <a:solidFill>
                  <a:srgbClr val="047857"/>
                </a:solidFill>
                <a:latin typeface="Times New Roman"/>
                <a:cs typeface="Times New Roman"/>
              </a:rPr>
              <a:t>PASS RATE</a:t>
            </a:r>
            <a:endParaRPr/>
          </a:p>
        </p:txBody>
      </p:sp>
      <p:sp>
        <p:nvSpPr>
          <p:cNvPr id="62337225" name="TextBox 38"/>
          <p:cNvSpPr txBox="1"/>
          <p:nvPr/>
        </p:nvSpPr>
        <p:spPr bwMode="auto">
          <a:xfrm>
            <a:off x="4262669" y="2476500"/>
            <a:ext cx="567463" cy="3462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700"/>
              </a:lnSpc>
              <a:defRPr/>
            </a:pPr>
            <a:r>
              <a:rPr sz="2700" b="1" i="0" u="none">
                <a:solidFill>
                  <a:srgbClr val="475569"/>
                </a:solidFill>
                <a:latin typeface="Times New Roman"/>
                <a:cs typeface="Times New Roman"/>
              </a:rPr>
              <a:t>5.2s</a:t>
            </a:r>
            <a:endParaRPr/>
          </a:p>
        </p:txBody>
      </p:sp>
      <p:sp>
        <p:nvSpPr>
          <p:cNvPr id="1354705025" name="TextBox 39"/>
          <p:cNvSpPr txBox="1"/>
          <p:nvPr/>
        </p:nvSpPr>
        <p:spPr bwMode="auto">
          <a:xfrm>
            <a:off x="4255455" y="2933699"/>
            <a:ext cx="581891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900" b="1" i="0" u="none">
                <a:solidFill>
                  <a:srgbClr val="64748B"/>
                </a:solidFill>
                <a:latin typeface="Times New Roman"/>
                <a:cs typeface="Times New Roman"/>
              </a:rPr>
              <a:t>THỰC THI</a:t>
            </a:r>
            <a:endParaRPr/>
          </a:p>
        </p:txBody>
      </p:sp>
      <p:sp>
        <p:nvSpPr>
          <p:cNvPr id="333167774" name="TextBox 40"/>
          <p:cNvSpPr txBox="1"/>
          <p:nvPr/>
        </p:nvSpPr>
        <p:spPr bwMode="auto">
          <a:xfrm>
            <a:off x="6090195" y="3009900"/>
            <a:ext cx="1638269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50" b="1" i="0" u="none">
                <a:solidFill>
                  <a:srgbClr val="64748B"/>
                </a:solidFill>
                <a:latin typeface="Times New Roman"/>
                <a:cs typeface="Times New Roman"/>
              </a:rPr>
              <a:t>Thời gian khởi động nguội</a:t>
            </a:r>
            <a:endParaRPr/>
          </a:p>
        </p:txBody>
      </p:sp>
      <p:sp>
        <p:nvSpPr>
          <p:cNvPr id="2137799030" name="TextBox 41"/>
          <p:cNvSpPr txBox="1"/>
          <p:nvPr/>
        </p:nvSpPr>
        <p:spPr bwMode="auto">
          <a:xfrm>
            <a:off x="8974335" y="3009900"/>
            <a:ext cx="1404231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50" b="1" i="0" u="none">
                <a:solidFill>
                  <a:srgbClr val="64748B"/>
                </a:solidFill>
                <a:latin typeface="Times New Roman"/>
                <a:cs typeface="Times New Roman"/>
              </a:rPr>
              <a:t>RAM (kèm Visualizer)</a:t>
            </a:r>
            <a:endParaRPr/>
          </a:p>
        </p:txBody>
      </p:sp>
      <p:sp>
        <p:nvSpPr>
          <p:cNvPr id="1907116628" name="TextBox 42"/>
          <p:cNvSpPr txBox="1"/>
          <p:nvPr/>
        </p:nvSpPr>
        <p:spPr bwMode="auto">
          <a:xfrm>
            <a:off x="6090195" y="4352925"/>
            <a:ext cx="1336904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50" b="1" i="0" u="none">
                <a:solidFill>
                  <a:srgbClr val="64748B"/>
                </a:solidFill>
                <a:latin typeface="Times New Roman"/>
                <a:cs typeface="Times New Roman"/>
              </a:rPr>
              <a:t>Chiếm dụng CPU (i5)</a:t>
            </a:r>
            <a:endParaRPr/>
          </a:p>
        </p:txBody>
      </p:sp>
      <p:sp>
        <p:nvSpPr>
          <p:cNvPr id="1501180382" name="TextBox 43"/>
          <p:cNvSpPr txBox="1"/>
          <p:nvPr/>
        </p:nvSpPr>
        <p:spPr bwMode="auto">
          <a:xfrm>
            <a:off x="8974335" y="4352925"/>
            <a:ext cx="1381789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50" b="1" i="0" u="none">
                <a:solidFill>
                  <a:srgbClr val="64748B"/>
                </a:solidFill>
                <a:latin typeface="Times New Roman"/>
                <a:cs typeface="Times New Roman"/>
              </a:rPr>
              <a:t>Độ trễ tua nhạc (Seek)</a:t>
            </a:r>
            <a:endParaRPr/>
          </a:p>
        </p:txBody>
      </p:sp>
      <p:sp>
        <p:nvSpPr>
          <p:cNvPr id="2038136218" name="TextBox 44"/>
          <p:cNvSpPr txBox="1"/>
          <p:nvPr/>
        </p:nvSpPr>
        <p:spPr bwMode="auto">
          <a:xfrm>
            <a:off x="6090195" y="5695950"/>
            <a:ext cx="1453924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50" b="1" i="0" u="none">
                <a:solidFill>
                  <a:srgbClr val="64748B"/>
                </a:solidFill>
                <a:latin typeface="Times New Roman"/>
                <a:cs typeface="Times New Roman"/>
              </a:rPr>
              <a:t>Tốc độ quét BFS (bài/s)</a:t>
            </a:r>
            <a:endParaRPr/>
          </a:p>
        </p:txBody>
      </p:sp>
      <p:sp>
        <p:nvSpPr>
          <p:cNvPr id="325634628" name="TextBox 45"/>
          <p:cNvSpPr txBox="1"/>
          <p:nvPr/>
        </p:nvSpPr>
        <p:spPr bwMode="auto">
          <a:xfrm>
            <a:off x="8974335" y="5695950"/>
            <a:ext cx="1426673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50" b="1" i="0" u="none">
                <a:solidFill>
                  <a:srgbClr val="64748B"/>
                </a:solidFill>
                <a:latin typeface="Times New Roman"/>
                <a:cs typeface="Times New Roman"/>
              </a:rPr>
              <a:t>Tỷ lệ lỗi Crash ngoại lệ</a:t>
            </a:r>
            <a:endParaRPr/>
          </a:p>
        </p:txBody>
      </p:sp>
      <p:sp>
        <p:nvSpPr>
          <p:cNvPr id="2127653748" name="TextBox 46"/>
          <p:cNvSpPr txBox="1"/>
          <p:nvPr/>
        </p:nvSpPr>
        <p:spPr bwMode="auto">
          <a:xfrm>
            <a:off x="6623595" y="2571750"/>
            <a:ext cx="883255" cy="26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  <a:defRPr/>
            </a:pPr>
            <a:r>
              <a:rPr sz="2100" b="1" i="0" u="none">
                <a:solidFill>
                  <a:srgbClr val="0F172A"/>
                </a:solidFill>
                <a:latin typeface="Times New Roman"/>
                <a:cs typeface="Times New Roman"/>
              </a:rPr>
              <a:t>1.2 giây</a:t>
            </a:r>
            <a:endParaRPr/>
          </a:p>
        </p:txBody>
      </p:sp>
      <p:sp>
        <p:nvSpPr>
          <p:cNvPr id="1304640030" name="TextBox 47"/>
          <p:cNvSpPr txBox="1"/>
          <p:nvPr/>
        </p:nvSpPr>
        <p:spPr bwMode="auto">
          <a:xfrm>
            <a:off x="9507735" y="2571750"/>
            <a:ext cx="1182568" cy="26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  <a:defRPr/>
            </a:pPr>
            <a:r>
              <a:rPr sz="2100" b="1" i="0" u="none">
                <a:solidFill>
                  <a:srgbClr val="0F172A"/>
                </a:solidFill>
                <a:latin typeface="Times New Roman"/>
                <a:cs typeface="Times New Roman"/>
              </a:rPr>
              <a:t>85-110MB</a:t>
            </a:r>
            <a:endParaRPr/>
          </a:p>
        </p:txBody>
      </p:sp>
      <p:sp>
        <p:nvSpPr>
          <p:cNvPr id="29220786" name="TextBox 48"/>
          <p:cNvSpPr txBox="1"/>
          <p:nvPr/>
        </p:nvSpPr>
        <p:spPr bwMode="auto">
          <a:xfrm>
            <a:off x="6623595" y="3914775"/>
            <a:ext cx="1032334" cy="26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  <a:defRPr/>
            </a:pPr>
            <a:r>
              <a:rPr sz="2100" b="1" i="0" u="none">
                <a:solidFill>
                  <a:srgbClr val="0F172A"/>
                </a:solidFill>
                <a:latin typeface="Times New Roman"/>
                <a:cs typeface="Times New Roman"/>
              </a:rPr>
              <a:t>1.8-2.4%</a:t>
            </a:r>
            <a:endParaRPr/>
          </a:p>
        </p:txBody>
      </p:sp>
      <p:sp>
        <p:nvSpPr>
          <p:cNvPr id="958584049" name="TextBox 49"/>
          <p:cNvSpPr txBox="1"/>
          <p:nvPr/>
        </p:nvSpPr>
        <p:spPr bwMode="auto">
          <a:xfrm>
            <a:off x="9507735" y="3914775"/>
            <a:ext cx="819135" cy="26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  <a:defRPr/>
            </a:pPr>
            <a:r>
              <a:rPr sz="2100" b="1" i="0" u="none">
                <a:solidFill>
                  <a:srgbClr val="0F172A"/>
                </a:solidFill>
                <a:latin typeface="Times New Roman"/>
                <a:cs typeface="Times New Roman"/>
              </a:rPr>
              <a:t>&lt; 80ms</a:t>
            </a:r>
            <a:endParaRPr/>
          </a:p>
        </p:txBody>
      </p:sp>
      <p:sp>
        <p:nvSpPr>
          <p:cNvPr id="21064187" name="TextBox 50"/>
          <p:cNvSpPr txBox="1"/>
          <p:nvPr/>
        </p:nvSpPr>
        <p:spPr bwMode="auto">
          <a:xfrm>
            <a:off x="6623595" y="5257800"/>
            <a:ext cx="745397" cy="26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  <a:defRPr/>
            </a:pPr>
            <a:r>
              <a:rPr sz="2100" b="1" i="0" u="none">
                <a:solidFill>
                  <a:srgbClr val="0F172A"/>
                </a:solidFill>
                <a:latin typeface="Times New Roman"/>
                <a:cs typeface="Times New Roman"/>
              </a:rPr>
              <a:t>~1,500</a:t>
            </a:r>
            <a:endParaRPr/>
          </a:p>
        </p:txBody>
      </p:sp>
      <p:sp>
        <p:nvSpPr>
          <p:cNvPr id="1981054598" name="TextBox 51"/>
          <p:cNvSpPr txBox="1"/>
          <p:nvPr/>
        </p:nvSpPr>
        <p:spPr bwMode="auto">
          <a:xfrm>
            <a:off x="9507735" y="5257800"/>
            <a:ext cx="403957" cy="26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  <a:defRPr/>
            </a:pPr>
            <a:r>
              <a:rPr sz="2100" b="1" i="0" u="none">
                <a:solidFill>
                  <a:srgbClr val="0F172A"/>
                </a:solidFill>
                <a:latin typeface="Times New Roman"/>
                <a:cs typeface="Times New Roman"/>
              </a:rPr>
              <a:t>0%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164402" name="Rounded Rectangle 1"/>
          <p:cNvSpPr/>
          <p:nvPr/>
        </p:nvSpPr>
        <p:spPr bwMode="auto">
          <a:xfrm>
            <a:off x="762000" y="2242095"/>
            <a:ext cx="5105400" cy="3236416"/>
          </a:xfrm>
          <a:prstGeom prst="roundRect">
            <a:avLst>
              <a:gd name="adj" fmla="val 4708"/>
            </a:avLst>
          </a:prstGeom>
          <a:solidFill>
            <a:srgbClr val="172033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60339343" name="Rounded Rectangle 2"/>
          <p:cNvSpPr/>
          <p:nvPr/>
        </p:nvSpPr>
        <p:spPr bwMode="auto">
          <a:xfrm>
            <a:off x="6324600" y="1891605"/>
            <a:ext cx="5105400" cy="3937396"/>
          </a:xfrm>
          <a:prstGeom prst="roundRect">
            <a:avLst>
              <a:gd name="adj" fmla="val 3870"/>
            </a:avLst>
          </a:prstGeom>
          <a:solidFill>
            <a:srgbClr val="172033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1936900020" name="Picture 3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52525" y="2656433"/>
            <a:ext cx="257175" cy="228600"/>
          </a:xfrm>
          <a:prstGeom prst="rect">
            <a:avLst/>
          </a:prstGeom>
        </p:spPr>
      </p:pic>
      <p:pic>
        <p:nvPicPr>
          <p:cNvPr id="1404293546" name="Picture 4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715125" y="2305942"/>
            <a:ext cx="228600" cy="228600"/>
          </a:xfrm>
          <a:prstGeom prst="rect">
            <a:avLst/>
          </a:prstGeom>
        </p:spPr>
      </p:pic>
      <p:sp>
        <p:nvSpPr>
          <p:cNvPr id="617558652" name="TextBox 6"/>
          <p:cNvSpPr txBox="1"/>
          <p:nvPr/>
        </p:nvSpPr>
        <p:spPr bwMode="auto">
          <a:xfrm>
            <a:off x="2556569" y="885825"/>
            <a:ext cx="7078861" cy="55143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320"/>
              </a:lnSpc>
              <a:defRPr/>
            </a:pPr>
            <a:r>
              <a:rPr sz="3600" b="1" i="0" u="none">
                <a:latin typeface="Times New Roman"/>
                <a:cs typeface="Times New Roman"/>
              </a:rPr>
              <a:t>Tổng</a:t>
            </a:r>
            <a:r>
              <a:rPr sz="3600" b="1" i="0" u="none">
                <a:latin typeface="Times New Roman"/>
                <a:cs typeface="Times New Roman"/>
              </a:rPr>
              <a:t> </a:t>
            </a:r>
            <a:r>
              <a:rPr sz="3600" b="1" i="0" u="none">
                <a:latin typeface="Times New Roman"/>
                <a:cs typeface="Times New Roman"/>
              </a:rPr>
              <a:t>kết</a:t>
            </a:r>
            <a:r>
              <a:rPr sz="3600" b="1" i="0" u="none">
                <a:latin typeface="Times New Roman"/>
                <a:cs typeface="Times New Roman"/>
              </a:rPr>
              <a:t> </a:t>
            </a:r>
            <a:r>
              <a:rPr sz="3600" b="1" i="0" u="none">
                <a:latin typeface="Times New Roman"/>
                <a:cs typeface="Times New Roman"/>
              </a:rPr>
              <a:t>Đề</a:t>
            </a:r>
            <a:r>
              <a:rPr sz="3600" b="1" i="0" u="none">
                <a:latin typeface="Times New Roman"/>
                <a:cs typeface="Times New Roman"/>
              </a:rPr>
              <a:t> </a:t>
            </a:r>
            <a:r>
              <a:rPr sz="3600" b="1" i="0" u="none">
                <a:latin typeface="Times New Roman"/>
                <a:cs typeface="Times New Roman"/>
              </a:rPr>
              <a:t>tài</a:t>
            </a:r>
            <a:r>
              <a:rPr sz="3600" b="1" i="0" u="none">
                <a:latin typeface="Times New Roman"/>
                <a:cs typeface="Times New Roman"/>
              </a:rPr>
              <a:t> &amp; </a:t>
            </a:r>
            <a:r>
              <a:rPr sz="3600" b="1" i="0" u="none">
                <a:latin typeface="Times New Roman"/>
                <a:cs typeface="Times New Roman"/>
              </a:rPr>
              <a:t>Hỏi</a:t>
            </a:r>
            <a:r>
              <a:rPr sz="3600" b="1" i="0" u="none">
                <a:latin typeface="Times New Roman"/>
                <a:cs typeface="Times New Roman"/>
              </a:rPr>
              <a:t> - </a:t>
            </a:r>
            <a:r>
              <a:rPr sz="3600" b="1" i="0" u="none">
                <a:latin typeface="Times New Roman"/>
                <a:cs typeface="Times New Roman"/>
              </a:rPr>
              <a:t>Đáp</a:t>
            </a:r>
            <a:r>
              <a:rPr sz="3600" b="1" i="0" u="none">
                <a:latin typeface="Times New Roman"/>
                <a:cs typeface="Times New Roman"/>
              </a:rPr>
              <a:t> (Q&amp;A)</a:t>
            </a:r>
            <a:endParaRPr/>
          </a:p>
        </p:txBody>
      </p:sp>
      <p:sp>
        <p:nvSpPr>
          <p:cNvPr id="1463309116" name="TextBox 8"/>
          <p:cNvSpPr txBox="1"/>
          <p:nvPr/>
        </p:nvSpPr>
        <p:spPr bwMode="auto">
          <a:xfrm>
            <a:off x="1524000" y="2632233"/>
            <a:ext cx="2055050" cy="2769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defRPr/>
            </a:pPr>
            <a:r>
              <a:rPr sz="1800" b="1" i="0" u="none">
                <a:solidFill>
                  <a:srgbClr val="10B981"/>
                </a:solidFill>
                <a:latin typeface="Times New Roman"/>
                <a:cs typeface="Times New Roman"/>
              </a:rPr>
              <a:t>Thành quả Đạt được</a:t>
            </a:r>
            <a:endParaRPr/>
          </a:p>
        </p:txBody>
      </p:sp>
      <p:sp>
        <p:nvSpPr>
          <p:cNvPr id="1735999716" name="TextBox 9"/>
          <p:cNvSpPr txBox="1"/>
          <p:nvPr/>
        </p:nvSpPr>
        <p:spPr bwMode="auto">
          <a:xfrm>
            <a:off x="7058025" y="2281743"/>
            <a:ext cx="2759410" cy="2769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defRPr/>
            </a:pPr>
            <a:r>
              <a:rPr sz="1800" b="1" i="0" u="none">
                <a:solidFill>
                  <a:srgbClr val="3B82F6"/>
                </a:solidFill>
                <a:latin typeface="Times New Roman"/>
                <a:cs typeface="Times New Roman"/>
              </a:rPr>
              <a:t>Hướng Phát triển Tương lai</a:t>
            </a:r>
            <a:endParaRPr/>
          </a:p>
        </p:txBody>
      </p:sp>
      <p:sp>
        <p:nvSpPr>
          <p:cNvPr id="634278496" name="TextBox 10"/>
          <p:cNvSpPr txBox="1"/>
          <p:nvPr/>
        </p:nvSpPr>
        <p:spPr bwMode="auto">
          <a:xfrm>
            <a:off x="1285875" y="3136493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452867235" name="TextBox 11"/>
          <p:cNvSpPr txBox="1"/>
          <p:nvPr/>
        </p:nvSpPr>
        <p:spPr bwMode="auto">
          <a:xfrm>
            <a:off x="1381125" y="3137445"/>
            <a:ext cx="4191000" cy="54858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F8FAFC"/>
                </a:solidFill>
                <a:latin typeface="Times New Roman"/>
                <a:cs typeface="Times New Roman"/>
              </a:rPr>
              <a:t>Desktop Native Toàn </a:t>
            </a:r>
            <a:r>
              <a:rPr sz="1350" b="1" i="0" u="none">
                <a:solidFill>
                  <a:srgbClr val="F8FAFC"/>
                </a:solidFill>
                <a:latin typeface="Times New Roman"/>
                <a:cs typeface="Times New Roman"/>
              </a:rPr>
              <a:t>diện</a:t>
            </a:r>
            <a:r>
              <a:rPr sz="1350" b="1" i="0" u="none">
                <a:solidFill>
                  <a:srgbClr val="F8FAFC"/>
                </a:solidFill>
                <a:latin typeface="Times New Roman"/>
                <a:cs typeface="Times New Roman"/>
              </a:rPr>
              <a:t>: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Ứng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dụng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phát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nhạc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đa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nguồn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chuyên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nghiệp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.</a:t>
            </a:r>
            <a:endParaRPr/>
          </a:p>
        </p:txBody>
      </p:sp>
      <p:sp>
        <p:nvSpPr>
          <p:cNvPr id="292311492" name="TextBox 12"/>
          <p:cNvSpPr txBox="1"/>
          <p:nvPr/>
        </p:nvSpPr>
        <p:spPr bwMode="auto">
          <a:xfrm>
            <a:off x="1285875" y="3837473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644108370" name="TextBox 13"/>
          <p:cNvSpPr txBox="1"/>
          <p:nvPr/>
        </p:nvSpPr>
        <p:spPr bwMode="auto">
          <a:xfrm>
            <a:off x="1381125" y="3838426"/>
            <a:ext cx="4191000" cy="54858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F8FAFC"/>
                </a:solidFill>
                <a:latin typeface="Times New Roman"/>
                <a:cs typeface="Times New Roman"/>
              </a:rPr>
              <a:t>Làm chủ Kỹ thuật Lõi: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Kiến trúc MVVM, DSP Audio, Local BFF &amp; SQLite WAL.</a:t>
            </a:r>
            <a:endParaRPr/>
          </a:p>
        </p:txBody>
      </p:sp>
      <p:sp>
        <p:nvSpPr>
          <p:cNvPr id="1315068268" name="TextBox 14"/>
          <p:cNvSpPr txBox="1"/>
          <p:nvPr/>
        </p:nvSpPr>
        <p:spPr bwMode="auto">
          <a:xfrm>
            <a:off x="1285875" y="4538454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762043289" name="TextBox 15"/>
          <p:cNvSpPr txBox="1"/>
          <p:nvPr/>
        </p:nvSpPr>
        <p:spPr bwMode="auto">
          <a:xfrm>
            <a:off x="1381125" y="4539406"/>
            <a:ext cx="4191000" cy="54858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F8FAFC"/>
                </a:solidFill>
                <a:latin typeface="Times New Roman"/>
                <a:cs typeface="Times New Roman"/>
              </a:rPr>
              <a:t>Trải nghiệm Hiện đại: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UI/UX chuẩn mực, hiệu ứng trực quan mượt mà.</a:t>
            </a:r>
            <a:endParaRPr/>
          </a:p>
        </p:txBody>
      </p:sp>
      <p:sp>
        <p:nvSpPr>
          <p:cNvPr id="1587761803" name="TextBox 16"/>
          <p:cNvSpPr txBox="1"/>
          <p:nvPr/>
        </p:nvSpPr>
        <p:spPr bwMode="auto">
          <a:xfrm>
            <a:off x="6848475" y="2786002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013814797" name="TextBox 17"/>
          <p:cNvSpPr txBox="1"/>
          <p:nvPr/>
        </p:nvSpPr>
        <p:spPr bwMode="auto">
          <a:xfrm>
            <a:off x="6943725" y="2786955"/>
            <a:ext cx="4191000" cy="54858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F8FAFC"/>
                </a:solidFill>
                <a:latin typeface="Times New Roman"/>
                <a:cs typeface="Times New Roman"/>
              </a:rPr>
              <a:t>Nâng cấp Nền tảng: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Dịch chuyển sang .NET 8/9 &amp; WinUI 3.</a:t>
            </a:r>
            <a:endParaRPr/>
          </a:p>
        </p:txBody>
      </p:sp>
      <p:sp>
        <p:nvSpPr>
          <p:cNvPr id="465227851" name="TextBox 18"/>
          <p:cNvSpPr txBox="1"/>
          <p:nvPr/>
        </p:nvSpPr>
        <p:spPr bwMode="auto">
          <a:xfrm>
            <a:off x="6848475" y="3486983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626071703" name="TextBox 19"/>
          <p:cNvSpPr txBox="1"/>
          <p:nvPr/>
        </p:nvSpPr>
        <p:spPr bwMode="auto">
          <a:xfrm>
            <a:off x="6943725" y="3487935"/>
            <a:ext cx="4191000" cy="54858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F8FAFC"/>
                </a:solidFill>
                <a:latin typeface="Times New Roman"/>
                <a:cs typeface="Times New Roman"/>
              </a:rPr>
              <a:t>Hi-Res Audio: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Tích hợp giải mã 24-bit/96kHz, driver ASIO &amp; DSD.</a:t>
            </a:r>
            <a:endParaRPr/>
          </a:p>
        </p:txBody>
      </p:sp>
      <p:sp>
        <p:nvSpPr>
          <p:cNvPr id="594786736" name="TextBox 20"/>
          <p:cNvSpPr txBox="1"/>
          <p:nvPr/>
        </p:nvSpPr>
        <p:spPr bwMode="auto">
          <a:xfrm>
            <a:off x="6848475" y="4187963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997886312" name="TextBox 21"/>
          <p:cNvSpPr txBox="1"/>
          <p:nvPr/>
        </p:nvSpPr>
        <p:spPr bwMode="auto">
          <a:xfrm>
            <a:off x="6943725" y="4188916"/>
            <a:ext cx="4191000" cy="54858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F8FAFC"/>
                </a:solidFill>
                <a:latin typeface="Times New Roman"/>
                <a:cs typeface="Times New Roman"/>
              </a:rPr>
              <a:t>Mở rộng Nguồn phát: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Hỗ trợ SoundCloud, YouTube Music &amp; Radio.</a:t>
            </a:r>
            <a:endParaRPr/>
          </a:p>
        </p:txBody>
      </p:sp>
      <p:sp>
        <p:nvSpPr>
          <p:cNvPr id="1746044332" name="TextBox 22"/>
          <p:cNvSpPr txBox="1"/>
          <p:nvPr/>
        </p:nvSpPr>
        <p:spPr bwMode="auto">
          <a:xfrm>
            <a:off x="6848475" y="4888944"/>
            <a:ext cx="6091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•</a:t>
            </a:r>
            <a:endParaRPr/>
          </a:p>
        </p:txBody>
      </p:sp>
      <p:sp>
        <p:nvSpPr>
          <p:cNvPr id="1050719256" name="TextBox 23"/>
          <p:cNvSpPr txBox="1"/>
          <p:nvPr/>
        </p:nvSpPr>
        <p:spPr bwMode="auto">
          <a:xfrm>
            <a:off x="6943725" y="4889896"/>
            <a:ext cx="4191000" cy="54858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sz="1350" b="1" i="0" u="none">
                <a:solidFill>
                  <a:srgbClr val="F8FAFC"/>
                </a:solidFill>
                <a:latin typeface="Times New Roman"/>
                <a:cs typeface="Times New Roman"/>
              </a:rPr>
              <a:t>Đồng bộ Đám mây:</a:t>
            </a:r>
            <a:r>
              <a:rPr sz="1350" b="0" i="0" u="none">
                <a:solidFill>
                  <a:srgbClr val="CBD5E1"/>
                </a:solidFill>
                <a:latin typeface="Times New Roman"/>
                <a:cs typeface="Times New Roman"/>
              </a:rPr>
              <a:t> Dịch vụ REST API đồng bộ đa thiết bị.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109504" name="TextBox 7"/>
          <p:cNvSpPr txBox="1"/>
          <p:nvPr/>
        </p:nvSpPr>
        <p:spPr bwMode="auto">
          <a:xfrm>
            <a:off x="1905750" y="2933401"/>
            <a:ext cx="8380499" cy="61555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ctr" defTabSz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C</a:t>
            </a:r>
            <a:r>
              <a:rPr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ảm</a:t>
            </a:r>
            <a:r>
              <a:rPr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 </a:t>
            </a:r>
            <a:r>
              <a:rPr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ơn</a:t>
            </a:r>
            <a:r>
              <a:rPr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 </a:t>
            </a:r>
            <a:r>
              <a:rPr lang="en-US"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thầy</a:t>
            </a:r>
            <a:r>
              <a:rPr lang="en-US"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 </a:t>
            </a:r>
            <a:r>
              <a:rPr lang="en-US"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và</a:t>
            </a:r>
            <a:r>
              <a:rPr lang="en-US"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 </a:t>
            </a:r>
            <a:r>
              <a:rPr lang="en-US"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các</a:t>
            </a:r>
            <a:r>
              <a:rPr lang="en-US"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 </a:t>
            </a:r>
            <a:r>
              <a:rPr lang="en-US"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bạn</a:t>
            </a:r>
            <a:r>
              <a:rPr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 </a:t>
            </a:r>
            <a:r>
              <a:rPr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đã</a:t>
            </a:r>
            <a:r>
              <a:rPr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 </a:t>
            </a:r>
            <a:r>
              <a:rPr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lắng</a:t>
            </a:r>
            <a:r>
              <a:rPr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 </a:t>
            </a:r>
            <a:r>
              <a:rPr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nghe</a:t>
            </a:r>
            <a:r>
              <a:rPr sz="4000" b="1" i="0" u="none" strike="noStrike" cap="none" spc="0">
                <a:ln>
                  <a:noFill/>
                </a:ln>
                <a:solidFill>
                  <a:srgbClr val="94A3B8"/>
                </a:solidFill>
                <a:latin typeface="Times New Roman"/>
                <a:ea typeface="+mn-ea"/>
                <a:cs typeface="Times New Roman"/>
              </a:rPr>
              <a:t>!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5</cp:revision>
  <dcterms:created xsi:type="dcterms:W3CDTF">2013-01-27T09:14:16Z</dcterms:created>
  <dcterms:modified xsi:type="dcterms:W3CDTF">2026-09-30T06:25:14Z</dcterms:modified>
  <cp:category/>
</cp:coreProperties>
</file>